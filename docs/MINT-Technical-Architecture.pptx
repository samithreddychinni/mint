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c4d446bb594885" /><Relationship Type="http://schemas.openxmlformats.org/officeDocument/2006/relationships/extended-properties" Target="/docProps/app.xml" Id="Rb8f7634d682a43db" /><Relationship Type="http://schemas.openxmlformats.org/officeDocument/2006/relationships/officeDocument" Target="/ppt/presentation.xml" Id="R40761c5eeeab4f65" /></Relationships>
</file>

<file path=ppt/presentation.xml><?xml version="1.0" encoding="utf-8"?>
<p:presentation xmlns:p="http://schemas.openxmlformats.org/presentationml/2006/main">
  <p:sldMasterIdLst>
    <p:sldMasterId xmlns:r="http://schemas.openxmlformats.org/officeDocument/2006/relationships" id="2147483648" r:id="R87c032b00a9b48ea"/>
  </p:sldMasterIdLst>
  <p:notesMasterIdLst>
    <p:notesMasterId xmlns:r="http://schemas.openxmlformats.org/officeDocument/2006/relationships" r:id="Rd8861120c7f04143"/>
  </p:notesMasterIdLst>
  <p:sldIdLst>
    <p:sldId xmlns:r="http://schemas.openxmlformats.org/officeDocument/2006/relationships" id="256" r:id="R491d6d6c1c75439d"/>
    <p:sldId xmlns:r="http://schemas.openxmlformats.org/officeDocument/2006/relationships" id="257" r:id="R74026697f9b14df9"/>
    <p:sldId xmlns:r="http://schemas.openxmlformats.org/officeDocument/2006/relationships" id="258" r:id="R789eb5cc191d465c"/>
    <p:sldId xmlns:r="http://schemas.openxmlformats.org/officeDocument/2006/relationships" id="259" r:id="R055fb86f58034bc4"/>
    <p:sldId xmlns:r="http://schemas.openxmlformats.org/officeDocument/2006/relationships" id="260" r:id="R5ab2b92aaa354b94"/>
    <p:sldId xmlns:r="http://schemas.openxmlformats.org/officeDocument/2006/relationships" id="261" r:id="Rc5aa1b1ef5db443f"/>
    <p:sldId xmlns:r="http://schemas.openxmlformats.org/officeDocument/2006/relationships" id="262" r:id="R7ae8a60219844201"/>
    <p:sldId xmlns:r="http://schemas.openxmlformats.org/officeDocument/2006/relationships" id="263" r:id="R7215260920ca4ce8"/>
    <p:sldId xmlns:r="http://schemas.openxmlformats.org/officeDocument/2006/relationships" id="264" r:id="Re8b3d77b50614f4e"/>
    <p:sldId xmlns:r="http://schemas.openxmlformats.org/officeDocument/2006/relationships" id="265" r:id="R8d708ae5c0a7409d"/>
    <p:sldId xmlns:r="http://schemas.openxmlformats.org/officeDocument/2006/relationships" id="266" r:id="R5429bf78a8e3464e"/>
    <p:sldId xmlns:r="http://schemas.openxmlformats.org/officeDocument/2006/relationships" id="267" r:id="Rdae79d592d194d43"/>
    <p:sldId xmlns:r="http://schemas.openxmlformats.org/officeDocument/2006/relationships" id="268" r:id="Rc4acb2b7f8f34350"/>
    <p:sldId xmlns:r="http://schemas.openxmlformats.org/officeDocument/2006/relationships" id="269" r:id="R659f2c58c0da46fa"/>
    <p:sldId xmlns:r="http://schemas.openxmlformats.org/officeDocument/2006/relationships" id="270" r:id="R550dd8c4eb474bc4"/>
    <p:sldId xmlns:r="http://schemas.openxmlformats.org/officeDocument/2006/relationships" id="271" r:id="R22d891edcd284cda"/>
    <p:sldId xmlns:r="http://schemas.openxmlformats.org/officeDocument/2006/relationships" id="272" r:id="Rbfe89cd060ec4a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f154e77f674292" /><Relationship Type="http://schemas.openxmlformats.org/officeDocument/2006/relationships/slideMaster" Target="/ppt/slideMasters/slideMaster1.xml" Id="R87c032b00a9b48ea" /><Relationship Type="http://schemas.openxmlformats.org/officeDocument/2006/relationships/notesMaster" Target="/ppt/notesMasters/notesMaster1.xml" Id="Rd8861120c7f04143" /><Relationship Type="http://schemas.openxmlformats.org/officeDocument/2006/relationships/presProps" Target="/ppt/presProps.xml" Id="R3824779f8479480d" /><Relationship Type="http://schemas.openxmlformats.org/officeDocument/2006/relationships/tableStyles" Target="/ppt/tableStyles.xml" Id="R50d9b9e3b7a148ab" /><Relationship Type="http://schemas.openxmlformats.org/officeDocument/2006/relationships/slide" Target="/ppt/slides/slide1.xml" Id="R491d6d6c1c75439d" /><Relationship Type="http://schemas.openxmlformats.org/officeDocument/2006/relationships/slide" Target="/ppt/slides/slide2.xml" Id="R74026697f9b14df9" /><Relationship Type="http://schemas.openxmlformats.org/officeDocument/2006/relationships/slide" Target="/ppt/slides/slide3.xml" Id="R789eb5cc191d465c" /><Relationship Type="http://schemas.openxmlformats.org/officeDocument/2006/relationships/slide" Target="/ppt/slides/slide4.xml" Id="R055fb86f58034bc4" /><Relationship Type="http://schemas.openxmlformats.org/officeDocument/2006/relationships/slide" Target="/ppt/slides/slide5.xml" Id="R5ab2b92aaa354b94" /><Relationship Type="http://schemas.openxmlformats.org/officeDocument/2006/relationships/slide" Target="/ppt/slides/slide6.xml" Id="Rc5aa1b1ef5db443f" /><Relationship Type="http://schemas.openxmlformats.org/officeDocument/2006/relationships/slide" Target="/ppt/slides/slide7.xml" Id="R7ae8a60219844201" /><Relationship Type="http://schemas.openxmlformats.org/officeDocument/2006/relationships/slide" Target="/ppt/slides/slide8.xml" Id="R7215260920ca4ce8" /><Relationship Type="http://schemas.openxmlformats.org/officeDocument/2006/relationships/slide" Target="/ppt/slides/slide9.xml" Id="Re8b3d77b50614f4e" /><Relationship Type="http://schemas.openxmlformats.org/officeDocument/2006/relationships/slide" Target="/ppt/slides/slide10.xml" Id="R8d708ae5c0a7409d" /><Relationship Type="http://schemas.openxmlformats.org/officeDocument/2006/relationships/slide" Target="/ppt/slides/slide11.xml" Id="R5429bf78a8e3464e" /><Relationship Type="http://schemas.openxmlformats.org/officeDocument/2006/relationships/slide" Target="/ppt/slides/slide12.xml" Id="Rdae79d592d194d43" /><Relationship Type="http://schemas.openxmlformats.org/officeDocument/2006/relationships/slide" Target="/ppt/slides/slide13.xml" Id="Rc4acb2b7f8f34350" /><Relationship Type="http://schemas.openxmlformats.org/officeDocument/2006/relationships/slide" Target="/ppt/slides/slide14.xml" Id="R659f2c58c0da46fa" /><Relationship Type="http://schemas.openxmlformats.org/officeDocument/2006/relationships/slide" Target="/ppt/slides/slide15.xml" Id="R550dd8c4eb474bc4" /><Relationship Type="http://schemas.openxmlformats.org/officeDocument/2006/relationships/slide" Target="/ppt/slides/slide16.xml" Id="R22d891edcd284cda" /><Relationship Type="http://schemas.openxmlformats.org/officeDocument/2006/relationships/slide" Target="/ppt/slides/slide17.xml" Id="Rbfe89cd060ec4a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5c51d9eb6d45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3214c068804b81" /><Relationship Type="http://schemas.openxmlformats.org/officeDocument/2006/relationships/notesMaster" Target="/ppt/notesMasters/notesMaster1.xml" Id="Rdd534c2f4d7d40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458589f0494401" /><Relationship Type="http://schemas.openxmlformats.org/officeDocument/2006/relationships/notesMaster" Target="/ppt/notesMasters/notesMaster1.xml" Id="Rd447b03eb83344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f65ec7d1ce4a65" /><Relationship Type="http://schemas.openxmlformats.org/officeDocument/2006/relationships/notesMaster" Target="/ppt/notesMasters/notesMaster1.xml" Id="Re1e1990337aa4c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eedeea470e4dc3" /><Relationship Type="http://schemas.openxmlformats.org/officeDocument/2006/relationships/notesMaster" Target="/ppt/notesMasters/notesMaster1.xml" Id="R352c621e45a345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6b589069bd4574" /><Relationship Type="http://schemas.openxmlformats.org/officeDocument/2006/relationships/notesMaster" Target="/ppt/notesMasters/notesMaster1.xml" Id="R3a1ac1d2a8474f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c24f73c7a540d6" /><Relationship Type="http://schemas.openxmlformats.org/officeDocument/2006/relationships/notesMaster" Target="/ppt/notesMasters/notesMaster1.xml" Id="R4abfd5f0b2e44f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e75d3cb18b4dfa" /><Relationship Type="http://schemas.openxmlformats.org/officeDocument/2006/relationships/notesMaster" Target="/ppt/notesMasters/notesMaster1.xml" Id="R1c79e771351c47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24c26261fa489f" /><Relationship Type="http://schemas.openxmlformats.org/officeDocument/2006/relationships/notesMaster" Target="/ppt/notesMasters/notesMaster1.xml" Id="R1472313d09c443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6c3da952a14e58" /><Relationship Type="http://schemas.openxmlformats.org/officeDocument/2006/relationships/notesMaster" Target="/ppt/notesMasters/notesMaster1.xml" Id="R3d940818e2fb40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ffdf83c1c1242d6" /><Relationship Type="http://schemas.openxmlformats.org/officeDocument/2006/relationships/notesMaster" Target="/ppt/notesMasters/notesMaster1.xml" Id="Rd3f2f38692b2492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f4ea13d44e94639" /><Relationship Type="http://schemas.openxmlformats.org/officeDocument/2006/relationships/notesMaster" Target="/ppt/notesMasters/notesMaster1.xml" Id="R9234418f935749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aeb44d40bf4707" /><Relationship Type="http://schemas.openxmlformats.org/officeDocument/2006/relationships/notesMaster" Target="/ppt/notesMasters/notesMaster1.xml" Id="R558286255b7c433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4b6af92a9c049b6" /><Relationship Type="http://schemas.openxmlformats.org/officeDocument/2006/relationships/notesMaster" Target="/ppt/notesMasters/notesMaster1.xml" Id="R5198524f2f474ca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20d06c1a7a4b03" /><Relationship Type="http://schemas.openxmlformats.org/officeDocument/2006/relationships/notesMaster" Target="/ppt/notesMasters/notesMaster1.xml" Id="R22db441507ff434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2b87f5264e2437e" /><Relationship Type="http://schemas.openxmlformats.org/officeDocument/2006/relationships/notesMaster" Target="/ppt/notesMasters/notesMaster1.xml" Id="Re0445e426c07442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35103edbf1e45a6" /><Relationship Type="http://schemas.openxmlformats.org/officeDocument/2006/relationships/notesMaster" Target="/ppt/notesMasters/notesMaster1.xml" Id="Reb270ecd034846d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c3b3d269e624548" /><Relationship Type="http://schemas.openxmlformats.org/officeDocument/2006/relationships/notesMaster" Target="/ppt/notesMasters/notesMaster1.xml" Id="R0b6671f88c914d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the implemented MINT application to a technical reviewer. This deck follows actual repository behavior and distinguishes implemented systems from proposals. Sources: docs/TECHNICAL_REFERENCE.md; src/; drizzle/.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inventory and payment are separate systems, and pickup can involve more than one collector. MINT therefore treats an order as a durable workflow, not as a single successful HTTP request. These are design challenges inferred from implemented flows, not measured campus incident rates. Source: docs/TECHNICAL_REFERENCE.md sections 1, 3, 10–16.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requirement appears later with the mechanism that implements it. The API uses Zod schemas and backend catalogue prices; database invariants and transaction locks protect stock; payment states and scheduled reconciliation handle external callbacks; units provide portion-level pickup state; credit lots retain expiration detail; canteen-scoped role checks protect operations. Sources: docs/TECHNICAL_REFERENCE.md sections 8–16; src/modules/orders.ts, payments.ts, credits.ts, operations.ts.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parent order captures checkout/payment context; each unit has its own fulfillment state and collector. The local hold precedes Razorpay order creation. Credit-only orders can confirm locally. A scheduled worker handles due holds and recovery work. Collection arrival and staff preparation are separate from the final handover. Sources: docs/TECHNICAL_REFERENCE.md sections 3, 10–13, 16; src/modules/orders.ts, payments.ts, pickup.ts, operations.ts.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is a modular monolith: one repository and shared domain code, deployed as a frontend role on Vercel and an API role on Render. The browser uses same-origin /api requests and Vercel rewrites them before API route handlers run. Render connects to the private PostgreSQL schema using a restricted runtime role. Auth is a separate identity service. Razorpay is external. The database scheduler dispatches background work through a private function using Vault and pg_net. Sources: docs/TECHNICAL_REFERENCE.md sections 3–4, 16; vercel.json; render.yaml; drizzle/.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Versions are declared in package.json; ranges do not guarantee the exact version on every host. Next.js serves the UI and route entry points; TypeScript is the implementation language rather than the packaging system. Drizzle models schema and migrations and allows focused SQL for locks. Postgres.js is the driver. Razorpay is integrated by REST and hosted widget without requiring a server SDK. AI: none in runtime. This is a current-fit choice, not a claim that other infrastructure is never needed. Source: docs/TECHNICAL_REFERENCE.md section 4; 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 model has 22 application tables. An order is the payment/check-out container; units represent separately fulfillable portions. Inventory batches track total, held, committed, and waste. Wallet balance is scoped to a canteen; lots carry expiry, reservations allocate holds, and the ledger records events. Idempotency, durable resolution, and audit records support retry and review workflows. This slide groups tables for readability; consult schema.ts for exact columns, keys, and constraints. Source: docs/TECHNICAL_REFERENCE.md sections 1, 6–7; src/db/schema.ts; drizzle/.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Sequence details: checkout is serialized for the relevant student/canteen with advisory transaction locks; eligible stock rows are locked and checked; held inventory and order state are written together. A concurrent request can only proceed after observing the committed state and will fail if quantity is gone. This is not SERIALIZABLE isolation. Lock keys and row locks protect the relevant workflows, and database constraints provide additional guards. In documented tests, 12 concurrent checkouts against 5 portions yielded 5 successful reservations. Source: docs/TECHNICAL_REFERENCE.md sections 10, 15, 21; src/modules/orders.ts; tests/workflows.test.ts.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inventory/credit hold commits first. The external Razorpay order call happens after that transaction because a provider network operation cannot be rolled back with the database. Callbacks and signed webhooks are not treated as proof without signature, amount, currency, and state checks. Reconciliation revisits pending records. If funds are captured after inventory is no longer fulfillable, the system records a durable refund resolution and retries refunding. Payment events use idempotent application. Sources: docs/TECHNICAL_REFERENCE.md sections 10–11, 16, 23; src/modules/payments.ts; src/lib/razorpay.ts.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policy creates credits with a 30-day lifetime. Existing credit lots retain their own expiry. During payment, credit is reserved and allocations identify which lots were used. For an unarrived, missed paid portion, the current policy returns 90% as credit and retains 10%; monetary rounding is applied per portion and the policy version is stored. Expired checkout holds and cancellations have different outcomes; canteen-side cancellation does not apply a student no-show fine. Source: docs/TECHNICAL_REFERENCE.md sections 12, 19; src/modules/credits.ts; src/lib/credit-policy.ts.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Arrival can be confirmed by geofence or staff scan. Geofence uses Haversine distance and a configured radius; GPS data can be spoofed, so staff scanning is the operational fallback. QR contains a cryptographically random 32-byte bearer token; the database stores a hash. A pass is scoped to order/collector/station and uniqueness prevents reusing a code for another active pass. Delegation grants selected portions; cancel/transfer operations bump version so earlier codes stop resolving. Do not claim preparation increments the unit version. Sources: docs/TECHNICAL_REFERENCE.md section 13; src/modules/pickup.ts; src/modules/operations.ts.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Authentication verifies the Supabase identity. Authorization separately checks identity kind, operational role, and canteen/station scope. Business tables are in private schema mint; direct anonymous/authenticated table privileges are revoked and the backend uses a restricted runtime role. This design means RLS and DB grants are important boundaries, but application-specific business scoping also depends on server code. Request validation does not replace authorization. Current security controls and caveats: exact-origin checks, JSON size limits, rate limits, signed worker requests, payment signature verification. Sources: docs/TECHNICAL_REFERENCE.md section 8; src/lib/http.ts, auth.ts, modules/core.ts; drizzle/.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tier limits and rules are in order-limits.ts. Quota computation considers recent and outstanding use across canteens, with a recent-collected window; item rules include scarce-stock caps and a bread cap. Tier changes use explicit success/no-show behavior. These rules are deterministic code/SQL. No AI/ML component evaluates students or predicts demand. Source: docs/TECHNICAL_REFERENCE.md sections 14, 19–20; src/modules/order-limits.ts; src/lib/order-limits.ts.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Supabase pg_cron invokes a private dispatch_worker function. The function reads the worker secret from Vault and uses pg_net to send a signed POST to Render. Worker authorization validates the timestamp/HMAC with bounded age/future skew. The worker runs bounded batches, processes expirations/reconciliation/refunds, and stores heartbeat/lease state. It remains independent of an open browser or laptop. Sources: docs/TECHNICAL_REFERENCE.md section 16; drizzle migrations; scripts/configure-hosted-worker.ts; src/jobs/.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is a React app in the Next.js repository, with the installed PWA manifest/shell. It uses relative same-origin API URLs. Order state is refreshed by polling; the server remains authoritative. PWA caching improves shell availability but does not provide offline checkout or queue mutations. Source: docs/TECHNICAL_REFERENCE.md section 17; src/components/mint-app.tsx; src/app/globals.css; public/manifest*.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Documented test evidence includes DB workflow/concurrency tests, pure policy tests, isolated Playwright browser tests, typecheck/lint/build, and health checks. These counts describe the docs baseline and may differ from current working-tree checks. Sandbox checkout evidence does not establish that webhook delivery is always reliable. Simulated GPS/camera flows do not verify field conditions. A test does not prove production capacity. For defense, state what a test proves and what it does not. Sources: docs/TECHNICAL_REFERENCE.md sections 21–22; docs/DEPLOYMENT.md;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final synthesis. The strongest technical explanation connects every mechanism to the specific failure it prevents. The application is a pickup PWA and does not currently implement AI, delivery, native mobile clients, or demand forecasting. Sources: docs/TECHNICAL_REFERENCE.md; source code and 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af3f260a1344c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28cbce6a7c6427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f41ece5f78948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4396b43f0d44db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3afc3f8108d443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6b0af143cf243f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7E5E8D-8AA8-4BC4-B750-11C0733C427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8286AC3-255F-4B0C-89C0-276947F3F86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BC9896F-B1C6-4F2B-8556-13465285A8A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AADBB1-D955-4988-9528-C32122B6D0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834538F-FE37-4CD8-94AA-F9AF79FA01C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4DE9C90-4E17-45DD-AC44-4B0DF9A1F1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A1E4DDC-A988-4191-BBE9-D939A753CFB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5A5AE87-1C6E-4180-825D-13E569D4C10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06F8AD-979C-4CE6-B8C6-5A79E042EE0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F5FD32-2831-48F3-B9F5-2DF1EA30C4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1b7787510b4373" /><Relationship Type="http://schemas.openxmlformats.org/officeDocument/2006/relationships/slideLayout" Target="/ppt/slideLayouts/slideLayout1.xml" Id="Rff3621484e294daf" /><Relationship Type="http://schemas.openxmlformats.org/officeDocument/2006/relationships/slideLayout" Target="/ppt/slideLayouts/slideLayout2.xml" Id="R946ee4c062bc495f" /><Relationship Type="http://schemas.openxmlformats.org/officeDocument/2006/relationships/slideLayout" Target="/ppt/slideLayouts/slideLayout3.xml" Id="Rf709c94e4cb24b90" /><Relationship Type="http://schemas.openxmlformats.org/officeDocument/2006/relationships/slideLayout" Target="/ppt/slideLayouts/slideLayout4.xml" Id="R32472cf922624138" /><Relationship Type="http://schemas.openxmlformats.org/officeDocument/2006/relationships/slideLayout" Target="/ppt/slideLayouts/slideLayout5.xml" Id="R10edbae651f04307" /><Relationship Type="http://schemas.openxmlformats.org/officeDocument/2006/relationships/slideLayout" Target="/ppt/slideLayouts/slideLayout6.xml" Id="Re559b50fd0074b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3621484e294daf"/>
    <p:sldLayoutId xmlns:r="http://schemas.openxmlformats.org/officeDocument/2006/relationships" id="2147483650" r:id="R946ee4c062bc495f"/>
    <p:sldLayoutId xmlns:r="http://schemas.openxmlformats.org/officeDocument/2006/relationships" id="2147483651" r:id="Rf709c94e4cb24b90"/>
    <p:sldLayoutId xmlns:r="http://schemas.openxmlformats.org/officeDocument/2006/relationships" id="2147483652" r:id="R32472cf922624138"/>
    <p:sldLayoutId xmlns:r="http://schemas.openxmlformats.org/officeDocument/2006/relationships" id="2147483653" r:id="R10edbae651f04307"/>
    <p:sldLayoutId xmlns:r="http://schemas.openxmlformats.org/officeDocument/2006/relationships" id="2147483654" r:id="Re559b50fd0074b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1078cd8308e49fc" /><Relationship Type="http://schemas.openxmlformats.org/officeDocument/2006/relationships/notesSlide" Target="/ppt/notesSlides/notesSlide1.xml" Id="Rd3cb6c2c95b94b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3cd3e51753c4e7b" /><Relationship Type="http://schemas.openxmlformats.org/officeDocument/2006/relationships/notesSlide" Target="/ppt/notesSlides/notesSlide2.xml" Id="Rc261f915aeb844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4a509eb471e48ce" /><Relationship Type="http://schemas.openxmlformats.org/officeDocument/2006/relationships/notesSlide" Target="/ppt/notesSlides/notesSlide3.xml" Id="R365110ed56ad4f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abfd0180f464212" /><Relationship Type="http://schemas.openxmlformats.org/officeDocument/2006/relationships/notesSlide" Target="/ppt/notesSlides/notesSlide4.xml" Id="R477dfe4cb44741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ef1796a3a9a49dd" /><Relationship Type="http://schemas.openxmlformats.org/officeDocument/2006/relationships/notesSlide" Target="/ppt/notesSlides/notesSlide5.xml" Id="R12e9d5d76afc44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a51795d5f054ff2" /><Relationship Type="http://schemas.openxmlformats.org/officeDocument/2006/relationships/notesSlide" Target="/ppt/notesSlides/notesSlide6.xml" Id="Race33260ed154f2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bc6299766a84519" /><Relationship Type="http://schemas.openxmlformats.org/officeDocument/2006/relationships/notesSlide" Target="/ppt/notesSlides/notesSlide7.xml" Id="R1b1cb6779ca34e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e38e065903e4a5a" /><Relationship Type="http://schemas.openxmlformats.org/officeDocument/2006/relationships/notesSlide" Target="/ppt/notesSlides/notesSlide8.xml" Id="R3038ff017f704a6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303952e83ab4d34" /><Relationship Type="http://schemas.openxmlformats.org/officeDocument/2006/relationships/notesSlide" Target="/ppt/notesSlides/notesSlide9.xml" Id="R35406bd830544c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0dea1bef13b4e81" /><Relationship Type="http://schemas.openxmlformats.org/officeDocument/2006/relationships/notesSlide" Target="/ppt/notesSlides/notesSlide10.xml" Id="R62707669da474e6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9c6f811a12743fc" /><Relationship Type="http://schemas.openxmlformats.org/officeDocument/2006/relationships/notesSlide" Target="/ppt/notesSlides/notesSlide11.xml" Id="R54af97236c414d7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9a695f34fc54089" /><Relationship Type="http://schemas.openxmlformats.org/officeDocument/2006/relationships/notesSlide" Target="/ppt/notesSlides/notesSlide12.xml" Id="Rfe2ac630588b408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c5cb1114dc64ad8" /><Relationship Type="http://schemas.openxmlformats.org/officeDocument/2006/relationships/notesSlide" Target="/ppt/notesSlides/notesSlide13.xml" Id="R8ab6d0f0b1c646d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c06d93c6d9e41c6" /><Relationship Type="http://schemas.openxmlformats.org/officeDocument/2006/relationships/notesSlide" Target="/ppt/notesSlides/notesSlide14.xml" Id="Ra833ec4deb014e5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8f06caa4b984f7d" /><Relationship Type="http://schemas.openxmlformats.org/officeDocument/2006/relationships/notesSlide" Target="/ppt/notesSlides/notesSlide15.xml" Id="R4edb050135d24eb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0f9541eefa34a6f" /><Relationship Type="http://schemas.openxmlformats.org/officeDocument/2006/relationships/notesSlide" Target="/ppt/notesSlides/notesSlide16.xml" Id="Rde4acd82a6fe49e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aa2503c96744aa3" /><Relationship Type="http://schemas.openxmlformats.org/officeDocument/2006/relationships/notesSlide" Target="/ppt/notesSlides/notesSlide17.xml" Id="R8cef0ef06e154ca9" /></Relationships>
</file>

<file path=ppt/slides/slide1.xml><?xml version="1.0" encoding="utf-8"?>
<p:sld xmlns:p="http://schemas.openxmlformats.org/presentationml/2006/main">
  <p:cSld>
    <p:bg>
      <p:bgPr>
        <a:solidFill xmlns:a="http://schemas.openxmlformats.org/drawingml/2006/main">
          <a:srgbClr val="8E123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B50929-7C05-43F6-B21E-67A4E08B87B0}"/>
              </a:ext>
            </a:extLst>
          </p:cNvPr>
          <p:cNvSpPr>
            <a:spLocks xmlns:a="http://schemas.openxmlformats.org/drawingml/2006/main" noGrp="1"/>
          </p:cNvSpPr>
          <p:nvPr/>
        </p:nvSpPr>
        <p:spPr>
          <a:xfrm xmlns:a="http://schemas.openxmlformats.org/drawingml/2006/main">
            <a:off x="8382000" y="0"/>
            <a:ext cx="3810000" cy="2809875"/>
          </a:xfrm>
          <a:prstGeom xmlns:a="http://schemas.openxmlformats.org/drawingml/2006/main" prst="roundRect">
            <a:avLst>
              <a:gd name="adj" fmla="val 2712"/>
            </a:avLst>
          </a:prstGeom>
          <a:solidFill xmlns:a="http://schemas.openxmlformats.org/drawingml/2006/main">
            <a:srgbClr val="A8234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E76E650-891F-41E3-AB8A-7651BF4C55E1}"/>
              </a:ext>
            </a:extLst>
          </p:cNvPr>
          <p:cNvSpPr>
            <a:spLocks xmlns:a="http://schemas.openxmlformats.org/drawingml/2006/main" noGrp="1"/>
          </p:cNvSpPr>
          <p:nvPr/>
        </p:nvSpPr>
        <p:spPr>
          <a:xfrm xmlns:a="http://schemas.openxmlformats.org/drawingml/2006/main">
            <a:off x="0" y="5000625"/>
            <a:ext cx="2571750" cy="1857375"/>
          </a:xfrm>
          <a:prstGeom xmlns:a="http://schemas.openxmlformats.org/drawingml/2006/main" prst="roundRect">
            <a:avLst>
              <a:gd name="adj" fmla="val 4103"/>
            </a:avLst>
          </a:prstGeom>
          <a:solidFill xmlns:a="http://schemas.openxmlformats.org/drawingml/2006/main">
            <a:srgbClr val="74102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34AD700-8E8E-4262-8C18-AC34D8FA94C7}"/>
              </a:ext>
            </a:extLst>
          </p:cNvPr>
          <p:cNvSpPr>
            <a:spLocks xmlns:a="http://schemas.openxmlformats.org/drawingml/2006/main" noGrp="1"/>
          </p:cNvSpPr>
          <p:nvPr/>
        </p:nvSpPr>
        <p:spPr>
          <a:xfrm xmlns:a="http://schemas.openxmlformats.org/drawingml/2006/main">
            <a:off x="685800" y="1143000"/>
            <a:ext cx="6096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6450" b="1">
                <a:solidFill>
                  <a:srgbClr val="FFFFFF"/>
                </a:solidFill>
              </a:defRPr>
            </a:defPPr>
          </a:lstStyle>
          <a:p xmlns:a="http://schemas.openxmlformats.org/drawingml/2006/main">
            <a:pPr>
              <a:defRPr sz="6450" b="1">
                <a:solidFill>
                  <a:srgbClr val="FFFFFF"/>
                </a:solidFill>
              </a:defRPr>
            </a:pPr>
            <a:r>
              <a:rPr sz="6450" b="1">
                <a:solidFill>
                  <a:srgbClr val="FFFFFF"/>
                </a:solidFill>
              </a:rPr>
              <a:t>MINT</a:t>
            </a:r>
          </a:p>
        </p:txBody>
      </p:sp>
      <p:sp>
        <p:nvSpPr>
          <p:cNvPr id="4" name="">
            <a:extLst xmlns:a="http://schemas.openxmlformats.org/drawingml/2006/main">
              <a:ext uri="{FF2B5EF4-FFF2-40B4-BE49-F238E27FC236}">
                <a16:creationId xmlns:a16="http://schemas.microsoft.com/office/drawing/2014/main" id="{D84CB151-26FD-421E-B6D7-319D49012361}"/>
              </a:ext>
            </a:extLst>
          </p:cNvPr>
          <p:cNvSpPr>
            <a:spLocks xmlns:a="http://schemas.openxmlformats.org/drawingml/2006/main" noGrp="1"/>
          </p:cNvSpPr>
          <p:nvPr/>
        </p:nvSpPr>
        <p:spPr>
          <a:xfrm xmlns:a="http://schemas.openxmlformats.org/drawingml/2006/main">
            <a:off x="742950" y="22669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325" b="0">
                <a:solidFill>
                  <a:srgbClr val="FFFFFF"/>
                </a:solidFill>
              </a:defRPr>
            </a:defPPr>
          </a:lstStyle>
          <a:p xmlns:a="http://schemas.openxmlformats.org/drawingml/2006/main">
            <a:pPr>
              <a:defRPr sz="2325" b="0">
                <a:solidFill>
                  <a:srgbClr val="FFFFFF"/>
                </a:solidFill>
              </a:defRPr>
            </a:pPr>
            <a:r>
              <a:rPr sz="2325" b="0">
                <a:solidFill>
                  <a:srgbClr val="FFFFFF"/>
                </a:solidFill>
              </a:rPr>
              <a:t>Campus canteen pickup system</a:t>
            </a:r>
          </a:p>
        </p:txBody>
      </p:sp>
      <p:sp>
        <p:nvSpPr>
          <p:cNvPr id="5" name="">
            <a:extLst xmlns:a="http://schemas.openxmlformats.org/drawingml/2006/main">
              <a:ext uri="{FF2B5EF4-FFF2-40B4-BE49-F238E27FC236}">
                <a16:creationId xmlns:a16="http://schemas.microsoft.com/office/drawing/2014/main" id="{54877DD0-7085-4CDC-B260-750389D66D82}"/>
              </a:ext>
            </a:extLst>
          </p:cNvPr>
          <p:cNvSpPr>
            <a:spLocks xmlns:a="http://schemas.openxmlformats.org/drawingml/2006/main" noGrp="1"/>
          </p:cNvSpPr>
          <p:nvPr/>
        </p:nvSpPr>
        <p:spPr>
          <a:xfrm xmlns:a="http://schemas.openxmlformats.org/drawingml/2006/main">
            <a:off x="742950" y="2905125"/>
            <a:ext cx="704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7DDE5"/>
                </a:solidFill>
              </a:defRPr>
            </a:defPPr>
          </a:lstStyle>
          <a:p xmlns:a="http://schemas.openxmlformats.org/drawingml/2006/main">
            <a:pPr>
              <a:defRPr sz="1725" b="0">
                <a:solidFill>
                  <a:srgbClr val="F7DDE5"/>
                </a:solidFill>
              </a:defRPr>
            </a:pPr>
            <a:r>
              <a:rPr sz="1725" b="0">
                <a:solidFill>
                  <a:srgbClr val="F7DDE5"/>
                </a:solidFill>
              </a:rPr>
              <a:t>Technical architecture, design decisions, and operating rules</a:t>
            </a:r>
          </a:p>
        </p:txBody>
      </p:sp>
      <p:sp>
        <p:nvSpPr>
          <p:cNvPr id="6" name="">
            <a:extLst xmlns:a="http://schemas.openxmlformats.org/drawingml/2006/main">
              <a:ext uri="{FF2B5EF4-FFF2-40B4-BE49-F238E27FC236}">
                <a16:creationId xmlns:a16="http://schemas.microsoft.com/office/drawing/2014/main" id="{5358ED1F-A284-42B6-8863-E09BE67E67D6}"/>
              </a:ext>
            </a:extLst>
          </p:cNvPr>
          <p:cNvSpPr>
            <a:spLocks xmlns:a="http://schemas.openxmlformats.org/drawingml/2006/main" noGrp="1"/>
          </p:cNvSpPr>
          <p:nvPr/>
        </p:nvSpPr>
        <p:spPr>
          <a:xfrm xmlns:a="http://schemas.openxmlformats.org/drawingml/2006/main">
            <a:off x="742950" y="3971925"/>
            <a:ext cx="1066800" cy="9525"/>
          </a:xfrm>
          <a:prstGeom xmlns:a="http://schemas.openxmlformats.org/drawingml/2006/main" prst="line">
            <a:avLst/>
          </a:prstGeom>
          <a:noFill xmlns:a="http://schemas.openxmlformats.org/drawingml/2006/main"/>
          <a:ln xmlns:a="http://schemas.openxmlformats.org/drawingml/2006/main" w="47625">
            <a:solidFill>
              <a:srgbClr val="E5B765"/>
            </a:solidFill>
            <a:prstDash val="solid"/>
          </a:ln>
        </p:spPr>
      </p:sp>
      <p:sp>
        <p:nvSpPr>
          <p:cNvPr id="7" name="">
            <a:extLst xmlns:a="http://schemas.openxmlformats.org/drawingml/2006/main">
              <a:ext uri="{FF2B5EF4-FFF2-40B4-BE49-F238E27FC236}">
                <a16:creationId xmlns:a16="http://schemas.microsoft.com/office/drawing/2014/main" id="{764395B2-383C-4E14-BC7E-C2C5E1A19C15}"/>
              </a:ext>
            </a:extLst>
          </p:cNvPr>
          <p:cNvSpPr>
            <a:spLocks xmlns:a="http://schemas.openxmlformats.org/drawingml/2006/main" noGrp="1"/>
          </p:cNvSpPr>
          <p:nvPr/>
        </p:nvSpPr>
        <p:spPr>
          <a:xfrm xmlns:a="http://schemas.openxmlformats.org/drawingml/2006/main">
            <a:off x="742950" y="4295775"/>
            <a:ext cx="638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FFFFFF"/>
                </a:solidFill>
              </a:defRPr>
            </a:defPPr>
          </a:lstStyle>
          <a:p xmlns:a="http://schemas.openxmlformats.org/drawingml/2006/main">
            <a:pPr>
              <a:defRPr sz="1425" b="0">
                <a:solidFill>
                  <a:srgbClr val="FFFFFF"/>
                </a:solidFill>
              </a:defRPr>
            </a:pPr>
            <a:r>
              <a:rPr sz="1425" b="0">
                <a:solidFill>
                  <a:srgbClr val="FFFFFF"/>
                </a:solidFill>
              </a:rPr>
              <a:t>A problem-first guide to how the application protects food, payments, and pickup rights.</a:t>
            </a:r>
          </a:p>
        </p:txBody>
      </p:sp>
      <p:sp>
        <p:nvSpPr>
          <p:cNvPr id="8" name="">
            <a:extLst xmlns:a="http://schemas.openxmlformats.org/drawingml/2006/main">
              <a:ext uri="{FF2B5EF4-FFF2-40B4-BE49-F238E27FC236}">
                <a16:creationId xmlns:a16="http://schemas.microsoft.com/office/drawing/2014/main" id="{632EC06B-6145-43A3-8DA8-578C953FF835}"/>
              </a:ext>
            </a:extLst>
          </p:cNvPr>
          <p:cNvSpPr>
            <a:spLocks xmlns:a="http://schemas.openxmlformats.org/drawingml/2006/main" noGrp="1"/>
          </p:cNvSpPr>
          <p:nvPr/>
        </p:nvSpPr>
        <p:spPr>
          <a:xfrm xmlns:a="http://schemas.openxmlformats.org/drawingml/2006/main">
            <a:off x="742950" y="61531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F7DDE5"/>
                </a:solidFill>
              </a:defRPr>
            </a:defPPr>
          </a:lstStyle>
          <a:p xmlns:a="http://schemas.openxmlformats.org/drawingml/2006/main">
            <a:pPr>
              <a:defRPr sz="975" b="1">
                <a:solidFill>
                  <a:srgbClr val="F7DDE5"/>
                </a:solidFill>
              </a:defRPr>
            </a:pPr>
            <a:r>
              <a:rPr sz="975" b="1">
                <a:solidFill>
                  <a:srgbClr val="F7DDE5"/>
                </a:solidFill>
              </a:rPr>
              <a:t>TECHNICAL DEEP DIVE  •  OCTOBER 2026</a:t>
            </a:r>
          </a:p>
        </p:txBody>
      </p:sp>
    </p:spTree>
    <p:extLst>
      <p:ext uri="{BB962C8B-B14F-4D97-AF65-F5344CB8AC3E}">
        <p14:creationId xmlns:p14="http://schemas.microsoft.com/office/powerpoint/2010/main" val="1262865365"/>
      </p:ext>
    </p:extLst>
  </p:cSld>
</p:sld>
</file>

<file path=ppt/slides/slide2.xml><?xml version="1.0" encoding="utf-8"?>
<p:sld xmlns:p="http://schemas.openxmlformats.org/presentationml/2006/main">
  <p:cSld>
    <p:bg>
      <p:bgPr>
        <a:solidFill xmlns:a="http://schemas.openxmlformats.org/drawingml/2006/main">
          <a:srgbClr val="FBF7F4"/>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6B60481-4F56-4A92-9F54-C30A29101DCA}"/>
              </a:ext>
            </a:extLst>
          </p:cNvPr>
          <p:cNvSpPr>
            <a:spLocks xmlns:a="http://schemas.openxmlformats.org/drawingml/2006/main" noGrp="1"/>
          </p:cNvSpPr>
          <p:nvPr/>
        </p:nvSpPr>
        <p:spPr>
          <a:xfrm xmlns:a="http://schemas.openxmlformats.org/drawingml/2006/main">
            <a:off x="6096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8E123B"/>
                </a:solidFill>
              </a:defRPr>
            </a:defPPr>
          </a:lstStyle>
          <a:p xmlns:a="http://schemas.openxmlformats.org/drawingml/2006/main">
            <a:pPr>
              <a:defRPr sz="900" b="1">
                <a:solidFill>
                  <a:srgbClr val="8E123B"/>
                </a:solidFill>
              </a:defRPr>
            </a:pPr>
            <a:r>
              <a:rPr sz="900" b="1">
                <a:solidFill>
                  <a:srgbClr val="8E123B"/>
                </a:solidFill>
              </a:rPr>
              <a:t>01 • PROBLEM STATEMENT</a:t>
            </a:r>
          </a:p>
        </p:txBody>
      </p:sp>
      <p:sp>
        <p:nvSpPr>
          <p:cNvPr id="2" name="">
            <a:extLst xmlns:a="http://schemas.openxmlformats.org/drawingml/2006/main">
              <a:ext uri="{FF2B5EF4-FFF2-40B4-BE49-F238E27FC236}">
                <a16:creationId xmlns:a16="http://schemas.microsoft.com/office/drawing/2014/main" id="{DD090C61-56E0-4814-8996-2A0F4BBADA2F}"/>
              </a:ext>
            </a:extLst>
          </p:cNvPr>
          <p:cNvSpPr>
            <a:spLocks xmlns:a="http://schemas.openxmlformats.org/drawingml/2006/main" noGrp="1"/>
          </p:cNvSpPr>
          <p:nvPr/>
        </p:nvSpPr>
        <p:spPr>
          <a:xfrm xmlns:a="http://schemas.openxmlformats.org/drawingml/2006/main">
            <a:off x="609600" y="657225"/>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261D21"/>
                </a:solidFill>
              </a:defRPr>
            </a:defPPr>
          </a:lstStyle>
          <a:p xmlns:a="http://schemas.openxmlformats.org/drawingml/2006/main">
            <a:pPr>
              <a:defRPr sz="2550" b="1">
                <a:solidFill>
                  <a:srgbClr val="261D21"/>
                </a:solidFill>
              </a:defRPr>
            </a:pPr>
            <a:r>
              <a:rPr sz="2550" b="1">
                <a:solidFill>
                  <a:srgbClr val="261D21"/>
                </a:solidFill>
              </a:rPr>
              <a:t>The problem is coordination under a lunch rush</a:t>
            </a:r>
          </a:p>
        </p:txBody>
      </p:sp>
      <p:sp>
        <p:nvSpPr>
          <p:cNvPr id="3" name="">
            <a:extLst xmlns:a="http://schemas.openxmlformats.org/drawingml/2006/main">
              <a:ext uri="{FF2B5EF4-FFF2-40B4-BE49-F238E27FC236}">
                <a16:creationId xmlns:a16="http://schemas.microsoft.com/office/drawing/2014/main" id="{CF2D447A-BE89-4912-90EE-0203765166C5}"/>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line">
            <a:avLst/>
          </a:prstGeom>
          <a:noFill xmlns:a="http://schemas.openxmlformats.org/drawingml/2006/main"/>
          <a:ln xmlns:a="http://schemas.openxmlformats.org/drawingml/2006/main" w="9525">
            <a:solidFill>
              <a:srgbClr val="E8DDE0"/>
            </a:solidFill>
            <a:prstDash val="solid"/>
          </a:ln>
        </p:spPr>
      </p:sp>
      <p:sp>
        <p:nvSpPr>
          <p:cNvPr id="4" name="">
            <a:extLst xmlns:a="http://schemas.openxmlformats.org/drawingml/2006/main">
              <a:ext uri="{FF2B5EF4-FFF2-40B4-BE49-F238E27FC236}">
                <a16:creationId xmlns:a16="http://schemas.microsoft.com/office/drawing/2014/main" id="{6AE0250D-243E-4F13-92D6-37978F83FA02}"/>
              </a:ext>
            </a:extLst>
          </p:cNvPr>
          <p:cNvSpPr>
            <a:spLocks xmlns:a="http://schemas.openxmlformats.org/drawingml/2006/main" noGrp="1"/>
          </p:cNvSpPr>
          <p:nvPr/>
        </p:nvSpPr>
        <p:spPr>
          <a:xfrm xmlns:a="http://schemas.openxmlformats.org/drawingml/2006/main">
            <a:off x="609600" y="64579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71656A"/>
                </a:solidFill>
              </a:defRPr>
            </a:defPPr>
          </a:lstStyle>
          <a:p xmlns:a="http://schemas.openxmlformats.org/drawingml/2006/main">
            <a:pPr>
              <a:defRPr sz="825" b="1">
                <a:solidFill>
                  <a:srgbClr val="71656A"/>
                </a:solidFill>
              </a:defRPr>
            </a:pPr>
            <a:r>
              <a:rPr sz="825" b="1">
                <a:solidFill>
                  <a:srgbClr val="71656A"/>
                </a:solidFill>
              </a:rPr>
              <a:t>MINT  /  CAMPUS CANTEEN PICKUP</a:t>
            </a:r>
          </a:p>
        </p:txBody>
      </p:sp>
      <p:sp>
        <p:nvSpPr>
          <p:cNvPr id="5" name="">
            <a:extLst xmlns:a="http://schemas.openxmlformats.org/drawingml/2006/main">
              <a:ext uri="{FF2B5EF4-FFF2-40B4-BE49-F238E27FC236}">
                <a16:creationId xmlns:a16="http://schemas.microsoft.com/office/drawing/2014/main" id="{683B492B-9EC4-4997-8BA9-F6E1FDC4AA62}"/>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71656A"/>
                </a:solidFill>
              </a:defRPr>
            </a:defPPr>
          </a:lstStyle>
          <a:p xmlns:a="http://schemas.openxmlformats.org/drawingml/2006/main">
            <a:pPr algn="r">
              <a:defRPr sz="900" b="1">
                <a:solidFill>
                  <a:srgbClr val="71656A"/>
                </a:solidFill>
              </a:defRPr>
            </a:pPr>
            <a:r>
              <a:rPr sz="900" b="1">
                <a:solidFill>
                  <a:srgbClr val="71656A"/>
                </a:solidFill>
              </a:rPr>
              <a:t>02</a:t>
            </a:r>
          </a:p>
        </p:txBody>
      </p:sp>
      <p:sp>
        <p:nvSpPr>
          <p:cNvPr id="6" name="">
            <a:extLst xmlns:a="http://schemas.openxmlformats.org/drawingml/2006/main">
              <a:ext uri="{FF2B5EF4-FFF2-40B4-BE49-F238E27FC236}">
                <a16:creationId xmlns:a16="http://schemas.microsoft.com/office/drawing/2014/main" id="{F3EE8377-1DDA-4384-AABF-65C0D9B1DF98}"/>
              </a:ext>
            </a:extLst>
          </p:cNvPr>
          <p:cNvSpPr>
            <a:spLocks xmlns:a="http://schemas.openxmlformats.org/drawingml/2006/main" noGrp="1"/>
          </p:cNvSpPr>
          <p:nvPr/>
        </p:nvSpPr>
        <p:spPr>
          <a:xfrm xmlns:a="http://schemas.openxmlformats.org/drawingml/2006/main">
            <a:off x="609600" y="1543050"/>
            <a:ext cx="1076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8E123B"/>
                </a:solidFill>
              </a:defRPr>
            </a:defPPr>
          </a:lstStyle>
          <a:p xmlns:a="http://schemas.openxmlformats.org/drawingml/2006/main">
            <a:pPr>
              <a:defRPr sz="1800" b="1">
                <a:solidFill>
                  <a:srgbClr val="8E123B"/>
                </a:solidFill>
              </a:defRPr>
            </a:pPr>
            <a:r>
              <a:rPr sz="1800" b="1">
                <a:solidFill>
                  <a:srgbClr val="8E123B"/>
                </a:solidFill>
              </a:rPr>
              <a:t>A pickup order is not one event. It is a chain of promises that must agree.</a:t>
            </a:r>
          </a:p>
        </p:txBody>
      </p:sp>
      <p:sp>
        <p:nvSpPr>
          <p:cNvPr id="7" name="">
            <a:extLst xmlns:a="http://schemas.openxmlformats.org/drawingml/2006/main">
              <a:ext uri="{FF2B5EF4-FFF2-40B4-BE49-F238E27FC236}">
                <a16:creationId xmlns:a16="http://schemas.microsoft.com/office/drawing/2014/main" id="{09F04AB2-0BAD-40A0-B942-C0232E551A36}"/>
              </a:ext>
            </a:extLst>
          </p:cNvPr>
          <p:cNvSpPr>
            <a:spLocks xmlns:a="http://schemas.openxmlformats.org/drawingml/2006/main" noGrp="1"/>
          </p:cNvSpPr>
          <p:nvPr/>
        </p:nvSpPr>
        <p:spPr>
          <a:xfrm xmlns:a="http://schemas.openxmlformats.org/drawingml/2006/main">
            <a:off x="609600" y="2324100"/>
            <a:ext cx="2476500" cy="2095500"/>
          </a:xfrm>
          <a:prstGeom xmlns:a="http://schemas.openxmlformats.org/drawingml/2006/main" prst="roundRect">
            <a:avLst>
              <a:gd name="adj" fmla="val 3636"/>
            </a:avLst>
          </a:prstGeom>
          <a:solidFill xmlns:a="http://schemas.openxmlformats.org/drawingml/2006/main">
            <a:srgbClr val="F3E2E6"/>
          </a:solidFill>
          <a:ln xmlns:a="http://schemas.openxmlformats.org/drawingml/2006/main" w="9525">
            <a:solidFill>
              <a:srgbClr val="E8DDE0"/>
            </a:solidFill>
            <a:prstDash val="solid"/>
          </a:ln>
        </p:spPr>
      </p:sp>
      <p:sp>
        <p:nvSpPr>
          <p:cNvPr id="8" name="">
            <a:extLst xmlns:a="http://schemas.openxmlformats.org/drawingml/2006/main">
              <a:ext uri="{FF2B5EF4-FFF2-40B4-BE49-F238E27FC236}">
                <a16:creationId xmlns:a16="http://schemas.microsoft.com/office/drawing/2014/main" id="{686D60A3-752B-4A30-BA5F-4C20611CF36F}"/>
              </a:ext>
            </a:extLst>
          </p:cNvPr>
          <p:cNvSpPr>
            <a:spLocks xmlns:a="http://schemas.openxmlformats.org/drawingml/2006/main" noGrp="1"/>
          </p:cNvSpPr>
          <p:nvPr/>
        </p:nvSpPr>
        <p:spPr>
          <a:xfrm xmlns:a="http://schemas.openxmlformats.org/drawingml/2006/main">
            <a:off x="800100" y="2505075"/>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8E123B"/>
                </a:solidFill>
              </a:defRPr>
            </a:defPPr>
          </a:lstStyle>
          <a:p xmlns:a="http://schemas.openxmlformats.org/drawingml/2006/main">
            <a:pPr>
              <a:defRPr sz="1650" b="1">
                <a:solidFill>
                  <a:srgbClr val="8E123B"/>
                </a:solidFill>
              </a:defRPr>
            </a:pPr>
            <a:r>
              <a:rPr sz="1650" b="1">
                <a:solidFill>
                  <a:srgbClr val="8E123B"/>
                </a:solidFill>
              </a:rPr>
              <a:t>01</a:t>
            </a:r>
          </a:p>
        </p:txBody>
      </p:sp>
      <p:sp>
        <p:nvSpPr>
          <p:cNvPr id="9" name="">
            <a:extLst xmlns:a="http://schemas.openxmlformats.org/drawingml/2006/main">
              <a:ext uri="{FF2B5EF4-FFF2-40B4-BE49-F238E27FC236}">
                <a16:creationId xmlns:a16="http://schemas.microsoft.com/office/drawing/2014/main" id="{CA3CC494-EBA6-40BD-8E17-09D8C5D18C60}"/>
              </a:ext>
            </a:extLst>
          </p:cNvPr>
          <p:cNvSpPr>
            <a:spLocks xmlns:a="http://schemas.openxmlformats.org/drawingml/2006/main" noGrp="1"/>
          </p:cNvSpPr>
          <p:nvPr/>
        </p:nvSpPr>
        <p:spPr>
          <a:xfrm xmlns:a="http://schemas.openxmlformats.org/drawingml/2006/main">
            <a:off x="800100" y="2924175"/>
            <a:ext cx="2047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71656A"/>
                </a:solidFill>
              </a:defRPr>
            </a:defPPr>
          </a:lstStyle>
          <a:p xmlns:a="http://schemas.openxmlformats.org/drawingml/2006/main">
            <a:pPr>
              <a:defRPr sz="1125" b="1">
                <a:solidFill>
                  <a:srgbClr val="71656A"/>
                </a:solidFill>
              </a:defRPr>
            </a:pPr>
            <a:r>
              <a:rPr sz="1125" b="1">
                <a:solidFill>
                  <a:srgbClr val="71656A"/>
                </a:solidFill>
              </a:rPr>
              <a:t>STOCK</a:t>
            </a:r>
          </a:p>
        </p:txBody>
      </p:sp>
      <p:sp>
        <p:nvSpPr>
          <p:cNvPr id="10" name="">
            <a:extLst xmlns:a="http://schemas.openxmlformats.org/drawingml/2006/main">
              <a:ext uri="{FF2B5EF4-FFF2-40B4-BE49-F238E27FC236}">
                <a16:creationId xmlns:a16="http://schemas.microsoft.com/office/drawing/2014/main" id="{086CDAC5-D83F-406D-91E3-5603937BA280}"/>
              </a:ext>
            </a:extLst>
          </p:cNvPr>
          <p:cNvSpPr>
            <a:spLocks xmlns:a="http://schemas.openxmlformats.org/drawingml/2006/main" noGrp="1"/>
          </p:cNvSpPr>
          <p:nvPr/>
        </p:nvSpPr>
        <p:spPr>
          <a:xfrm xmlns:a="http://schemas.openxmlformats.org/drawingml/2006/main">
            <a:off x="800100" y="3352800"/>
            <a:ext cx="20478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261D21"/>
                </a:solidFill>
              </a:defRPr>
            </a:defPPr>
          </a:lstStyle>
          <a:p xmlns:a="http://schemas.openxmlformats.org/drawingml/2006/main">
            <a:pPr>
              <a:defRPr sz="1500" b="1">
                <a:solidFill>
                  <a:srgbClr val="261D21"/>
                </a:solidFill>
              </a:defRPr>
            </a:pPr>
            <a:r>
              <a:rPr sz="1500" b="1">
                <a:solidFill>
                  <a:srgbClr val="261D21"/>
                </a:solidFill>
              </a:rPr>
              <a:t>Two students can target</a:t>
            </a:r>
          </a:p>
          <a:p xmlns:a="http://schemas.openxmlformats.org/drawingml/2006/main">
            <a:pPr>
              <a:defRPr sz="1500" b="1">
                <a:solidFill>
                  <a:srgbClr val="261D21"/>
                </a:solidFill>
              </a:defRPr>
            </a:pPr>
            <a:r>
              <a:rPr sz="1500" b="1">
                <a:solidFill>
                  <a:srgbClr val="261D21"/>
                </a:solidFill>
              </a:rPr>
              <a:t>the last portion.</a:t>
            </a:r>
          </a:p>
        </p:txBody>
      </p:sp>
      <p:sp>
        <p:nvSpPr>
          <p:cNvPr id="11" name="">
            <a:extLst xmlns:a="http://schemas.openxmlformats.org/drawingml/2006/main">
              <a:ext uri="{FF2B5EF4-FFF2-40B4-BE49-F238E27FC236}">
                <a16:creationId xmlns:a16="http://schemas.microsoft.com/office/drawing/2014/main" id="{225237FA-C4A7-4665-BF6D-CD99806D22AD}"/>
              </a:ext>
            </a:extLst>
          </p:cNvPr>
          <p:cNvSpPr>
            <a:spLocks xmlns:a="http://schemas.openxmlformats.org/drawingml/2006/main" noGrp="1"/>
          </p:cNvSpPr>
          <p:nvPr/>
        </p:nvSpPr>
        <p:spPr>
          <a:xfrm xmlns:a="http://schemas.openxmlformats.org/drawingml/2006/main">
            <a:off x="3105150" y="3371850"/>
            <a:ext cx="266700" cy="9525"/>
          </a:xfrm>
          <a:prstGeom xmlns:a="http://schemas.openxmlformats.org/drawingml/2006/main" prst="line">
            <a:avLst/>
          </a:prstGeom>
          <a:noFill xmlns:a="http://schemas.openxmlformats.org/drawingml/2006/main"/>
          <a:ln xmlns:a="http://schemas.openxmlformats.org/drawingml/2006/main" w="28575">
            <a:solidFill>
              <a:srgbClr val="D65C73"/>
            </a:solidFill>
            <a:prstDash val="solid"/>
          </a:ln>
        </p:spPr>
      </p:sp>
      <p:sp>
        <p:nvSpPr>
          <p:cNvPr id="12" name="">
            <a:extLst xmlns:a="http://schemas.openxmlformats.org/drawingml/2006/main">
              <a:ext uri="{FF2B5EF4-FFF2-40B4-BE49-F238E27FC236}">
                <a16:creationId xmlns:a16="http://schemas.microsoft.com/office/drawing/2014/main" id="{792920FA-189C-4DBD-A94A-85A0C2857CC2}"/>
              </a:ext>
            </a:extLst>
          </p:cNvPr>
          <p:cNvSpPr>
            <a:spLocks xmlns:a="http://schemas.openxmlformats.org/drawingml/2006/main" noGrp="1"/>
          </p:cNvSpPr>
          <p:nvPr/>
        </p:nvSpPr>
        <p:spPr>
          <a:xfrm xmlns:a="http://schemas.openxmlformats.org/drawingml/2006/main">
            <a:off x="3390900" y="2324100"/>
            <a:ext cx="2476500"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E8DDE0"/>
            </a:solidFill>
            <a:prstDash val="solid"/>
          </a:ln>
        </p:spPr>
      </p:sp>
      <p:sp>
        <p:nvSpPr>
          <p:cNvPr id="13" name="">
            <a:extLst xmlns:a="http://schemas.openxmlformats.org/drawingml/2006/main">
              <a:ext uri="{FF2B5EF4-FFF2-40B4-BE49-F238E27FC236}">
                <a16:creationId xmlns:a16="http://schemas.microsoft.com/office/drawing/2014/main" id="{C6314506-B3EC-4EA4-A22F-8A2888C7B820}"/>
              </a:ext>
            </a:extLst>
          </p:cNvPr>
          <p:cNvSpPr>
            <a:spLocks xmlns:a="http://schemas.openxmlformats.org/drawingml/2006/main" noGrp="1"/>
          </p:cNvSpPr>
          <p:nvPr/>
        </p:nvSpPr>
        <p:spPr>
          <a:xfrm xmlns:a="http://schemas.openxmlformats.org/drawingml/2006/main">
            <a:off x="3581400" y="2505075"/>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8E123B"/>
                </a:solidFill>
              </a:defRPr>
            </a:defPPr>
          </a:lstStyle>
          <a:p xmlns:a="http://schemas.openxmlformats.org/drawingml/2006/main">
            <a:pPr>
              <a:defRPr sz="1650" b="1">
                <a:solidFill>
                  <a:srgbClr val="8E123B"/>
                </a:solidFill>
              </a:defRPr>
            </a:pPr>
            <a:r>
              <a:rPr sz="1650" b="1">
                <a:solidFill>
                  <a:srgbClr val="8E123B"/>
                </a:solidFill>
              </a:rPr>
              <a:t>02</a:t>
            </a:r>
          </a:p>
        </p:txBody>
      </p:sp>
      <p:sp>
        <p:nvSpPr>
          <p:cNvPr id="14" name="">
            <a:extLst xmlns:a="http://schemas.openxmlformats.org/drawingml/2006/main">
              <a:ext uri="{FF2B5EF4-FFF2-40B4-BE49-F238E27FC236}">
                <a16:creationId xmlns:a16="http://schemas.microsoft.com/office/drawing/2014/main" id="{C4CC42E0-354C-40CD-AB3A-A5823FDB9E38}"/>
              </a:ext>
            </a:extLst>
          </p:cNvPr>
          <p:cNvSpPr>
            <a:spLocks xmlns:a="http://schemas.openxmlformats.org/drawingml/2006/main" noGrp="1"/>
          </p:cNvSpPr>
          <p:nvPr/>
        </p:nvSpPr>
        <p:spPr>
          <a:xfrm xmlns:a="http://schemas.openxmlformats.org/drawingml/2006/main">
            <a:off x="3581400" y="2924175"/>
            <a:ext cx="2047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71656A"/>
                </a:solidFill>
              </a:defRPr>
            </a:defPPr>
          </a:lstStyle>
          <a:p xmlns:a="http://schemas.openxmlformats.org/drawingml/2006/main">
            <a:pPr>
              <a:defRPr sz="1125" b="1">
                <a:solidFill>
                  <a:srgbClr val="71656A"/>
                </a:solidFill>
              </a:defRPr>
            </a:pPr>
            <a:r>
              <a:rPr sz="1125" b="1">
                <a:solidFill>
                  <a:srgbClr val="71656A"/>
                </a:solidFill>
              </a:rPr>
              <a:t>PAYMENT</a:t>
            </a:r>
          </a:p>
        </p:txBody>
      </p:sp>
      <p:sp>
        <p:nvSpPr>
          <p:cNvPr id="15" name="">
            <a:extLst xmlns:a="http://schemas.openxmlformats.org/drawingml/2006/main">
              <a:ext uri="{FF2B5EF4-FFF2-40B4-BE49-F238E27FC236}">
                <a16:creationId xmlns:a16="http://schemas.microsoft.com/office/drawing/2014/main" id="{E48174E4-7CD1-4B26-B0BA-FD764B4A837A}"/>
              </a:ext>
            </a:extLst>
          </p:cNvPr>
          <p:cNvSpPr>
            <a:spLocks xmlns:a="http://schemas.openxmlformats.org/drawingml/2006/main" noGrp="1"/>
          </p:cNvSpPr>
          <p:nvPr/>
        </p:nvSpPr>
        <p:spPr>
          <a:xfrm xmlns:a="http://schemas.openxmlformats.org/drawingml/2006/main">
            <a:off x="3581400" y="3352800"/>
            <a:ext cx="20478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261D21"/>
                </a:solidFill>
              </a:defRPr>
            </a:defPPr>
          </a:lstStyle>
          <a:p xmlns:a="http://schemas.openxmlformats.org/drawingml/2006/main">
            <a:pPr>
              <a:defRPr sz="1500" b="1">
                <a:solidFill>
                  <a:srgbClr val="261D21"/>
                </a:solidFill>
              </a:defRPr>
            </a:pPr>
            <a:r>
              <a:rPr sz="1500" b="1">
                <a:solidFill>
                  <a:srgbClr val="261D21"/>
                </a:solidFill>
              </a:rPr>
              <a:t>A provider callback can</a:t>
            </a:r>
          </a:p>
          <a:p xmlns:a="http://schemas.openxmlformats.org/drawingml/2006/main">
            <a:pPr>
              <a:defRPr sz="1500" b="1">
                <a:solidFill>
                  <a:srgbClr val="261D21"/>
                </a:solidFill>
              </a:defRPr>
            </a:pPr>
            <a:r>
              <a:rPr sz="1500" b="1">
                <a:solidFill>
                  <a:srgbClr val="261D21"/>
                </a:solidFill>
              </a:rPr>
              <a:t>arrive late or twice.</a:t>
            </a:r>
          </a:p>
        </p:txBody>
      </p:sp>
      <p:sp>
        <p:nvSpPr>
          <p:cNvPr id="16" name="">
            <a:extLst xmlns:a="http://schemas.openxmlformats.org/drawingml/2006/main">
              <a:ext uri="{FF2B5EF4-FFF2-40B4-BE49-F238E27FC236}">
                <a16:creationId xmlns:a16="http://schemas.microsoft.com/office/drawing/2014/main" id="{21B3A53B-724D-441E-8BA8-C86A5D0675B0}"/>
              </a:ext>
            </a:extLst>
          </p:cNvPr>
          <p:cNvSpPr>
            <a:spLocks xmlns:a="http://schemas.openxmlformats.org/drawingml/2006/main" noGrp="1"/>
          </p:cNvSpPr>
          <p:nvPr/>
        </p:nvSpPr>
        <p:spPr>
          <a:xfrm xmlns:a="http://schemas.openxmlformats.org/drawingml/2006/main">
            <a:off x="5886450" y="3371850"/>
            <a:ext cx="266700" cy="9525"/>
          </a:xfrm>
          <a:prstGeom xmlns:a="http://schemas.openxmlformats.org/drawingml/2006/main" prst="line">
            <a:avLst/>
          </a:prstGeom>
          <a:noFill xmlns:a="http://schemas.openxmlformats.org/drawingml/2006/main"/>
          <a:ln xmlns:a="http://schemas.openxmlformats.org/drawingml/2006/main" w="28575">
            <a:solidFill>
              <a:srgbClr val="D65C73"/>
            </a:solidFill>
            <a:prstDash val="solid"/>
          </a:ln>
        </p:spPr>
      </p:sp>
      <p:sp>
        <p:nvSpPr>
          <p:cNvPr id="17" name="">
            <a:extLst xmlns:a="http://schemas.openxmlformats.org/drawingml/2006/main">
              <a:ext uri="{FF2B5EF4-FFF2-40B4-BE49-F238E27FC236}">
                <a16:creationId xmlns:a16="http://schemas.microsoft.com/office/drawing/2014/main" id="{AC6C3903-44A9-4AD4-AF88-565B7134DF32}"/>
              </a:ext>
            </a:extLst>
          </p:cNvPr>
          <p:cNvSpPr>
            <a:spLocks xmlns:a="http://schemas.openxmlformats.org/drawingml/2006/main" noGrp="1"/>
          </p:cNvSpPr>
          <p:nvPr/>
        </p:nvSpPr>
        <p:spPr>
          <a:xfrm xmlns:a="http://schemas.openxmlformats.org/drawingml/2006/main">
            <a:off x="6172200" y="2324100"/>
            <a:ext cx="2476500"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E8DDE0"/>
            </a:solidFill>
            <a:prstDash val="solid"/>
          </a:ln>
        </p:spPr>
      </p:sp>
      <p:sp>
        <p:nvSpPr>
          <p:cNvPr id="18" name="">
            <a:extLst xmlns:a="http://schemas.openxmlformats.org/drawingml/2006/main">
              <a:ext uri="{FF2B5EF4-FFF2-40B4-BE49-F238E27FC236}">
                <a16:creationId xmlns:a16="http://schemas.microsoft.com/office/drawing/2014/main" id="{9B0F809C-401F-4C9C-B63E-CC2FE89CF595}"/>
              </a:ext>
            </a:extLst>
          </p:cNvPr>
          <p:cNvSpPr>
            <a:spLocks xmlns:a="http://schemas.openxmlformats.org/drawingml/2006/main" noGrp="1"/>
          </p:cNvSpPr>
          <p:nvPr/>
        </p:nvSpPr>
        <p:spPr>
          <a:xfrm xmlns:a="http://schemas.openxmlformats.org/drawingml/2006/main">
            <a:off x="6362700" y="2505075"/>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8E123B"/>
                </a:solidFill>
              </a:defRPr>
            </a:defPPr>
          </a:lstStyle>
          <a:p xmlns:a="http://schemas.openxmlformats.org/drawingml/2006/main">
            <a:pPr>
              <a:defRPr sz="1650" b="1">
                <a:solidFill>
                  <a:srgbClr val="8E123B"/>
                </a:solidFill>
              </a:defRPr>
            </a:pPr>
            <a:r>
              <a:rPr sz="1650" b="1">
                <a:solidFill>
                  <a:srgbClr val="8E123B"/>
                </a:solidFill>
              </a:rPr>
              <a:t>03</a:t>
            </a:r>
          </a:p>
        </p:txBody>
      </p:sp>
      <p:sp>
        <p:nvSpPr>
          <p:cNvPr id="19" name="">
            <a:extLst xmlns:a="http://schemas.openxmlformats.org/drawingml/2006/main">
              <a:ext uri="{FF2B5EF4-FFF2-40B4-BE49-F238E27FC236}">
                <a16:creationId xmlns:a16="http://schemas.microsoft.com/office/drawing/2014/main" id="{95BF78DD-FDF9-4B09-9DE0-3AC70984B223}"/>
              </a:ext>
            </a:extLst>
          </p:cNvPr>
          <p:cNvSpPr>
            <a:spLocks xmlns:a="http://schemas.openxmlformats.org/drawingml/2006/main" noGrp="1"/>
          </p:cNvSpPr>
          <p:nvPr/>
        </p:nvSpPr>
        <p:spPr>
          <a:xfrm xmlns:a="http://schemas.openxmlformats.org/drawingml/2006/main">
            <a:off x="6362700" y="2924175"/>
            <a:ext cx="2047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71656A"/>
                </a:solidFill>
              </a:defRPr>
            </a:defPPr>
          </a:lstStyle>
          <a:p xmlns:a="http://schemas.openxmlformats.org/drawingml/2006/main">
            <a:pPr>
              <a:defRPr sz="1125" b="1">
                <a:solidFill>
                  <a:srgbClr val="71656A"/>
                </a:solidFill>
              </a:defRPr>
            </a:pPr>
            <a:r>
              <a:rPr sz="1125" b="1">
                <a:solidFill>
                  <a:srgbClr val="71656A"/>
                </a:solidFill>
              </a:rPr>
              <a:t>PICKUP</a:t>
            </a:r>
          </a:p>
        </p:txBody>
      </p:sp>
      <p:sp>
        <p:nvSpPr>
          <p:cNvPr id="20" name="">
            <a:extLst xmlns:a="http://schemas.openxmlformats.org/drawingml/2006/main">
              <a:ext uri="{FF2B5EF4-FFF2-40B4-BE49-F238E27FC236}">
                <a16:creationId xmlns:a16="http://schemas.microsoft.com/office/drawing/2014/main" id="{3FDE89DD-0809-4C4E-8C41-CE1717D37894}"/>
              </a:ext>
            </a:extLst>
          </p:cNvPr>
          <p:cNvSpPr>
            <a:spLocks xmlns:a="http://schemas.openxmlformats.org/drawingml/2006/main" noGrp="1"/>
          </p:cNvSpPr>
          <p:nvPr/>
        </p:nvSpPr>
        <p:spPr>
          <a:xfrm xmlns:a="http://schemas.openxmlformats.org/drawingml/2006/main">
            <a:off x="6362700" y="3352800"/>
            <a:ext cx="20478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261D21"/>
                </a:solidFill>
              </a:defRPr>
            </a:defPPr>
          </a:lstStyle>
          <a:p xmlns:a="http://schemas.openxmlformats.org/drawingml/2006/main">
            <a:pPr>
              <a:defRPr sz="1500" b="1">
                <a:solidFill>
                  <a:srgbClr val="261D21"/>
                </a:solidFill>
              </a:defRPr>
            </a:pPr>
            <a:r>
              <a:rPr sz="1500" b="1">
                <a:solidFill>
                  <a:srgbClr val="261D21"/>
                </a:solidFill>
              </a:rPr>
              <a:t>A paid meal can remain</a:t>
            </a:r>
          </a:p>
          <a:p xmlns:a="http://schemas.openxmlformats.org/drawingml/2006/main">
            <a:pPr>
              <a:defRPr sz="1500" b="1">
                <a:solidFill>
                  <a:srgbClr val="261D21"/>
                </a:solidFill>
              </a:defRPr>
            </a:pPr>
            <a:r>
              <a:rPr sz="1500" b="1">
                <a:solidFill>
                  <a:srgbClr val="261D21"/>
                </a:solidFill>
              </a:rPr>
              <a:t>uncollected.</a:t>
            </a:r>
          </a:p>
        </p:txBody>
      </p:sp>
      <p:sp>
        <p:nvSpPr>
          <p:cNvPr id="21" name="">
            <a:extLst xmlns:a="http://schemas.openxmlformats.org/drawingml/2006/main">
              <a:ext uri="{FF2B5EF4-FFF2-40B4-BE49-F238E27FC236}">
                <a16:creationId xmlns:a16="http://schemas.microsoft.com/office/drawing/2014/main" id="{1EBC88CD-8D31-4492-9CC3-5D3C5ABCCCC4}"/>
              </a:ext>
            </a:extLst>
          </p:cNvPr>
          <p:cNvSpPr>
            <a:spLocks xmlns:a="http://schemas.openxmlformats.org/drawingml/2006/main" noGrp="1"/>
          </p:cNvSpPr>
          <p:nvPr/>
        </p:nvSpPr>
        <p:spPr>
          <a:xfrm xmlns:a="http://schemas.openxmlformats.org/drawingml/2006/main">
            <a:off x="8667750" y="3371850"/>
            <a:ext cx="266700" cy="9525"/>
          </a:xfrm>
          <a:prstGeom xmlns:a="http://schemas.openxmlformats.org/drawingml/2006/main" prst="line">
            <a:avLst/>
          </a:prstGeom>
          <a:noFill xmlns:a="http://schemas.openxmlformats.org/drawingml/2006/main"/>
          <a:ln xmlns:a="http://schemas.openxmlformats.org/drawingml/2006/main" w="28575">
            <a:solidFill>
              <a:srgbClr val="D65C73"/>
            </a:solidFill>
            <a:prstDash val="solid"/>
          </a:ln>
        </p:spPr>
      </p:sp>
      <p:sp>
        <p:nvSpPr>
          <p:cNvPr id="22" name="">
            <a:extLst xmlns:a="http://schemas.openxmlformats.org/drawingml/2006/main">
              <a:ext uri="{FF2B5EF4-FFF2-40B4-BE49-F238E27FC236}">
                <a16:creationId xmlns:a16="http://schemas.microsoft.com/office/drawing/2014/main" id="{D5EF81EC-6451-4E5A-8FB0-4C99DE3C8271}"/>
              </a:ext>
            </a:extLst>
          </p:cNvPr>
          <p:cNvSpPr>
            <a:spLocks xmlns:a="http://schemas.openxmlformats.org/drawingml/2006/main" noGrp="1"/>
          </p:cNvSpPr>
          <p:nvPr/>
        </p:nvSpPr>
        <p:spPr>
          <a:xfrm xmlns:a="http://schemas.openxmlformats.org/drawingml/2006/main">
            <a:off x="8953500" y="2324100"/>
            <a:ext cx="2476500"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E8DDE0"/>
            </a:solidFill>
            <a:prstDash val="solid"/>
          </a:ln>
        </p:spPr>
      </p:sp>
      <p:sp>
        <p:nvSpPr>
          <p:cNvPr id="23" name="">
            <a:extLst xmlns:a="http://schemas.openxmlformats.org/drawingml/2006/main">
              <a:ext uri="{FF2B5EF4-FFF2-40B4-BE49-F238E27FC236}">
                <a16:creationId xmlns:a16="http://schemas.microsoft.com/office/drawing/2014/main" id="{BA5519BF-92AF-4763-8CEC-AADF43A53F32}"/>
              </a:ext>
            </a:extLst>
          </p:cNvPr>
          <p:cNvSpPr>
            <a:spLocks xmlns:a="http://schemas.openxmlformats.org/drawingml/2006/main" noGrp="1"/>
          </p:cNvSpPr>
          <p:nvPr/>
        </p:nvSpPr>
        <p:spPr>
          <a:xfrm xmlns:a="http://schemas.openxmlformats.org/drawingml/2006/main">
            <a:off x="9144000" y="2505075"/>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8E123B"/>
                </a:solidFill>
              </a:defRPr>
            </a:defPPr>
          </a:lstStyle>
          <a:p xmlns:a="http://schemas.openxmlformats.org/drawingml/2006/main">
            <a:pPr>
              <a:defRPr sz="1650" b="1">
                <a:solidFill>
                  <a:srgbClr val="8E123B"/>
                </a:solidFill>
              </a:defRPr>
            </a:pPr>
            <a:r>
              <a:rPr sz="1650" b="1">
                <a:solidFill>
                  <a:srgbClr val="8E123B"/>
                </a:solidFill>
              </a:rPr>
              <a:t>04</a:t>
            </a:r>
          </a:p>
        </p:txBody>
      </p:sp>
      <p:sp>
        <p:nvSpPr>
          <p:cNvPr id="24" name="">
            <a:extLst xmlns:a="http://schemas.openxmlformats.org/drawingml/2006/main">
              <a:ext uri="{FF2B5EF4-FFF2-40B4-BE49-F238E27FC236}">
                <a16:creationId xmlns:a16="http://schemas.microsoft.com/office/drawing/2014/main" id="{3E9DBB41-3A87-456B-9930-819A13467AE0}"/>
              </a:ext>
            </a:extLst>
          </p:cNvPr>
          <p:cNvSpPr>
            <a:spLocks xmlns:a="http://schemas.openxmlformats.org/drawingml/2006/main" noGrp="1"/>
          </p:cNvSpPr>
          <p:nvPr/>
        </p:nvSpPr>
        <p:spPr>
          <a:xfrm xmlns:a="http://schemas.openxmlformats.org/drawingml/2006/main">
            <a:off x="9144000" y="2924175"/>
            <a:ext cx="2047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71656A"/>
                </a:solidFill>
              </a:defRPr>
            </a:defPPr>
          </a:lstStyle>
          <a:p xmlns:a="http://schemas.openxmlformats.org/drawingml/2006/main">
            <a:pPr>
              <a:defRPr sz="1125" b="1">
                <a:solidFill>
                  <a:srgbClr val="71656A"/>
                </a:solidFill>
              </a:defRPr>
            </a:pPr>
            <a:r>
              <a:rPr sz="1125" b="1">
                <a:solidFill>
                  <a:srgbClr val="71656A"/>
                </a:solidFill>
              </a:rPr>
              <a:t>ACCESS</a:t>
            </a:r>
          </a:p>
        </p:txBody>
      </p:sp>
      <p:sp>
        <p:nvSpPr>
          <p:cNvPr id="25" name="">
            <a:extLst xmlns:a="http://schemas.openxmlformats.org/drawingml/2006/main">
              <a:ext uri="{FF2B5EF4-FFF2-40B4-BE49-F238E27FC236}">
                <a16:creationId xmlns:a16="http://schemas.microsoft.com/office/drawing/2014/main" id="{07D3E6D3-5E49-47E3-8FC3-BF6DD222A974}"/>
              </a:ext>
            </a:extLst>
          </p:cNvPr>
          <p:cNvSpPr>
            <a:spLocks xmlns:a="http://schemas.openxmlformats.org/drawingml/2006/main" noGrp="1"/>
          </p:cNvSpPr>
          <p:nvPr/>
        </p:nvSpPr>
        <p:spPr>
          <a:xfrm xmlns:a="http://schemas.openxmlformats.org/drawingml/2006/main">
            <a:off x="9144000" y="3352800"/>
            <a:ext cx="20478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261D21"/>
                </a:solidFill>
              </a:defRPr>
            </a:defPPr>
          </a:lstStyle>
          <a:p xmlns:a="http://schemas.openxmlformats.org/drawingml/2006/main">
            <a:pPr>
              <a:defRPr sz="1500" b="1">
                <a:solidFill>
                  <a:srgbClr val="261D21"/>
                </a:solidFill>
              </a:defRPr>
            </a:pPr>
            <a:r>
              <a:rPr sz="1500" b="1">
                <a:solidFill>
                  <a:srgbClr val="261D21"/>
                </a:solidFill>
              </a:rPr>
              <a:t>A shared order needs a</a:t>
            </a:r>
          </a:p>
          <a:p xmlns:a="http://schemas.openxmlformats.org/drawingml/2006/main">
            <a:pPr>
              <a:defRPr sz="1500" b="1">
                <a:solidFill>
                  <a:srgbClr val="261D21"/>
                </a:solidFill>
              </a:defRPr>
            </a:pPr>
            <a:r>
              <a:rPr sz="1500" b="1">
                <a:solidFill>
                  <a:srgbClr val="261D21"/>
                </a:solidFill>
              </a:rPr>
              <a:t>controlled handoff.</a:t>
            </a:r>
          </a:p>
        </p:txBody>
      </p:sp>
      <p:sp>
        <p:nvSpPr>
          <p:cNvPr id="26" name="">
            <a:extLst xmlns:a="http://schemas.openxmlformats.org/drawingml/2006/main">
              <a:ext uri="{FF2B5EF4-FFF2-40B4-BE49-F238E27FC236}">
                <a16:creationId xmlns:a16="http://schemas.microsoft.com/office/drawing/2014/main" id="{F0FF84CD-DF01-4397-AAF1-55AA17C043F5}"/>
              </a:ext>
            </a:extLst>
          </p:cNvPr>
          <p:cNvSpPr>
            <a:spLocks xmlns:a="http://schemas.openxmlformats.org/drawingml/2006/main" noGrp="1"/>
          </p:cNvSpPr>
          <p:nvPr/>
        </p:nvSpPr>
        <p:spPr>
          <a:xfrm xmlns:a="http://schemas.openxmlformats.org/drawingml/2006/main">
            <a:off x="609600" y="4857750"/>
            <a:ext cx="10972800" cy="895350"/>
          </a:xfrm>
          <a:prstGeom xmlns:a="http://schemas.openxmlformats.org/drawingml/2006/main" prst="roundRect">
            <a:avLst>
              <a:gd name="adj" fmla="val 8511"/>
            </a:avLst>
          </a:prstGeom>
          <a:solidFill xmlns:a="http://schemas.openxmlformats.org/drawingml/2006/main">
            <a:srgbClr val="32101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73F8378-F370-44D3-94F5-801B69239BAC}"/>
              </a:ext>
            </a:extLst>
          </p:cNvPr>
          <p:cNvSpPr>
            <a:spLocks xmlns:a="http://schemas.openxmlformats.org/drawingml/2006/main" noGrp="1"/>
          </p:cNvSpPr>
          <p:nvPr/>
        </p:nvSpPr>
        <p:spPr>
          <a:xfrm xmlns:a="http://schemas.openxmlformats.org/drawingml/2006/main">
            <a:off x="838200" y="501967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F7DDE5"/>
                </a:solidFill>
              </a:defRPr>
            </a:defPPr>
          </a:lstStyle>
          <a:p xmlns:a="http://schemas.openxmlformats.org/drawingml/2006/main">
            <a:pPr>
              <a:defRPr sz="1125" b="1">
                <a:solidFill>
                  <a:srgbClr val="F7DDE5"/>
                </a:solidFill>
              </a:defRPr>
            </a:pPr>
            <a:r>
              <a:rPr sz="1125" b="1">
                <a:solidFill>
                  <a:srgbClr val="F7DDE5"/>
                </a:solidFill>
              </a:rPr>
              <a:t>Engineering objective</a:t>
            </a:r>
          </a:p>
        </p:txBody>
      </p:sp>
      <p:sp>
        <p:nvSpPr>
          <p:cNvPr id="28" name="">
            <a:extLst xmlns:a="http://schemas.openxmlformats.org/drawingml/2006/main">
              <a:ext uri="{FF2B5EF4-FFF2-40B4-BE49-F238E27FC236}">
                <a16:creationId xmlns:a16="http://schemas.microsoft.com/office/drawing/2014/main" id="{3ECC30BA-FCFE-47DB-92A9-BE55B1C0D9E8}"/>
              </a:ext>
            </a:extLst>
          </p:cNvPr>
          <p:cNvSpPr>
            <a:spLocks xmlns:a="http://schemas.openxmlformats.org/drawingml/2006/main" noGrp="1"/>
          </p:cNvSpPr>
          <p:nvPr/>
        </p:nvSpPr>
        <p:spPr>
          <a:xfrm xmlns:a="http://schemas.openxmlformats.org/drawingml/2006/main">
            <a:off x="838200" y="532447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FFFFFF"/>
                </a:solidFill>
              </a:defRPr>
            </a:defPPr>
          </a:lstStyle>
          <a:p xmlns:a="http://schemas.openxmlformats.org/drawingml/2006/main">
            <a:pPr>
              <a:defRPr sz="1425" b="1">
                <a:solidFill>
                  <a:srgbClr val="FFFFFF"/>
                </a:solidFill>
              </a:defRPr>
            </a:pPr>
            <a:r>
              <a:rPr sz="1425" b="1">
                <a:solidFill>
                  <a:srgbClr val="FFFFFF"/>
                </a:solidFill>
              </a:rPr>
              <a:t>Keep inventory, money, and each portion’s pickup right consistent—even when requests race or services fail.</a:t>
            </a:r>
          </a:p>
        </p:txBody>
      </p:sp>
    </p:spTree>
    <p:extLst>
      <p:ext uri="{BB962C8B-B14F-4D97-AF65-F5344CB8AC3E}">
        <p14:creationId xmlns:p14="http://schemas.microsoft.com/office/powerpoint/2010/main" val="557681989"/>
      </p:ext>
    </p:extLst>
  </p:cSld>
</p:sld>
</file>

<file path=ppt/slides/slide3.xml><?xml version="1.0" encoding="utf-8"?>
<p:sld xmlns:p="http://schemas.openxmlformats.org/presentationml/2006/main">
  <p:cSld>
    <p:bg>
      <p:bgPr>
        <a:solidFill xmlns:a="http://schemas.openxmlformats.org/drawingml/2006/main">
          <a:srgbClr val="FBF7F4"/>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C0DFD06-65DD-4764-8C2A-DB38CB46C6C9}"/>
              </a:ext>
            </a:extLst>
          </p:cNvPr>
          <p:cNvSpPr>
            <a:spLocks xmlns:a="http://schemas.openxmlformats.org/drawingml/2006/main" noGrp="1"/>
          </p:cNvSpPr>
          <p:nvPr/>
        </p:nvSpPr>
        <p:spPr>
          <a:xfrm xmlns:a="http://schemas.openxmlformats.org/drawingml/2006/main">
            <a:off x="6096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8E123B"/>
                </a:solidFill>
              </a:defRPr>
            </a:defPPr>
          </a:lstStyle>
          <a:p xmlns:a="http://schemas.openxmlformats.org/drawingml/2006/main">
            <a:pPr>
              <a:defRPr sz="900" b="1">
                <a:solidFill>
                  <a:srgbClr val="8E123B"/>
                </a:solidFill>
              </a:defRPr>
            </a:pPr>
            <a:r>
              <a:rPr sz="900" b="1">
                <a:solidFill>
                  <a:srgbClr val="8E123B"/>
                </a:solidFill>
              </a:rPr>
              <a:t>02 • PRODUCT REQUIREMENTS</a:t>
            </a:r>
          </a:p>
        </p:txBody>
      </p:sp>
      <p:sp>
        <p:nvSpPr>
          <p:cNvPr id="2" name="">
            <a:extLst xmlns:a="http://schemas.openxmlformats.org/drawingml/2006/main">
              <a:ext uri="{FF2B5EF4-FFF2-40B4-BE49-F238E27FC236}">
                <a16:creationId xmlns:a16="http://schemas.microsoft.com/office/drawing/2014/main" id="{A4A8CA6A-CACE-4815-86CB-475BBDBCA03C}"/>
              </a:ext>
            </a:extLst>
          </p:cNvPr>
          <p:cNvSpPr>
            <a:spLocks xmlns:a="http://schemas.openxmlformats.org/drawingml/2006/main" noGrp="1"/>
          </p:cNvSpPr>
          <p:nvPr/>
        </p:nvSpPr>
        <p:spPr>
          <a:xfrm xmlns:a="http://schemas.openxmlformats.org/drawingml/2006/main">
            <a:off x="609600" y="657225"/>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261D21"/>
                </a:solidFill>
              </a:defRPr>
            </a:defPPr>
          </a:lstStyle>
          <a:p xmlns:a="http://schemas.openxmlformats.org/drawingml/2006/main">
            <a:pPr>
              <a:defRPr sz="2550" b="1">
                <a:solidFill>
                  <a:srgbClr val="261D21"/>
                </a:solidFill>
              </a:defRPr>
            </a:pPr>
            <a:r>
              <a:rPr sz="2550" b="1">
                <a:solidFill>
                  <a:srgbClr val="261D21"/>
                </a:solidFill>
              </a:rPr>
              <a:t>Requirements drove the technical choices</a:t>
            </a:r>
          </a:p>
        </p:txBody>
      </p:sp>
      <p:sp>
        <p:nvSpPr>
          <p:cNvPr id="3" name="">
            <a:extLst xmlns:a="http://schemas.openxmlformats.org/drawingml/2006/main">
              <a:ext uri="{FF2B5EF4-FFF2-40B4-BE49-F238E27FC236}">
                <a16:creationId xmlns:a16="http://schemas.microsoft.com/office/drawing/2014/main" id="{5A2C3AF1-1A82-4026-BECF-DDCBA4239C5C}"/>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line">
            <a:avLst/>
          </a:prstGeom>
          <a:noFill xmlns:a="http://schemas.openxmlformats.org/drawingml/2006/main"/>
          <a:ln xmlns:a="http://schemas.openxmlformats.org/drawingml/2006/main" w="9525">
            <a:solidFill>
              <a:srgbClr val="E8DDE0"/>
            </a:solidFill>
            <a:prstDash val="solid"/>
          </a:ln>
        </p:spPr>
      </p:sp>
      <p:sp>
        <p:nvSpPr>
          <p:cNvPr id="4" name="">
            <a:extLst xmlns:a="http://schemas.openxmlformats.org/drawingml/2006/main">
              <a:ext uri="{FF2B5EF4-FFF2-40B4-BE49-F238E27FC236}">
                <a16:creationId xmlns:a16="http://schemas.microsoft.com/office/drawing/2014/main" id="{29BC9BD3-D4CC-4A0E-B392-8F5BF793348E}"/>
              </a:ext>
            </a:extLst>
          </p:cNvPr>
          <p:cNvSpPr>
            <a:spLocks xmlns:a="http://schemas.openxmlformats.org/drawingml/2006/main" noGrp="1"/>
          </p:cNvSpPr>
          <p:nvPr/>
        </p:nvSpPr>
        <p:spPr>
          <a:xfrm xmlns:a="http://schemas.openxmlformats.org/drawingml/2006/main">
            <a:off x="609600" y="64579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71656A"/>
                </a:solidFill>
              </a:defRPr>
            </a:defPPr>
          </a:lstStyle>
          <a:p xmlns:a="http://schemas.openxmlformats.org/drawingml/2006/main">
            <a:pPr>
              <a:defRPr sz="825" b="1">
                <a:solidFill>
                  <a:srgbClr val="71656A"/>
                </a:solidFill>
              </a:defRPr>
            </a:pPr>
            <a:r>
              <a:rPr sz="825" b="1">
                <a:solidFill>
                  <a:srgbClr val="71656A"/>
                </a:solidFill>
              </a:rPr>
              <a:t>MINT  /  CAMPUS CANTEEN PICKUP</a:t>
            </a:r>
          </a:p>
        </p:txBody>
      </p:sp>
      <p:sp>
        <p:nvSpPr>
          <p:cNvPr id="5" name="">
            <a:extLst xmlns:a="http://schemas.openxmlformats.org/drawingml/2006/main">
              <a:ext uri="{FF2B5EF4-FFF2-40B4-BE49-F238E27FC236}">
                <a16:creationId xmlns:a16="http://schemas.microsoft.com/office/drawing/2014/main" id="{B9CA1AA3-2D74-457B-A429-426FBF2949E6}"/>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71656A"/>
                </a:solidFill>
              </a:defRPr>
            </a:defPPr>
          </a:lstStyle>
          <a:p xmlns:a="http://schemas.openxmlformats.org/drawingml/2006/main">
            <a:pPr algn="r">
              <a:defRPr sz="900" b="1">
                <a:solidFill>
                  <a:srgbClr val="71656A"/>
                </a:solidFill>
              </a:defRPr>
            </a:pPr>
            <a:r>
              <a:rPr sz="900" b="1">
                <a:solidFill>
                  <a:srgbClr val="71656A"/>
                </a:solidFill>
              </a:rPr>
              <a:t>03</a:t>
            </a:r>
          </a:p>
        </p:txBody>
      </p:sp>
      <p:sp>
        <p:nvSpPr>
          <p:cNvPr id="6" name="">
            <a:extLst xmlns:a="http://schemas.openxmlformats.org/drawingml/2006/main">
              <a:ext uri="{FF2B5EF4-FFF2-40B4-BE49-F238E27FC236}">
                <a16:creationId xmlns:a16="http://schemas.microsoft.com/office/drawing/2014/main" id="{AA5F8956-781F-4038-8AE4-19DABFCB94B2}"/>
              </a:ext>
            </a:extLst>
          </p:cNvPr>
          <p:cNvSpPr>
            <a:spLocks xmlns:a="http://schemas.openxmlformats.org/drawingml/2006/main" noGrp="1"/>
          </p:cNvSpPr>
          <p:nvPr/>
        </p:nvSpPr>
        <p:spPr>
          <a:xfrm xmlns:a="http://schemas.openxmlformats.org/drawingml/2006/main">
            <a:off x="609600" y="1533525"/>
            <a:ext cx="10972800" cy="609600"/>
          </a:xfrm>
          <a:prstGeom xmlns:a="http://schemas.openxmlformats.org/drawingml/2006/main" prst="roundRect">
            <a:avLst>
              <a:gd name="adj" fmla="val 12500"/>
            </a:avLst>
          </a:prstGeom>
          <a:solidFill xmlns:a="http://schemas.openxmlformats.org/drawingml/2006/main">
            <a:srgbClr val="F5EEE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2E42EEC-0232-40CD-B095-15AC5886CAC8}"/>
              </a:ext>
            </a:extLst>
          </p:cNvPr>
          <p:cNvSpPr>
            <a:spLocks xmlns:a="http://schemas.openxmlformats.org/drawingml/2006/main" noGrp="1"/>
          </p:cNvSpPr>
          <p:nvPr/>
        </p:nvSpPr>
        <p:spPr>
          <a:xfrm xmlns:a="http://schemas.openxmlformats.org/drawingml/2006/main">
            <a:off x="781050" y="1571625"/>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8E123B"/>
                </a:solidFill>
              </a:defRPr>
            </a:defPPr>
          </a:lstStyle>
          <a:p xmlns:a="http://schemas.openxmlformats.org/drawingml/2006/main">
            <a:pPr>
              <a:defRPr sz="1275" b="1">
                <a:solidFill>
                  <a:srgbClr val="8E123B"/>
                </a:solidFill>
              </a:defRPr>
            </a:pPr>
            <a:r>
              <a:rPr sz="1275" b="1">
                <a:solidFill>
                  <a:srgbClr val="8E123B"/>
                </a:solidFill>
              </a:rPr>
              <a:t>Never oversell</a:t>
            </a:r>
          </a:p>
        </p:txBody>
      </p:sp>
      <p:sp>
        <p:nvSpPr>
          <p:cNvPr id="8" name="">
            <a:extLst xmlns:a="http://schemas.openxmlformats.org/drawingml/2006/main">
              <a:ext uri="{FF2B5EF4-FFF2-40B4-BE49-F238E27FC236}">
                <a16:creationId xmlns:a16="http://schemas.microsoft.com/office/drawing/2014/main" id="{2282D0A3-4765-4EBE-A0F0-04DA7C9DF378}"/>
              </a:ext>
            </a:extLst>
          </p:cNvPr>
          <p:cNvSpPr>
            <a:spLocks xmlns:a="http://schemas.openxmlformats.org/drawingml/2006/main" noGrp="1"/>
          </p:cNvSpPr>
          <p:nvPr/>
        </p:nvSpPr>
        <p:spPr>
          <a:xfrm xmlns:a="http://schemas.openxmlformats.org/drawingml/2006/main">
            <a:off x="3562350" y="1571625"/>
            <a:ext cx="7715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Reserve stock in a database transaction before payment.</a:t>
            </a:r>
          </a:p>
        </p:txBody>
      </p:sp>
      <p:sp>
        <p:nvSpPr>
          <p:cNvPr id="9" name="">
            <a:extLst xmlns:a="http://schemas.openxmlformats.org/drawingml/2006/main">
              <a:ext uri="{FF2B5EF4-FFF2-40B4-BE49-F238E27FC236}">
                <a16:creationId xmlns:a16="http://schemas.microsoft.com/office/drawing/2014/main" id="{4012B5EA-80B5-44DE-B5B6-F0B8C524FCDF}"/>
              </a:ext>
            </a:extLst>
          </p:cNvPr>
          <p:cNvSpPr>
            <a:spLocks xmlns:a="http://schemas.openxmlformats.org/drawingml/2006/main" noGrp="1"/>
          </p:cNvSpPr>
          <p:nvPr/>
        </p:nvSpPr>
        <p:spPr>
          <a:xfrm xmlns:a="http://schemas.openxmlformats.org/drawingml/2006/main">
            <a:off x="609600" y="2276475"/>
            <a:ext cx="1097280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93104EF-FC65-4596-8289-9E36C09CEC7B}"/>
              </a:ext>
            </a:extLst>
          </p:cNvPr>
          <p:cNvSpPr>
            <a:spLocks xmlns:a="http://schemas.openxmlformats.org/drawingml/2006/main" noGrp="1"/>
          </p:cNvSpPr>
          <p:nvPr/>
        </p:nvSpPr>
        <p:spPr>
          <a:xfrm xmlns:a="http://schemas.openxmlformats.org/drawingml/2006/main">
            <a:off x="781050" y="2314575"/>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8E123B"/>
                </a:solidFill>
              </a:defRPr>
            </a:defPPr>
          </a:lstStyle>
          <a:p xmlns:a="http://schemas.openxmlformats.org/drawingml/2006/main">
            <a:pPr>
              <a:defRPr sz="1275" b="1">
                <a:solidFill>
                  <a:srgbClr val="8E123B"/>
                </a:solidFill>
              </a:defRPr>
            </a:pPr>
            <a:r>
              <a:rPr sz="1275" b="1">
                <a:solidFill>
                  <a:srgbClr val="8E123B"/>
                </a:solidFill>
              </a:rPr>
              <a:t>Never trust browser prices</a:t>
            </a:r>
          </a:p>
        </p:txBody>
      </p:sp>
      <p:sp>
        <p:nvSpPr>
          <p:cNvPr id="11" name="">
            <a:extLst xmlns:a="http://schemas.openxmlformats.org/drawingml/2006/main">
              <a:ext uri="{FF2B5EF4-FFF2-40B4-BE49-F238E27FC236}">
                <a16:creationId xmlns:a16="http://schemas.microsoft.com/office/drawing/2014/main" id="{F34703EF-8846-4223-BA55-7DE67F8C5E20}"/>
              </a:ext>
            </a:extLst>
          </p:cNvPr>
          <p:cNvSpPr>
            <a:spLocks xmlns:a="http://schemas.openxmlformats.org/drawingml/2006/main" noGrp="1"/>
          </p:cNvSpPr>
          <p:nvPr/>
        </p:nvSpPr>
        <p:spPr>
          <a:xfrm xmlns:a="http://schemas.openxmlformats.org/drawingml/2006/main">
            <a:off x="3562350" y="2314575"/>
            <a:ext cx="7715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Reprice against server catalogue data; validate request shape at the API.</a:t>
            </a:r>
          </a:p>
        </p:txBody>
      </p:sp>
      <p:sp>
        <p:nvSpPr>
          <p:cNvPr id="12" name="">
            <a:extLst xmlns:a="http://schemas.openxmlformats.org/drawingml/2006/main">
              <a:ext uri="{FF2B5EF4-FFF2-40B4-BE49-F238E27FC236}">
                <a16:creationId xmlns:a16="http://schemas.microsoft.com/office/drawing/2014/main" id="{FA353ED7-DFCE-41C5-8152-52EB300F8CCE}"/>
              </a:ext>
            </a:extLst>
          </p:cNvPr>
          <p:cNvSpPr>
            <a:spLocks xmlns:a="http://schemas.openxmlformats.org/drawingml/2006/main" noGrp="1"/>
          </p:cNvSpPr>
          <p:nvPr/>
        </p:nvSpPr>
        <p:spPr>
          <a:xfrm xmlns:a="http://schemas.openxmlformats.org/drawingml/2006/main">
            <a:off x="609600" y="3019425"/>
            <a:ext cx="10972800" cy="609600"/>
          </a:xfrm>
          <a:prstGeom xmlns:a="http://schemas.openxmlformats.org/drawingml/2006/main" prst="roundRect">
            <a:avLst>
              <a:gd name="adj" fmla="val 12500"/>
            </a:avLst>
          </a:prstGeom>
          <a:solidFill xmlns:a="http://schemas.openxmlformats.org/drawingml/2006/main">
            <a:srgbClr val="F5EEE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70A0671-8AA6-40BA-8032-7242587677F0}"/>
              </a:ext>
            </a:extLst>
          </p:cNvPr>
          <p:cNvSpPr>
            <a:spLocks xmlns:a="http://schemas.openxmlformats.org/drawingml/2006/main" noGrp="1"/>
          </p:cNvSpPr>
          <p:nvPr/>
        </p:nvSpPr>
        <p:spPr>
          <a:xfrm xmlns:a="http://schemas.openxmlformats.org/drawingml/2006/main">
            <a:off x="781050" y="3057525"/>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8E123B"/>
                </a:solidFill>
              </a:defRPr>
            </a:defPPr>
          </a:lstStyle>
          <a:p xmlns:a="http://schemas.openxmlformats.org/drawingml/2006/main">
            <a:pPr>
              <a:defRPr sz="1275" b="1">
                <a:solidFill>
                  <a:srgbClr val="8E123B"/>
                </a:solidFill>
              </a:defRPr>
            </a:pPr>
            <a:r>
              <a:rPr sz="1275" b="1">
                <a:solidFill>
                  <a:srgbClr val="8E123B"/>
                </a:solidFill>
              </a:rPr>
              <a:t>Recover from payment uncertainty</a:t>
            </a:r>
          </a:p>
        </p:txBody>
      </p:sp>
      <p:sp>
        <p:nvSpPr>
          <p:cNvPr id="14" name="">
            <a:extLst xmlns:a="http://schemas.openxmlformats.org/drawingml/2006/main">
              <a:ext uri="{FF2B5EF4-FFF2-40B4-BE49-F238E27FC236}">
                <a16:creationId xmlns:a16="http://schemas.microsoft.com/office/drawing/2014/main" id="{5BC45342-FD2E-487D-9CA4-351113239E2D}"/>
              </a:ext>
            </a:extLst>
          </p:cNvPr>
          <p:cNvSpPr>
            <a:spLocks xmlns:a="http://schemas.openxmlformats.org/drawingml/2006/main" noGrp="1"/>
          </p:cNvSpPr>
          <p:nvPr/>
        </p:nvSpPr>
        <p:spPr>
          <a:xfrm xmlns:a="http://schemas.openxmlformats.org/drawingml/2006/main">
            <a:off x="3562350" y="3057525"/>
            <a:ext cx="7715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Persist intermediate states; verify callbacks and reconcile provider state.</a:t>
            </a:r>
          </a:p>
        </p:txBody>
      </p:sp>
      <p:sp>
        <p:nvSpPr>
          <p:cNvPr id="15" name="">
            <a:extLst xmlns:a="http://schemas.openxmlformats.org/drawingml/2006/main">
              <a:ext uri="{FF2B5EF4-FFF2-40B4-BE49-F238E27FC236}">
                <a16:creationId xmlns:a16="http://schemas.microsoft.com/office/drawing/2014/main" id="{67312AAA-C9D2-47F9-9272-3951FA03DDB2}"/>
              </a:ext>
            </a:extLst>
          </p:cNvPr>
          <p:cNvSpPr>
            <a:spLocks xmlns:a="http://schemas.openxmlformats.org/drawingml/2006/main" noGrp="1"/>
          </p:cNvSpPr>
          <p:nvPr/>
        </p:nvSpPr>
        <p:spPr>
          <a:xfrm xmlns:a="http://schemas.openxmlformats.org/drawingml/2006/main">
            <a:off x="609600" y="3762375"/>
            <a:ext cx="1097280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0FB5FA0-78D3-4D6A-95BF-32E9CAF4DE1C}"/>
              </a:ext>
            </a:extLst>
          </p:cNvPr>
          <p:cNvSpPr>
            <a:spLocks xmlns:a="http://schemas.openxmlformats.org/drawingml/2006/main" noGrp="1"/>
          </p:cNvSpPr>
          <p:nvPr/>
        </p:nvSpPr>
        <p:spPr>
          <a:xfrm xmlns:a="http://schemas.openxmlformats.org/drawingml/2006/main">
            <a:off x="781050" y="3800475"/>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8E123B"/>
                </a:solidFill>
              </a:defRPr>
            </a:defPPr>
          </a:lstStyle>
          <a:p xmlns:a="http://schemas.openxmlformats.org/drawingml/2006/main">
            <a:pPr>
              <a:defRPr sz="1275" b="1">
                <a:solidFill>
                  <a:srgbClr val="8E123B"/>
                </a:solidFill>
              </a:defRPr>
            </a:pPr>
            <a:r>
              <a:rPr sz="1275" b="1">
                <a:solidFill>
                  <a:srgbClr val="8E123B"/>
                </a:solidFill>
              </a:rPr>
              <a:t>Track fulfillment precisely</a:t>
            </a:r>
          </a:p>
        </p:txBody>
      </p:sp>
      <p:sp>
        <p:nvSpPr>
          <p:cNvPr id="17" name="">
            <a:extLst xmlns:a="http://schemas.openxmlformats.org/drawingml/2006/main">
              <a:ext uri="{FF2B5EF4-FFF2-40B4-BE49-F238E27FC236}">
                <a16:creationId xmlns:a16="http://schemas.microsoft.com/office/drawing/2014/main" id="{5F3C3175-B180-4D70-8F55-90D25DACC516}"/>
              </a:ext>
            </a:extLst>
          </p:cNvPr>
          <p:cNvSpPr>
            <a:spLocks xmlns:a="http://schemas.openxmlformats.org/drawingml/2006/main" noGrp="1"/>
          </p:cNvSpPr>
          <p:nvPr/>
        </p:nvSpPr>
        <p:spPr>
          <a:xfrm xmlns:a="http://schemas.openxmlformats.org/drawingml/2006/main">
            <a:off x="3562350" y="3800475"/>
            <a:ext cx="7715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Represent each ordered portion independently from its payment container.</a:t>
            </a:r>
          </a:p>
        </p:txBody>
      </p:sp>
      <p:sp>
        <p:nvSpPr>
          <p:cNvPr id="18" name="">
            <a:extLst xmlns:a="http://schemas.openxmlformats.org/drawingml/2006/main">
              <a:ext uri="{FF2B5EF4-FFF2-40B4-BE49-F238E27FC236}">
                <a16:creationId xmlns:a16="http://schemas.microsoft.com/office/drawing/2014/main" id="{BD800972-73CF-45C0-95A1-064BAA217EF0}"/>
              </a:ext>
            </a:extLst>
          </p:cNvPr>
          <p:cNvSpPr>
            <a:spLocks xmlns:a="http://schemas.openxmlformats.org/drawingml/2006/main" noGrp="1"/>
          </p:cNvSpPr>
          <p:nvPr/>
        </p:nvSpPr>
        <p:spPr>
          <a:xfrm xmlns:a="http://schemas.openxmlformats.org/drawingml/2006/main">
            <a:off x="609600" y="4505325"/>
            <a:ext cx="10972800" cy="609600"/>
          </a:xfrm>
          <a:prstGeom xmlns:a="http://schemas.openxmlformats.org/drawingml/2006/main" prst="roundRect">
            <a:avLst>
              <a:gd name="adj" fmla="val 12500"/>
            </a:avLst>
          </a:prstGeom>
          <a:solidFill xmlns:a="http://schemas.openxmlformats.org/drawingml/2006/main">
            <a:srgbClr val="F5EEE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B9DC9DC-E9B6-4919-8AB2-E9758BB21AAA}"/>
              </a:ext>
            </a:extLst>
          </p:cNvPr>
          <p:cNvSpPr>
            <a:spLocks xmlns:a="http://schemas.openxmlformats.org/drawingml/2006/main" noGrp="1"/>
          </p:cNvSpPr>
          <p:nvPr/>
        </p:nvSpPr>
        <p:spPr>
          <a:xfrm xmlns:a="http://schemas.openxmlformats.org/drawingml/2006/main">
            <a:off x="781050" y="4543425"/>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8E123B"/>
                </a:solidFill>
              </a:defRPr>
            </a:defPPr>
          </a:lstStyle>
          <a:p xmlns:a="http://schemas.openxmlformats.org/drawingml/2006/main">
            <a:pPr>
              <a:defRPr sz="1275" b="1">
                <a:solidFill>
                  <a:srgbClr val="8E123B"/>
                </a:solidFill>
              </a:defRPr>
            </a:pPr>
            <a:r>
              <a:rPr sz="1275" b="1">
                <a:solidFill>
                  <a:srgbClr val="8E123B"/>
                </a:solidFill>
              </a:rPr>
              <a:t>Make credits auditable</a:t>
            </a:r>
          </a:p>
        </p:txBody>
      </p:sp>
      <p:sp>
        <p:nvSpPr>
          <p:cNvPr id="20" name="">
            <a:extLst xmlns:a="http://schemas.openxmlformats.org/drawingml/2006/main">
              <a:ext uri="{FF2B5EF4-FFF2-40B4-BE49-F238E27FC236}">
                <a16:creationId xmlns:a16="http://schemas.microsoft.com/office/drawing/2014/main" id="{74BAC60B-1F79-4BE5-B945-18148AAB1168}"/>
              </a:ext>
            </a:extLst>
          </p:cNvPr>
          <p:cNvSpPr>
            <a:spLocks xmlns:a="http://schemas.openxmlformats.org/drawingml/2006/main" noGrp="1"/>
          </p:cNvSpPr>
          <p:nvPr/>
        </p:nvSpPr>
        <p:spPr>
          <a:xfrm xmlns:a="http://schemas.openxmlformats.org/drawingml/2006/main">
            <a:off x="3562350" y="4543425"/>
            <a:ext cx="7715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Store expiring credit lots, allocations, and financial events.</a:t>
            </a:r>
          </a:p>
        </p:txBody>
      </p:sp>
      <p:sp>
        <p:nvSpPr>
          <p:cNvPr id="21" name="">
            <a:extLst xmlns:a="http://schemas.openxmlformats.org/drawingml/2006/main">
              <a:ext uri="{FF2B5EF4-FFF2-40B4-BE49-F238E27FC236}">
                <a16:creationId xmlns:a16="http://schemas.microsoft.com/office/drawing/2014/main" id="{C84D3858-B137-470E-8CA4-DD4339568F6A}"/>
              </a:ext>
            </a:extLst>
          </p:cNvPr>
          <p:cNvSpPr>
            <a:spLocks xmlns:a="http://schemas.openxmlformats.org/drawingml/2006/main" noGrp="1"/>
          </p:cNvSpPr>
          <p:nvPr/>
        </p:nvSpPr>
        <p:spPr>
          <a:xfrm xmlns:a="http://schemas.openxmlformats.org/drawingml/2006/main">
            <a:off x="609600" y="5248275"/>
            <a:ext cx="1097280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FFE5A22-F059-4BD3-8C9F-A6E3C714AF39}"/>
              </a:ext>
            </a:extLst>
          </p:cNvPr>
          <p:cNvSpPr>
            <a:spLocks xmlns:a="http://schemas.openxmlformats.org/drawingml/2006/main" noGrp="1"/>
          </p:cNvSpPr>
          <p:nvPr/>
        </p:nvSpPr>
        <p:spPr>
          <a:xfrm xmlns:a="http://schemas.openxmlformats.org/drawingml/2006/main">
            <a:off x="781050" y="5286375"/>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8E123B"/>
                </a:solidFill>
              </a:defRPr>
            </a:defPPr>
          </a:lstStyle>
          <a:p xmlns:a="http://schemas.openxmlformats.org/drawingml/2006/main">
            <a:pPr>
              <a:defRPr sz="1275" b="1">
                <a:solidFill>
                  <a:srgbClr val="8E123B"/>
                </a:solidFill>
              </a:defRPr>
            </a:pPr>
            <a:r>
              <a:rPr sz="1275" b="1">
                <a:solidFill>
                  <a:srgbClr val="8E123B"/>
                </a:solidFill>
              </a:rPr>
              <a:t>Limit operational access</a:t>
            </a:r>
          </a:p>
        </p:txBody>
      </p:sp>
      <p:sp>
        <p:nvSpPr>
          <p:cNvPr id="23" name="">
            <a:extLst xmlns:a="http://schemas.openxmlformats.org/drawingml/2006/main">
              <a:ext uri="{FF2B5EF4-FFF2-40B4-BE49-F238E27FC236}">
                <a16:creationId xmlns:a16="http://schemas.microsoft.com/office/drawing/2014/main" id="{EEA03301-58B8-4775-A27C-6E1354E421C6}"/>
              </a:ext>
            </a:extLst>
          </p:cNvPr>
          <p:cNvSpPr>
            <a:spLocks xmlns:a="http://schemas.openxmlformats.org/drawingml/2006/main" noGrp="1"/>
          </p:cNvSpPr>
          <p:nvPr/>
        </p:nvSpPr>
        <p:spPr>
          <a:xfrm xmlns:a="http://schemas.openxmlformats.org/drawingml/2006/main">
            <a:off x="3562350" y="5286375"/>
            <a:ext cx="7715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Scope staff and manager actions to assigned canteens and stations.</a:t>
            </a:r>
          </a:p>
        </p:txBody>
      </p:sp>
    </p:spTree>
    <p:extLst>
      <p:ext uri="{BB962C8B-B14F-4D97-AF65-F5344CB8AC3E}">
        <p14:creationId xmlns:p14="http://schemas.microsoft.com/office/powerpoint/2010/main" val="1082164053"/>
      </p:ext>
    </p:extLst>
  </p:cSld>
</p:sld>
</file>

<file path=ppt/slides/slide4.xml><?xml version="1.0" encoding="utf-8"?>
<p:sld xmlns:p="http://schemas.openxmlformats.org/presentationml/2006/main">
  <p:cSld>
    <p:bg>
      <p:bgPr>
        <a:solidFill xmlns:a="http://schemas.openxmlformats.org/drawingml/2006/main">
          <a:srgbClr val="FBF7F4"/>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C1AAE237-442C-4439-91B4-530344526D9B}"/>
              </a:ext>
            </a:extLst>
          </p:cNvPr>
          <p:cNvSpPr>
            <a:spLocks xmlns:a="http://schemas.openxmlformats.org/drawingml/2006/main" noGrp="1"/>
          </p:cNvSpPr>
          <p:nvPr/>
        </p:nvSpPr>
        <p:spPr>
          <a:xfrm xmlns:a="http://schemas.openxmlformats.org/drawingml/2006/main">
            <a:off x="6096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8E123B"/>
                </a:solidFill>
              </a:defRPr>
            </a:defPPr>
          </a:lstStyle>
          <a:p xmlns:a="http://schemas.openxmlformats.org/drawingml/2006/main">
            <a:pPr>
              <a:defRPr sz="900" b="1">
                <a:solidFill>
                  <a:srgbClr val="8E123B"/>
                </a:solidFill>
              </a:defRPr>
            </a:pPr>
            <a:r>
              <a:rPr sz="900" b="1">
                <a:solidFill>
                  <a:srgbClr val="8E123B"/>
                </a:solidFill>
              </a:rPr>
              <a:t>03 • END-TO-END WORKFLOW</a:t>
            </a:r>
          </a:p>
        </p:txBody>
      </p:sp>
      <p:sp>
        <p:nvSpPr>
          <p:cNvPr id="2" name="">
            <a:extLst xmlns:a="http://schemas.openxmlformats.org/drawingml/2006/main">
              <a:ext uri="{FF2B5EF4-FFF2-40B4-BE49-F238E27FC236}">
                <a16:creationId xmlns:a16="http://schemas.microsoft.com/office/drawing/2014/main" id="{F3C68238-658F-4352-BAB4-83E85FC1FF5C}"/>
              </a:ext>
            </a:extLst>
          </p:cNvPr>
          <p:cNvSpPr>
            <a:spLocks xmlns:a="http://schemas.openxmlformats.org/drawingml/2006/main" noGrp="1"/>
          </p:cNvSpPr>
          <p:nvPr/>
        </p:nvSpPr>
        <p:spPr>
          <a:xfrm xmlns:a="http://schemas.openxmlformats.org/drawingml/2006/main">
            <a:off x="609600" y="657225"/>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261D21"/>
                </a:solidFill>
              </a:defRPr>
            </a:defPPr>
          </a:lstStyle>
          <a:p xmlns:a="http://schemas.openxmlformats.org/drawingml/2006/main">
            <a:pPr>
              <a:defRPr sz="2550" b="1">
                <a:solidFill>
                  <a:srgbClr val="261D21"/>
                </a:solidFill>
              </a:defRPr>
            </a:pPr>
            <a:r>
              <a:rPr sz="2550" b="1">
                <a:solidFill>
                  <a:srgbClr val="261D21"/>
                </a:solidFill>
              </a:rPr>
              <a:t>One order moves through explicit states</a:t>
            </a:r>
          </a:p>
        </p:txBody>
      </p:sp>
      <p:sp>
        <p:nvSpPr>
          <p:cNvPr id="3" name="">
            <a:extLst xmlns:a="http://schemas.openxmlformats.org/drawingml/2006/main">
              <a:ext uri="{FF2B5EF4-FFF2-40B4-BE49-F238E27FC236}">
                <a16:creationId xmlns:a16="http://schemas.microsoft.com/office/drawing/2014/main" id="{4A6820AE-211A-47E9-A275-9FCC02A67910}"/>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line">
            <a:avLst/>
          </a:prstGeom>
          <a:noFill xmlns:a="http://schemas.openxmlformats.org/drawingml/2006/main"/>
          <a:ln xmlns:a="http://schemas.openxmlformats.org/drawingml/2006/main" w="9525">
            <a:solidFill>
              <a:srgbClr val="E8DDE0"/>
            </a:solidFill>
            <a:prstDash val="solid"/>
          </a:ln>
        </p:spPr>
      </p:sp>
      <p:sp>
        <p:nvSpPr>
          <p:cNvPr id="4" name="">
            <a:extLst xmlns:a="http://schemas.openxmlformats.org/drawingml/2006/main">
              <a:ext uri="{FF2B5EF4-FFF2-40B4-BE49-F238E27FC236}">
                <a16:creationId xmlns:a16="http://schemas.microsoft.com/office/drawing/2014/main" id="{0E5EF282-881A-4EFA-BE13-8CD5D9C2712F}"/>
              </a:ext>
            </a:extLst>
          </p:cNvPr>
          <p:cNvSpPr>
            <a:spLocks xmlns:a="http://schemas.openxmlformats.org/drawingml/2006/main" noGrp="1"/>
          </p:cNvSpPr>
          <p:nvPr/>
        </p:nvSpPr>
        <p:spPr>
          <a:xfrm xmlns:a="http://schemas.openxmlformats.org/drawingml/2006/main">
            <a:off x="609600" y="64579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71656A"/>
                </a:solidFill>
              </a:defRPr>
            </a:defPPr>
          </a:lstStyle>
          <a:p xmlns:a="http://schemas.openxmlformats.org/drawingml/2006/main">
            <a:pPr>
              <a:defRPr sz="825" b="1">
                <a:solidFill>
                  <a:srgbClr val="71656A"/>
                </a:solidFill>
              </a:defRPr>
            </a:pPr>
            <a:r>
              <a:rPr sz="825" b="1">
                <a:solidFill>
                  <a:srgbClr val="71656A"/>
                </a:solidFill>
              </a:rPr>
              <a:t>MINT  /  CAMPUS CANTEEN PICKUP</a:t>
            </a:r>
          </a:p>
        </p:txBody>
      </p:sp>
      <p:sp>
        <p:nvSpPr>
          <p:cNvPr id="5" name="">
            <a:extLst xmlns:a="http://schemas.openxmlformats.org/drawingml/2006/main">
              <a:ext uri="{FF2B5EF4-FFF2-40B4-BE49-F238E27FC236}">
                <a16:creationId xmlns:a16="http://schemas.microsoft.com/office/drawing/2014/main" id="{083CFB46-6DB6-4D67-B4E2-F985575D3EF0}"/>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71656A"/>
                </a:solidFill>
              </a:defRPr>
            </a:defPPr>
          </a:lstStyle>
          <a:p xmlns:a="http://schemas.openxmlformats.org/drawingml/2006/main">
            <a:pPr algn="r">
              <a:defRPr sz="900" b="1">
                <a:solidFill>
                  <a:srgbClr val="71656A"/>
                </a:solidFill>
              </a:defRPr>
            </a:pPr>
            <a:r>
              <a:rPr sz="900" b="1">
                <a:solidFill>
                  <a:srgbClr val="71656A"/>
                </a:solidFill>
              </a:rPr>
              <a:t>04</a:t>
            </a:r>
          </a:p>
        </p:txBody>
      </p:sp>
      <p:sp>
        <p:nvSpPr>
          <p:cNvPr id="6" name="">
            <a:extLst xmlns:a="http://schemas.openxmlformats.org/drawingml/2006/main">
              <a:ext uri="{FF2B5EF4-FFF2-40B4-BE49-F238E27FC236}">
                <a16:creationId xmlns:a16="http://schemas.microsoft.com/office/drawing/2014/main" id="{232A282C-AA59-4A0C-BE67-A0BE19AA1A3C}"/>
              </a:ext>
            </a:extLst>
          </p:cNvPr>
          <p:cNvSpPr>
            <a:spLocks xmlns:a="http://schemas.openxmlformats.org/drawingml/2006/main" noGrp="1"/>
          </p:cNvSpPr>
          <p:nvPr/>
        </p:nvSpPr>
        <p:spPr>
          <a:xfrm xmlns:a="http://schemas.openxmlformats.org/drawingml/2006/main">
            <a:off x="590550" y="2190750"/>
            <a:ext cx="1638300" cy="179070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E8DDE0"/>
            </a:solidFill>
            <a:prstDash val="solid"/>
          </a:ln>
        </p:spPr>
      </p:sp>
      <p:sp>
        <p:nvSpPr>
          <p:cNvPr id="7" name="">
            <a:extLst xmlns:a="http://schemas.openxmlformats.org/drawingml/2006/main">
              <a:ext uri="{FF2B5EF4-FFF2-40B4-BE49-F238E27FC236}">
                <a16:creationId xmlns:a16="http://schemas.microsoft.com/office/drawing/2014/main" id="{392A6D8E-6799-4B59-AAA1-733D079645A7}"/>
              </a:ext>
            </a:extLst>
          </p:cNvPr>
          <p:cNvSpPr>
            <a:spLocks xmlns:a="http://schemas.openxmlformats.org/drawingml/2006/main" noGrp="1"/>
          </p:cNvSpPr>
          <p:nvPr/>
        </p:nvSpPr>
        <p:spPr>
          <a:xfrm xmlns:a="http://schemas.openxmlformats.org/drawingml/2006/main">
            <a:off x="742950" y="2362200"/>
            <a:ext cx="361950" cy="361950"/>
          </a:xfrm>
          <a:prstGeom xmlns:a="http://schemas.openxmlformats.org/drawingml/2006/main" prst="roundRect">
            <a:avLst>
              <a:gd name="adj" fmla="val 21053"/>
            </a:avLst>
          </a:prstGeom>
          <a:solidFill xmlns:a="http://schemas.openxmlformats.org/drawingml/2006/main">
            <a:srgbClr val="8E123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BF0369F-76A8-4665-9172-A0E762B5AFC0}"/>
              </a:ext>
            </a:extLst>
          </p:cNvPr>
          <p:cNvSpPr>
            <a:spLocks xmlns:a="http://schemas.openxmlformats.org/drawingml/2006/main" noGrp="1"/>
          </p:cNvSpPr>
          <p:nvPr/>
        </p:nvSpPr>
        <p:spPr>
          <a:xfrm xmlns:a="http://schemas.openxmlformats.org/drawingml/2006/main">
            <a:off x="742950" y="23622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stStyle>
          <a:p xmlns:a="http://schemas.openxmlformats.org/drawingml/2006/main">
            <a:pPr algn="ctr">
              <a:defRPr sz="1275" b="1">
                <a:solidFill>
                  <a:srgbClr val="FFFFFF"/>
                </a:solidFill>
              </a:defRPr>
            </a:pPr>
            <a:r>
              <a:rPr sz="1275" b="1">
                <a:solidFill>
                  <a:srgbClr val="FFFFFF"/>
                </a:solidFill>
              </a:rPr>
              <a:t>1</a:t>
            </a:r>
          </a:p>
        </p:txBody>
      </p:sp>
      <p:sp>
        <p:nvSpPr>
          <p:cNvPr id="9" name="">
            <a:extLst xmlns:a="http://schemas.openxmlformats.org/drawingml/2006/main">
              <a:ext uri="{FF2B5EF4-FFF2-40B4-BE49-F238E27FC236}">
                <a16:creationId xmlns:a16="http://schemas.microsoft.com/office/drawing/2014/main" id="{F0D77E04-0598-46B7-B986-6C820C5D8EAA}"/>
              </a:ext>
            </a:extLst>
          </p:cNvPr>
          <p:cNvSpPr>
            <a:spLocks xmlns:a="http://schemas.openxmlformats.org/drawingml/2006/main" noGrp="1"/>
          </p:cNvSpPr>
          <p:nvPr/>
        </p:nvSpPr>
        <p:spPr>
          <a:xfrm xmlns:a="http://schemas.openxmlformats.org/drawingml/2006/main">
            <a:off x="742950" y="2867025"/>
            <a:ext cx="1352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261D21"/>
                </a:solidFill>
              </a:defRPr>
            </a:defPPr>
          </a:lstStyle>
          <a:p xmlns:a="http://schemas.openxmlformats.org/drawingml/2006/main">
            <a:pPr>
              <a:defRPr sz="1500" b="1">
                <a:solidFill>
                  <a:srgbClr val="261D21"/>
                </a:solidFill>
              </a:defRPr>
            </a:pPr>
            <a:r>
              <a:rPr sz="1500" b="1">
                <a:solidFill>
                  <a:srgbClr val="261D21"/>
                </a:solidFill>
              </a:rPr>
              <a:t>Choose</a:t>
            </a:r>
          </a:p>
        </p:txBody>
      </p:sp>
      <p:sp>
        <p:nvSpPr>
          <p:cNvPr id="10" name="">
            <a:extLst xmlns:a="http://schemas.openxmlformats.org/drawingml/2006/main">
              <a:ext uri="{FF2B5EF4-FFF2-40B4-BE49-F238E27FC236}">
                <a16:creationId xmlns:a16="http://schemas.microsoft.com/office/drawing/2014/main" id="{C41B8CB7-4DEF-4508-8A45-A48317276361}"/>
              </a:ext>
            </a:extLst>
          </p:cNvPr>
          <p:cNvSpPr>
            <a:spLocks xmlns:a="http://schemas.openxmlformats.org/drawingml/2006/main" noGrp="1"/>
          </p:cNvSpPr>
          <p:nvPr/>
        </p:nvSpPr>
        <p:spPr>
          <a:xfrm xmlns:a="http://schemas.openxmlformats.org/drawingml/2006/main">
            <a:off x="742950" y="3267075"/>
            <a:ext cx="1352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0">
                <a:solidFill>
                  <a:srgbClr val="71656A"/>
                </a:solidFill>
              </a:defRPr>
            </a:defPPr>
          </a:lstStyle>
          <a:p xmlns:a="http://schemas.openxmlformats.org/drawingml/2006/main">
            <a:pPr>
              <a:defRPr sz="1050" b="0">
                <a:solidFill>
                  <a:srgbClr val="71656A"/>
                </a:solidFill>
              </a:defRPr>
            </a:pPr>
            <a:r>
              <a:rPr sz="1050" b="0">
                <a:solidFill>
                  <a:srgbClr val="71656A"/>
                </a:solidFill>
              </a:rPr>
              <a:t>Menu + canteen</a:t>
            </a:r>
          </a:p>
        </p:txBody>
      </p:sp>
      <p:sp>
        <p:nvSpPr>
          <p:cNvPr id="11" name="">
            <a:extLst xmlns:a="http://schemas.openxmlformats.org/drawingml/2006/main">
              <a:ext uri="{FF2B5EF4-FFF2-40B4-BE49-F238E27FC236}">
                <a16:creationId xmlns:a16="http://schemas.microsoft.com/office/drawing/2014/main" id="{577FBEB9-0DFB-4B81-939D-392C1C100849}"/>
              </a:ext>
            </a:extLst>
          </p:cNvPr>
          <p:cNvSpPr>
            <a:spLocks xmlns:a="http://schemas.openxmlformats.org/drawingml/2006/main" noGrp="1"/>
          </p:cNvSpPr>
          <p:nvPr/>
        </p:nvSpPr>
        <p:spPr>
          <a:xfrm xmlns:a="http://schemas.openxmlformats.org/drawingml/2006/main">
            <a:off x="2247900" y="3057525"/>
            <a:ext cx="219075" cy="9525"/>
          </a:xfrm>
          <a:prstGeom xmlns:a="http://schemas.openxmlformats.org/drawingml/2006/main" prst="line">
            <a:avLst/>
          </a:prstGeom>
          <a:noFill xmlns:a="http://schemas.openxmlformats.org/drawingml/2006/main"/>
          <a:ln xmlns:a="http://schemas.openxmlformats.org/drawingml/2006/main" w="28575">
            <a:solidFill>
              <a:srgbClr val="D65C73"/>
            </a:solidFill>
            <a:prstDash val="solid"/>
          </a:ln>
        </p:spPr>
      </p:sp>
      <p:sp>
        <p:nvSpPr>
          <p:cNvPr id="12" name="">
            <a:extLst xmlns:a="http://schemas.openxmlformats.org/drawingml/2006/main">
              <a:ext uri="{FF2B5EF4-FFF2-40B4-BE49-F238E27FC236}">
                <a16:creationId xmlns:a16="http://schemas.microsoft.com/office/drawing/2014/main" id="{4A738D2C-1790-4568-9B3A-D25E5A694C96}"/>
              </a:ext>
            </a:extLst>
          </p:cNvPr>
          <p:cNvSpPr>
            <a:spLocks xmlns:a="http://schemas.openxmlformats.org/drawingml/2006/main" noGrp="1"/>
          </p:cNvSpPr>
          <p:nvPr/>
        </p:nvSpPr>
        <p:spPr>
          <a:xfrm xmlns:a="http://schemas.openxmlformats.org/drawingml/2006/main">
            <a:off x="2495550" y="2190750"/>
            <a:ext cx="1638300" cy="179070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E8DDE0"/>
            </a:solidFill>
            <a:prstDash val="solid"/>
          </a:ln>
        </p:spPr>
      </p:sp>
      <p:sp>
        <p:nvSpPr>
          <p:cNvPr id="13" name="">
            <a:extLst xmlns:a="http://schemas.openxmlformats.org/drawingml/2006/main">
              <a:ext uri="{FF2B5EF4-FFF2-40B4-BE49-F238E27FC236}">
                <a16:creationId xmlns:a16="http://schemas.microsoft.com/office/drawing/2014/main" id="{092DE140-5202-438B-81A5-C8A7F09855DD}"/>
              </a:ext>
            </a:extLst>
          </p:cNvPr>
          <p:cNvSpPr>
            <a:spLocks xmlns:a="http://schemas.openxmlformats.org/drawingml/2006/main" noGrp="1"/>
          </p:cNvSpPr>
          <p:nvPr/>
        </p:nvSpPr>
        <p:spPr>
          <a:xfrm xmlns:a="http://schemas.openxmlformats.org/drawingml/2006/main">
            <a:off x="2647950" y="2362200"/>
            <a:ext cx="361950" cy="361950"/>
          </a:xfrm>
          <a:prstGeom xmlns:a="http://schemas.openxmlformats.org/drawingml/2006/main" prst="roundRect">
            <a:avLst>
              <a:gd name="adj" fmla="val 21053"/>
            </a:avLst>
          </a:prstGeom>
          <a:solidFill xmlns:a="http://schemas.openxmlformats.org/drawingml/2006/main">
            <a:srgbClr val="8E123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91D24DE-04A6-4EEC-9A9D-79FA06C226B5}"/>
              </a:ext>
            </a:extLst>
          </p:cNvPr>
          <p:cNvSpPr>
            <a:spLocks xmlns:a="http://schemas.openxmlformats.org/drawingml/2006/main" noGrp="1"/>
          </p:cNvSpPr>
          <p:nvPr/>
        </p:nvSpPr>
        <p:spPr>
          <a:xfrm xmlns:a="http://schemas.openxmlformats.org/drawingml/2006/main">
            <a:off x="2647950" y="23622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stStyle>
          <a:p xmlns:a="http://schemas.openxmlformats.org/drawingml/2006/main">
            <a:pPr algn="ctr">
              <a:defRPr sz="1275" b="1">
                <a:solidFill>
                  <a:srgbClr val="FFFFFF"/>
                </a:solidFill>
              </a:defRPr>
            </a:pPr>
            <a:r>
              <a:rPr sz="1275" b="1">
                <a:solidFill>
                  <a:srgbClr val="FFFFFF"/>
                </a:solidFill>
              </a:rPr>
              <a:t>2</a:t>
            </a:r>
          </a:p>
        </p:txBody>
      </p:sp>
      <p:sp>
        <p:nvSpPr>
          <p:cNvPr id="15" name="">
            <a:extLst xmlns:a="http://schemas.openxmlformats.org/drawingml/2006/main">
              <a:ext uri="{FF2B5EF4-FFF2-40B4-BE49-F238E27FC236}">
                <a16:creationId xmlns:a16="http://schemas.microsoft.com/office/drawing/2014/main" id="{F864F2B6-ADC3-4527-BB76-7F9F386DBE3A}"/>
              </a:ext>
            </a:extLst>
          </p:cNvPr>
          <p:cNvSpPr>
            <a:spLocks xmlns:a="http://schemas.openxmlformats.org/drawingml/2006/main" noGrp="1"/>
          </p:cNvSpPr>
          <p:nvPr/>
        </p:nvSpPr>
        <p:spPr>
          <a:xfrm xmlns:a="http://schemas.openxmlformats.org/drawingml/2006/main">
            <a:off x="2647950" y="2867025"/>
            <a:ext cx="1352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261D21"/>
                </a:solidFill>
              </a:defRPr>
            </a:defPPr>
          </a:lstStyle>
          <a:p xmlns:a="http://schemas.openxmlformats.org/drawingml/2006/main">
            <a:pPr>
              <a:defRPr sz="1500" b="1">
                <a:solidFill>
                  <a:srgbClr val="261D21"/>
                </a:solidFill>
              </a:defRPr>
            </a:pPr>
            <a:r>
              <a:rPr sz="1500" b="1">
                <a:solidFill>
                  <a:srgbClr val="261D21"/>
                </a:solidFill>
              </a:rPr>
              <a:t>Hold</a:t>
            </a:r>
          </a:p>
        </p:txBody>
      </p:sp>
      <p:sp>
        <p:nvSpPr>
          <p:cNvPr id="16" name="">
            <a:extLst xmlns:a="http://schemas.openxmlformats.org/drawingml/2006/main">
              <a:ext uri="{FF2B5EF4-FFF2-40B4-BE49-F238E27FC236}">
                <a16:creationId xmlns:a16="http://schemas.microsoft.com/office/drawing/2014/main" id="{4652B339-9214-480E-ABB6-36E0BF5E55C8}"/>
              </a:ext>
            </a:extLst>
          </p:cNvPr>
          <p:cNvSpPr>
            <a:spLocks xmlns:a="http://schemas.openxmlformats.org/drawingml/2006/main" noGrp="1"/>
          </p:cNvSpPr>
          <p:nvPr/>
        </p:nvSpPr>
        <p:spPr>
          <a:xfrm xmlns:a="http://schemas.openxmlformats.org/drawingml/2006/main">
            <a:off x="2647950" y="3267075"/>
            <a:ext cx="1352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0">
                <a:solidFill>
                  <a:srgbClr val="71656A"/>
                </a:solidFill>
              </a:defRPr>
            </a:defPPr>
          </a:lstStyle>
          <a:p xmlns:a="http://schemas.openxmlformats.org/drawingml/2006/main">
            <a:pPr>
              <a:defRPr sz="1050" b="0">
                <a:solidFill>
                  <a:srgbClr val="71656A"/>
                </a:solidFill>
              </a:defRPr>
            </a:pPr>
            <a:r>
              <a:rPr sz="1050" b="0">
                <a:solidFill>
                  <a:srgbClr val="71656A"/>
                </a:solidFill>
              </a:rPr>
              <a:t>Stock + credit</a:t>
            </a:r>
          </a:p>
        </p:txBody>
      </p:sp>
      <p:sp>
        <p:nvSpPr>
          <p:cNvPr id="17" name="">
            <a:extLst xmlns:a="http://schemas.openxmlformats.org/drawingml/2006/main">
              <a:ext uri="{FF2B5EF4-FFF2-40B4-BE49-F238E27FC236}">
                <a16:creationId xmlns:a16="http://schemas.microsoft.com/office/drawing/2014/main" id="{51602E51-BFC5-47D4-9408-7D47CA577828}"/>
              </a:ext>
            </a:extLst>
          </p:cNvPr>
          <p:cNvSpPr>
            <a:spLocks xmlns:a="http://schemas.openxmlformats.org/drawingml/2006/main" noGrp="1"/>
          </p:cNvSpPr>
          <p:nvPr/>
        </p:nvSpPr>
        <p:spPr>
          <a:xfrm xmlns:a="http://schemas.openxmlformats.org/drawingml/2006/main">
            <a:off x="4152900" y="3057525"/>
            <a:ext cx="219075" cy="9525"/>
          </a:xfrm>
          <a:prstGeom xmlns:a="http://schemas.openxmlformats.org/drawingml/2006/main" prst="line">
            <a:avLst/>
          </a:prstGeom>
          <a:noFill xmlns:a="http://schemas.openxmlformats.org/drawingml/2006/main"/>
          <a:ln xmlns:a="http://schemas.openxmlformats.org/drawingml/2006/main" w="28575">
            <a:solidFill>
              <a:srgbClr val="D65C73"/>
            </a:solidFill>
            <a:prstDash val="solid"/>
          </a:ln>
        </p:spPr>
      </p:sp>
      <p:sp>
        <p:nvSpPr>
          <p:cNvPr id="18" name="">
            <a:extLst xmlns:a="http://schemas.openxmlformats.org/drawingml/2006/main">
              <a:ext uri="{FF2B5EF4-FFF2-40B4-BE49-F238E27FC236}">
                <a16:creationId xmlns:a16="http://schemas.microsoft.com/office/drawing/2014/main" id="{DD6FDCA6-F5A1-4EF7-96F8-76D858308F45}"/>
              </a:ext>
            </a:extLst>
          </p:cNvPr>
          <p:cNvSpPr>
            <a:spLocks xmlns:a="http://schemas.openxmlformats.org/drawingml/2006/main" noGrp="1"/>
          </p:cNvSpPr>
          <p:nvPr/>
        </p:nvSpPr>
        <p:spPr>
          <a:xfrm xmlns:a="http://schemas.openxmlformats.org/drawingml/2006/main">
            <a:off x="4400550" y="2190750"/>
            <a:ext cx="1638300" cy="179070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E8DDE0"/>
            </a:solidFill>
            <a:prstDash val="solid"/>
          </a:ln>
        </p:spPr>
      </p:sp>
      <p:sp>
        <p:nvSpPr>
          <p:cNvPr id="19" name="">
            <a:extLst xmlns:a="http://schemas.openxmlformats.org/drawingml/2006/main">
              <a:ext uri="{FF2B5EF4-FFF2-40B4-BE49-F238E27FC236}">
                <a16:creationId xmlns:a16="http://schemas.microsoft.com/office/drawing/2014/main" id="{95BFD9A9-3953-4024-8B70-95E749124E13}"/>
              </a:ext>
            </a:extLst>
          </p:cNvPr>
          <p:cNvSpPr>
            <a:spLocks xmlns:a="http://schemas.openxmlformats.org/drawingml/2006/main" noGrp="1"/>
          </p:cNvSpPr>
          <p:nvPr/>
        </p:nvSpPr>
        <p:spPr>
          <a:xfrm xmlns:a="http://schemas.openxmlformats.org/drawingml/2006/main">
            <a:off x="4552950" y="2362200"/>
            <a:ext cx="361950" cy="361950"/>
          </a:xfrm>
          <a:prstGeom xmlns:a="http://schemas.openxmlformats.org/drawingml/2006/main" prst="roundRect">
            <a:avLst>
              <a:gd name="adj" fmla="val 21053"/>
            </a:avLst>
          </a:prstGeom>
          <a:solidFill xmlns:a="http://schemas.openxmlformats.org/drawingml/2006/main">
            <a:srgbClr val="8E123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42830DD-7117-40CC-B7E1-65C0A5BDFDAC}"/>
              </a:ext>
            </a:extLst>
          </p:cNvPr>
          <p:cNvSpPr>
            <a:spLocks xmlns:a="http://schemas.openxmlformats.org/drawingml/2006/main" noGrp="1"/>
          </p:cNvSpPr>
          <p:nvPr/>
        </p:nvSpPr>
        <p:spPr>
          <a:xfrm xmlns:a="http://schemas.openxmlformats.org/drawingml/2006/main">
            <a:off x="4552950" y="23622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stStyle>
          <a:p xmlns:a="http://schemas.openxmlformats.org/drawingml/2006/main">
            <a:pPr algn="ctr">
              <a:defRPr sz="1275" b="1">
                <a:solidFill>
                  <a:srgbClr val="FFFFFF"/>
                </a:solidFill>
              </a:defRPr>
            </a:pPr>
            <a:r>
              <a:rPr sz="1275" b="1">
                <a:solidFill>
                  <a:srgbClr val="FFFFFF"/>
                </a:solidFill>
              </a:rPr>
              <a:t>3</a:t>
            </a:r>
          </a:p>
        </p:txBody>
      </p:sp>
      <p:sp>
        <p:nvSpPr>
          <p:cNvPr id="21" name="">
            <a:extLst xmlns:a="http://schemas.openxmlformats.org/drawingml/2006/main">
              <a:ext uri="{FF2B5EF4-FFF2-40B4-BE49-F238E27FC236}">
                <a16:creationId xmlns:a16="http://schemas.microsoft.com/office/drawing/2014/main" id="{A5DD7B93-3A84-48A0-90FE-9136821CC81F}"/>
              </a:ext>
            </a:extLst>
          </p:cNvPr>
          <p:cNvSpPr>
            <a:spLocks xmlns:a="http://schemas.openxmlformats.org/drawingml/2006/main" noGrp="1"/>
          </p:cNvSpPr>
          <p:nvPr/>
        </p:nvSpPr>
        <p:spPr>
          <a:xfrm xmlns:a="http://schemas.openxmlformats.org/drawingml/2006/main">
            <a:off x="4552950" y="2867025"/>
            <a:ext cx="1352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261D21"/>
                </a:solidFill>
              </a:defRPr>
            </a:defPPr>
          </a:lstStyle>
          <a:p xmlns:a="http://schemas.openxmlformats.org/drawingml/2006/main">
            <a:pPr>
              <a:defRPr sz="1500" b="1">
                <a:solidFill>
                  <a:srgbClr val="261D21"/>
                </a:solidFill>
              </a:defRPr>
            </a:pPr>
            <a:r>
              <a:rPr sz="1500" b="1">
                <a:solidFill>
                  <a:srgbClr val="261D21"/>
                </a:solidFill>
              </a:rPr>
              <a:t>Pay</a:t>
            </a:r>
          </a:p>
        </p:txBody>
      </p:sp>
      <p:sp>
        <p:nvSpPr>
          <p:cNvPr id="22" name="">
            <a:extLst xmlns:a="http://schemas.openxmlformats.org/drawingml/2006/main">
              <a:ext uri="{FF2B5EF4-FFF2-40B4-BE49-F238E27FC236}">
                <a16:creationId xmlns:a16="http://schemas.microsoft.com/office/drawing/2014/main" id="{D01D96DB-74CF-4B62-B559-A1D61D8F34ED}"/>
              </a:ext>
            </a:extLst>
          </p:cNvPr>
          <p:cNvSpPr>
            <a:spLocks xmlns:a="http://schemas.openxmlformats.org/drawingml/2006/main" noGrp="1"/>
          </p:cNvSpPr>
          <p:nvPr/>
        </p:nvSpPr>
        <p:spPr>
          <a:xfrm xmlns:a="http://schemas.openxmlformats.org/drawingml/2006/main">
            <a:off x="4552950" y="3267075"/>
            <a:ext cx="1352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0">
                <a:solidFill>
                  <a:srgbClr val="71656A"/>
                </a:solidFill>
              </a:defRPr>
            </a:defPPr>
          </a:lstStyle>
          <a:p xmlns:a="http://schemas.openxmlformats.org/drawingml/2006/main">
            <a:pPr>
              <a:defRPr sz="1050" b="0">
                <a:solidFill>
                  <a:srgbClr val="71656A"/>
                </a:solidFill>
              </a:defRPr>
            </a:pPr>
            <a:r>
              <a:rPr sz="1050" b="0">
                <a:solidFill>
                  <a:srgbClr val="71656A"/>
                </a:solidFill>
              </a:rPr>
              <a:t>Razorpay or wallet</a:t>
            </a:r>
          </a:p>
        </p:txBody>
      </p:sp>
      <p:sp>
        <p:nvSpPr>
          <p:cNvPr id="23" name="">
            <a:extLst xmlns:a="http://schemas.openxmlformats.org/drawingml/2006/main">
              <a:ext uri="{FF2B5EF4-FFF2-40B4-BE49-F238E27FC236}">
                <a16:creationId xmlns:a16="http://schemas.microsoft.com/office/drawing/2014/main" id="{D90E35D4-D959-47C1-99B1-4DCCB003E6C5}"/>
              </a:ext>
            </a:extLst>
          </p:cNvPr>
          <p:cNvSpPr>
            <a:spLocks xmlns:a="http://schemas.openxmlformats.org/drawingml/2006/main" noGrp="1"/>
          </p:cNvSpPr>
          <p:nvPr/>
        </p:nvSpPr>
        <p:spPr>
          <a:xfrm xmlns:a="http://schemas.openxmlformats.org/drawingml/2006/main">
            <a:off x="6057900" y="3057525"/>
            <a:ext cx="219075" cy="9525"/>
          </a:xfrm>
          <a:prstGeom xmlns:a="http://schemas.openxmlformats.org/drawingml/2006/main" prst="line">
            <a:avLst/>
          </a:prstGeom>
          <a:noFill xmlns:a="http://schemas.openxmlformats.org/drawingml/2006/main"/>
          <a:ln xmlns:a="http://schemas.openxmlformats.org/drawingml/2006/main" w="28575">
            <a:solidFill>
              <a:srgbClr val="D65C73"/>
            </a:solidFill>
            <a:prstDash val="solid"/>
          </a:ln>
        </p:spPr>
      </p:sp>
      <p:sp>
        <p:nvSpPr>
          <p:cNvPr id="24" name="">
            <a:extLst xmlns:a="http://schemas.openxmlformats.org/drawingml/2006/main">
              <a:ext uri="{FF2B5EF4-FFF2-40B4-BE49-F238E27FC236}">
                <a16:creationId xmlns:a16="http://schemas.microsoft.com/office/drawing/2014/main" id="{8C658528-DA62-4A03-8074-2ACD168B2F50}"/>
              </a:ext>
            </a:extLst>
          </p:cNvPr>
          <p:cNvSpPr>
            <a:spLocks xmlns:a="http://schemas.openxmlformats.org/drawingml/2006/main" noGrp="1"/>
          </p:cNvSpPr>
          <p:nvPr/>
        </p:nvSpPr>
        <p:spPr>
          <a:xfrm xmlns:a="http://schemas.openxmlformats.org/drawingml/2006/main">
            <a:off x="6305550" y="2190750"/>
            <a:ext cx="1638300" cy="179070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E8DDE0"/>
            </a:solidFill>
            <a:prstDash val="solid"/>
          </a:ln>
        </p:spPr>
      </p:sp>
      <p:sp>
        <p:nvSpPr>
          <p:cNvPr id="25" name="">
            <a:extLst xmlns:a="http://schemas.openxmlformats.org/drawingml/2006/main">
              <a:ext uri="{FF2B5EF4-FFF2-40B4-BE49-F238E27FC236}">
                <a16:creationId xmlns:a16="http://schemas.microsoft.com/office/drawing/2014/main" id="{CDFDBBA2-B087-45EA-940E-9D2CD746693B}"/>
              </a:ext>
            </a:extLst>
          </p:cNvPr>
          <p:cNvSpPr>
            <a:spLocks xmlns:a="http://schemas.openxmlformats.org/drawingml/2006/main" noGrp="1"/>
          </p:cNvSpPr>
          <p:nvPr/>
        </p:nvSpPr>
        <p:spPr>
          <a:xfrm xmlns:a="http://schemas.openxmlformats.org/drawingml/2006/main">
            <a:off x="6457950" y="2362200"/>
            <a:ext cx="361950" cy="361950"/>
          </a:xfrm>
          <a:prstGeom xmlns:a="http://schemas.openxmlformats.org/drawingml/2006/main" prst="roundRect">
            <a:avLst>
              <a:gd name="adj" fmla="val 21053"/>
            </a:avLst>
          </a:prstGeom>
          <a:solidFill xmlns:a="http://schemas.openxmlformats.org/drawingml/2006/main">
            <a:srgbClr val="8E123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10F0ACF-82DC-46DB-85EF-43E388033D2C}"/>
              </a:ext>
            </a:extLst>
          </p:cNvPr>
          <p:cNvSpPr>
            <a:spLocks xmlns:a="http://schemas.openxmlformats.org/drawingml/2006/main" noGrp="1"/>
          </p:cNvSpPr>
          <p:nvPr/>
        </p:nvSpPr>
        <p:spPr>
          <a:xfrm xmlns:a="http://schemas.openxmlformats.org/drawingml/2006/main">
            <a:off x="6457950" y="23622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stStyle>
          <a:p xmlns:a="http://schemas.openxmlformats.org/drawingml/2006/main">
            <a:pPr algn="ctr">
              <a:defRPr sz="1275" b="1">
                <a:solidFill>
                  <a:srgbClr val="FFFFFF"/>
                </a:solidFill>
              </a:defRPr>
            </a:pPr>
            <a:r>
              <a:rPr sz="1275" b="1">
                <a:solidFill>
                  <a:srgbClr val="FFFFFF"/>
                </a:solidFill>
              </a:rPr>
              <a:t>4</a:t>
            </a:r>
          </a:p>
        </p:txBody>
      </p:sp>
      <p:sp>
        <p:nvSpPr>
          <p:cNvPr id="27" name="">
            <a:extLst xmlns:a="http://schemas.openxmlformats.org/drawingml/2006/main">
              <a:ext uri="{FF2B5EF4-FFF2-40B4-BE49-F238E27FC236}">
                <a16:creationId xmlns:a16="http://schemas.microsoft.com/office/drawing/2014/main" id="{0A2B1DD6-5A28-4C3E-B191-DA021CAE7E06}"/>
              </a:ext>
            </a:extLst>
          </p:cNvPr>
          <p:cNvSpPr>
            <a:spLocks xmlns:a="http://schemas.openxmlformats.org/drawingml/2006/main" noGrp="1"/>
          </p:cNvSpPr>
          <p:nvPr/>
        </p:nvSpPr>
        <p:spPr>
          <a:xfrm xmlns:a="http://schemas.openxmlformats.org/drawingml/2006/main">
            <a:off x="6457950" y="2867025"/>
            <a:ext cx="1352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261D21"/>
                </a:solidFill>
              </a:defRPr>
            </a:defPPr>
          </a:lstStyle>
          <a:p xmlns:a="http://schemas.openxmlformats.org/drawingml/2006/main">
            <a:pPr>
              <a:defRPr sz="1500" b="1">
                <a:solidFill>
                  <a:srgbClr val="261D21"/>
                </a:solidFill>
              </a:defRPr>
            </a:pPr>
            <a:r>
              <a:rPr sz="1500" b="1">
                <a:solidFill>
                  <a:srgbClr val="261D21"/>
                </a:solidFill>
              </a:rPr>
              <a:t>Confirm</a:t>
            </a:r>
          </a:p>
        </p:txBody>
      </p:sp>
      <p:sp>
        <p:nvSpPr>
          <p:cNvPr id="28" name="">
            <a:extLst xmlns:a="http://schemas.openxmlformats.org/drawingml/2006/main">
              <a:ext uri="{FF2B5EF4-FFF2-40B4-BE49-F238E27FC236}">
                <a16:creationId xmlns:a16="http://schemas.microsoft.com/office/drawing/2014/main" id="{3DAE3666-DEFD-4A17-A994-D59CF5982BF8}"/>
              </a:ext>
            </a:extLst>
          </p:cNvPr>
          <p:cNvSpPr>
            <a:spLocks xmlns:a="http://schemas.openxmlformats.org/drawingml/2006/main" noGrp="1"/>
          </p:cNvSpPr>
          <p:nvPr/>
        </p:nvSpPr>
        <p:spPr>
          <a:xfrm xmlns:a="http://schemas.openxmlformats.org/drawingml/2006/main">
            <a:off x="6457950" y="3267075"/>
            <a:ext cx="1352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0">
                <a:solidFill>
                  <a:srgbClr val="71656A"/>
                </a:solidFill>
              </a:defRPr>
            </a:defPPr>
          </a:lstStyle>
          <a:p xmlns:a="http://schemas.openxmlformats.org/drawingml/2006/main">
            <a:pPr>
              <a:defRPr sz="1050" b="0">
                <a:solidFill>
                  <a:srgbClr val="71656A"/>
                </a:solidFill>
              </a:defRPr>
            </a:pPr>
            <a:r>
              <a:rPr sz="1050" b="0">
                <a:solidFill>
                  <a:srgbClr val="71656A"/>
                </a:solidFill>
              </a:rPr>
              <a:t>Capture verified</a:t>
            </a:r>
          </a:p>
        </p:txBody>
      </p:sp>
      <p:sp>
        <p:nvSpPr>
          <p:cNvPr id="29" name="">
            <a:extLst xmlns:a="http://schemas.openxmlformats.org/drawingml/2006/main">
              <a:ext uri="{FF2B5EF4-FFF2-40B4-BE49-F238E27FC236}">
                <a16:creationId xmlns:a16="http://schemas.microsoft.com/office/drawing/2014/main" id="{914F3229-2EAF-4CA4-821F-2C3A4A99E180}"/>
              </a:ext>
            </a:extLst>
          </p:cNvPr>
          <p:cNvSpPr>
            <a:spLocks xmlns:a="http://schemas.openxmlformats.org/drawingml/2006/main" noGrp="1"/>
          </p:cNvSpPr>
          <p:nvPr/>
        </p:nvSpPr>
        <p:spPr>
          <a:xfrm xmlns:a="http://schemas.openxmlformats.org/drawingml/2006/main">
            <a:off x="7962900" y="3057525"/>
            <a:ext cx="219075" cy="9525"/>
          </a:xfrm>
          <a:prstGeom xmlns:a="http://schemas.openxmlformats.org/drawingml/2006/main" prst="line">
            <a:avLst/>
          </a:prstGeom>
          <a:noFill xmlns:a="http://schemas.openxmlformats.org/drawingml/2006/main"/>
          <a:ln xmlns:a="http://schemas.openxmlformats.org/drawingml/2006/main" w="28575">
            <a:solidFill>
              <a:srgbClr val="D65C73"/>
            </a:solidFill>
            <a:prstDash val="solid"/>
          </a:ln>
        </p:spPr>
      </p:sp>
      <p:sp>
        <p:nvSpPr>
          <p:cNvPr id="30" name="">
            <a:extLst xmlns:a="http://schemas.openxmlformats.org/drawingml/2006/main">
              <a:ext uri="{FF2B5EF4-FFF2-40B4-BE49-F238E27FC236}">
                <a16:creationId xmlns:a16="http://schemas.microsoft.com/office/drawing/2014/main" id="{70C87FC1-3AEE-4BBE-83ED-A26BD26BB073}"/>
              </a:ext>
            </a:extLst>
          </p:cNvPr>
          <p:cNvSpPr>
            <a:spLocks xmlns:a="http://schemas.openxmlformats.org/drawingml/2006/main" noGrp="1"/>
          </p:cNvSpPr>
          <p:nvPr/>
        </p:nvSpPr>
        <p:spPr>
          <a:xfrm xmlns:a="http://schemas.openxmlformats.org/drawingml/2006/main">
            <a:off x="8210550" y="2190750"/>
            <a:ext cx="1638300" cy="179070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E8DDE0"/>
            </a:solidFill>
            <a:prstDash val="solid"/>
          </a:ln>
        </p:spPr>
      </p:sp>
      <p:sp>
        <p:nvSpPr>
          <p:cNvPr id="31" name="">
            <a:extLst xmlns:a="http://schemas.openxmlformats.org/drawingml/2006/main">
              <a:ext uri="{FF2B5EF4-FFF2-40B4-BE49-F238E27FC236}">
                <a16:creationId xmlns:a16="http://schemas.microsoft.com/office/drawing/2014/main" id="{86AAEC03-9AFA-41C0-B4C4-E86A0FC99F9A}"/>
              </a:ext>
            </a:extLst>
          </p:cNvPr>
          <p:cNvSpPr>
            <a:spLocks xmlns:a="http://schemas.openxmlformats.org/drawingml/2006/main" noGrp="1"/>
          </p:cNvSpPr>
          <p:nvPr/>
        </p:nvSpPr>
        <p:spPr>
          <a:xfrm xmlns:a="http://schemas.openxmlformats.org/drawingml/2006/main">
            <a:off x="8362950" y="2362200"/>
            <a:ext cx="361950" cy="361950"/>
          </a:xfrm>
          <a:prstGeom xmlns:a="http://schemas.openxmlformats.org/drawingml/2006/main" prst="roundRect">
            <a:avLst>
              <a:gd name="adj" fmla="val 21053"/>
            </a:avLst>
          </a:prstGeom>
          <a:solidFill xmlns:a="http://schemas.openxmlformats.org/drawingml/2006/main">
            <a:srgbClr val="8E123B"/>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0B51943-1700-42C6-B0AC-A3B6F0EBFF05}"/>
              </a:ext>
            </a:extLst>
          </p:cNvPr>
          <p:cNvSpPr>
            <a:spLocks xmlns:a="http://schemas.openxmlformats.org/drawingml/2006/main" noGrp="1"/>
          </p:cNvSpPr>
          <p:nvPr/>
        </p:nvSpPr>
        <p:spPr>
          <a:xfrm xmlns:a="http://schemas.openxmlformats.org/drawingml/2006/main">
            <a:off x="8362950" y="23622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stStyle>
          <a:p xmlns:a="http://schemas.openxmlformats.org/drawingml/2006/main">
            <a:pPr algn="ctr">
              <a:defRPr sz="1275" b="1">
                <a:solidFill>
                  <a:srgbClr val="FFFFFF"/>
                </a:solidFill>
              </a:defRPr>
            </a:pPr>
            <a:r>
              <a:rPr sz="1275" b="1">
                <a:solidFill>
                  <a:srgbClr val="FFFFFF"/>
                </a:solidFill>
              </a:rPr>
              <a:t>5</a:t>
            </a:r>
          </a:p>
        </p:txBody>
      </p:sp>
      <p:sp>
        <p:nvSpPr>
          <p:cNvPr id="33" name="">
            <a:extLst xmlns:a="http://schemas.openxmlformats.org/drawingml/2006/main">
              <a:ext uri="{FF2B5EF4-FFF2-40B4-BE49-F238E27FC236}">
                <a16:creationId xmlns:a16="http://schemas.microsoft.com/office/drawing/2014/main" id="{D54B702D-1235-4860-91CE-082339D4D4A1}"/>
              </a:ext>
            </a:extLst>
          </p:cNvPr>
          <p:cNvSpPr>
            <a:spLocks xmlns:a="http://schemas.openxmlformats.org/drawingml/2006/main" noGrp="1"/>
          </p:cNvSpPr>
          <p:nvPr/>
        </p:nvSpPr>
        <p:spPr>
          <a:xfrm xmlns:a="http://schemas.openxmlformats.org/drawingml/2006/main">
            <a:off x="8362950" y="2867025"/>
            <a:ext cx="1352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261D21"/>
                </a:solidFill>
              </a:defRPr>
            </a:defPPr>
          </a:lstStyle>
          <a:p xmlns:a="http://schemas.openxmlformats.org/drawingml/2006/main">
            <a:pPr>
              <a:defRPr sz="1500" b="1">
                <a:solidFill>
                  <a:srgbClr val="261D21"/>
                </a:solidFill>
              </a:defRPr>
            </a:pPr>
            <a:r>
              <a:rPr sz="1500" b="1">
                <a:solidFill>
                  <a:srgbClr val="261D21"/>
                </a:solidFill>
              </a:rPr>
              <a:t>Arrive</a:t>
            </a:r>
          </a:p>
        </p:txBody>
      </p:sp>
      <p:sp>
        <p:nvSpPr>
          <p:cNvPr id="34" name="">
            <a:extLst xmlns:a="http://schemas.openxmlformats.org/drawingml/2006/main">
              <a:ext uri="{FF2B5EF4-FFF2-40B4-BE49-F238E27FC236}">
                <a16:creationId xmlns:a16="http://schemas.microsoft.com/office/drawing/2014/main" id="{AB764AD3-18AF-46C2-9AAC-0BC9EF10F4D6}"/>
              </a:ext>
            </a:extLst>
          </p:cNvPr>
          <p:cNvSpPr>
            <a:spLocks xmlns:a="http://schemas.openxmlformats.org/drawingml/2006/main" noGrp="1"/>
          </p:cNvSpPr>
          <p:nvPr/>
        </p:nvSpPr>
        <p:spPr>
          <a:xfrm xmlns:a="http://schemas.openxmlformats.org/drawingml/2006/main">
            <a:off x="8362950" y="3267075"/>
            <a:ext cx="1352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0">
                <a:solidFill>
                  <a:srgbClr val="71656A"/>
                </a:solidFill>
              </a:defRPr>
            </a:defPPr>
          </a:lstStyle>
          <a:p xmlns:a="http://schemas.openxmlformats.org/drawingml/2006/main">
            <a:pPr>
              <a:defRPr sz="1050" b="0">
                <a:solidFill>
                  <a:srgbClr val="71656A"/>
                </a:solidFill>
              </a:defRPr>
            </a:pPr>
            <a:r>
              <a:rPr sz="1050" b="0">
                <a:solidFill>
                  <a:srgbClr val="71656A"/>
                </a:solidFill>
              </a:rPr>
              <a:t>Location or QR</a:t>
            </a:r>
          </a:p>
        </p:txBody>
      </p:sp>
      <p:sp>
        <p:nvSpPr>
          <p:cNvPr id="35" name="">
            <a:extLst xmlns:a="http://schemas.openxmlformats.org/drawingml/2006/main">
              <a:ext uri="{FF2B5EF4-FFF2-40B4-BE49-F238E27FC236}">
                <a16:creationId xmlns:a16="http://schemas.microsoft.com/office/drawing/2014/main" id="{C883C9C2-FE07-43A1-A109-4AC12310D883}"/>
              </a:ext>
            </a:extLst>
          </p:cNvPr>
          <p:cNvSpPr>
            <a:spLocks xmlns:a="http://schemas.openxmlformats.org/drawingml/2006/main" noGrp="1"/>
          </p:cNvSpPr>
          <p:nvPr/>
        </p:nvSpPr>
        <p:spPr>
          <a:xfrm xmlns:a="http://schemas.openxmlformats.org/drawingml/2006/main">
            <a:off x="9867900" y="3057525"/>
            <a:ext cx="219075" cy="9525"/>
          </a:xfrm>
          <a:prstGeom xmlns:a="http://schemas.openxmlformats.org/drawingml/2006/main" prst="line">
            <a:avLst/>
          </a:prstGeom>
          <a:noFill xmlns:a="http://schemas.openxmlformats.org/drawingml/2006/main"/>
          <a:ln xmlns:a="http://schemas.openxmlformats.org/drawingml/2006/main" w="28575">
            <a:solidFill>
              <a:srgbClr val="D65C73"/>
            </a:solidFill>
            <a:prstDash val="solid"/>
          </a:ln>
        </p:spPr>
      </p:sp>
      <p:sp>
        <p:nvSpPr>
          <p:cNvPr id="36" name="">
            <a:extLst xmlns:a="http://schemas.openxmlformats.org/drawingml/2006/main">
              <a:ext uri="{FF2B5EF4-FFF2-40B4-BE49-F238E27FC236}">
                <a16:creationId xmlns:a16="http://schemas.microsoft.com/office/drawing/2014/main" id="{1188D00B-ED7F-4856-9651-2404F1DA9DD4}"/>
              </a:ext>
            </a:extLst>
          </p:cNvPr>
          <p:cNvSpPr>
            <a:spLocks xmlns:a="http://schemas.openxmlformats.org/drawingml/2006/main" noGrp="1"/>
          </p:cNvSpPr>
          <p:nvPr/>
        </p:nvSpPr>
        <p:spPr>
          <a:xfrm xmlns:a="http://schemas.openxmlformats.org/drawingml/2006/main">
            <a:off x="10115550" y="2190750"/>
            <a:ext cx="1638300" cy="1790700"/>
          </a:xfrm>
          <a:prstGeom xmlns:a="http://schemas.openxmlformats.org/drawingml/2006/main" prst="roundRect">
            <a:avLst>
              <a:gd name="adj" fmla="val 4651"/>
            </a:avLst>
          </a:prstGeom>
          <a:solidFill xmlns:a="http://schemas.openxmlformats.org/drawingml/2006/main">
            <a:srgbClr val="DCEDE7"/>
          </a:solidFill>
          <a:ln xmlns:a="http://schemas.openxmlformats.org/drawingml/2006/main" w="9525">
            <a:solidFill>
              <a:srgbClr val="E8DDE0"/>
            </a:solidFill>
            <a:prstDash val="solid"/>
          </a:ln>
        </p:spPr>
      </p:sp>
      <p:sp>
        <p:nvSpPr>
          <p:cNvPr id="37" name="">
            <a:extLst xmlns:a="http://schemas.openxmlformats.org/drawingml/2006/main">
              <a:ext uri="{FF2B5EF4-FFF2-40B4-BE49-F238E27FC236}">
                <a16:creationId xmlns:a16="http://schemas.microsoft.com/office/drawing/2014/main" id="{F84829E8-64E2-44CB-AC6D-28AC9E772C33}"/>
              </a:ext>
            </a:extLst>
          </p:cNvPr>
          <p:cNvSpPr>
            <a:spLocks xmlns:a="http://schemas.openxmlformats.org/drawingml/2006/main" noGrp="1"/>
          </p:cNvSpPr>
          <p:nvPr/>
        </p:nvSpPr>
        <p:spPr>
          <a:xfrm xmlns:a="http://schemas.openxmlformats.org/drawingml/2006/main">
            <a:off x="10267950" y="2362200"/>
            <a:ext cx="361950" cy="361950"/>
          </a:xfrm>
          <a:prstGeom xmlns:a="http://schemas.openxmlformats.org/drawingml/2006/main" prst="roundRect">
            <a:avLst>
              <a:gd name="adj" fmla="val 21053"/>
            </a:avLst>
          </a:prstGeom>
          <a:solidFill xmlns:a="http://schemas.openxmlformats.org/drawingml/2006/main">
            <a:srgbClr val="236D5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6ECCFCC-57A1-4D8E-87FF-447EED91BA35}"/>
              </a:ext>
            </a:extLst>
          </p:cNvPr>
          <p:cNvSpPr>
            <a:spLocks xmlns:a="http://schemas.openxmlformats.org/drawingml/2006/main" noGrp="1"/>
          </p:cNvSpPr>
          <p:nvPr/>
        </p:nvSpPr>
        <p:spPr>
          <a:xfrm xmlns:a="http://schemas.openxmlformats.org/drawingml/2006/main">
            <a:off x="10267950" y="23622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stStyle>
          <a:p xmlns:a="http://schemas.openxmlformats.org/drawingml/2006/main">
            <a:pPr algn="ctr">
              <a:defRPr sz="1275" b="1">
                <a:solidFill>
                  <a:srgbClr val="FFFFFF"/>
                </a:solidFill>
              </a:defRPr>
            </a:pPr>
            <a:r>
              <a:rPr sz="1275" b="1">
                <a:solidFill>
                  <a:srgbClr val="FFFFFF"/>
                </a:solidFill>
              </a:rPr>
              <a:t>6</a:t>
            </a:r>
          </a:p>
        </p:txBody>
      </p:sp>
      <p:sp>
        <p:nvSpPr>
          <p:cNvPr id="39" name="">
            <a:extLst xmlns:a="http://schemas.openxmlformats.org/drawingml/2006/main">
              <a:ext uri="{FF2B5EF4-FFF2-40B4-BE49-F238E27FC236}">
                <a16:creationId xmlns:a16="http://schemas.microsoft.com/office/drawing/2014/main" id="{67AB9107-5DAB-4390-BB7C-35CBF7CEF3EC}"/>
              </a:ext>
            </a:extLst>
          </p:cNvPr>
          <p:cNvSpPr>
            <a:spLocks xmlns:a="http://schemas.openxmlformats.org/drawingml/2006/main" noGrp="1"/>
          </p:cNvSpPr>
          <p:nvPr/>
        </p:nvSpPr>
        <p:spPr>
          <a:xfrm xmlns:a="http://schemas.openxmlformats.org/drawingml/2006/main">
            <a:off x="10267950" y="2867025"/>
            <a:ext cx="1352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261D21"/>
                </a:solidFill>
              </a:defRPr>
            </a:defPPr>
          </a:lstStyle>
          <a:p xmlns:a="http://schemas.openxmlformats.org/drawingml/2006/main">
            <a:pPr>
              <a:defRPr sz="1500" b="1">
                <a:solidFill>
                  <a:srgbClr val="261D21"/>
                </a:solidFill>
              </a:defRPr>
            </a:pPr>
            <a:r>
              <a:rPr sz="1500" b="1">
                <a:solidFill>
                  <a:srgbClr val="261D21"/>
                </a:solidFill>
              </a:rPr>
              <a:t>Fulfil</a:t>
            </a:r>
          </a:p>
        </p:txBody>
      </p:sp>
      <p:sp>
        <p:nvSpPr>
          <p:cNvPr id="40" name="">
            <a:extLst xmlns:a="http://schemas.openxmlformats.org/drawingml/2006/main">
              <a:ext uri="{FF2B5EF4-FFF2-40B4-BE49-F238E27FC236}">
                <a16:creationId xmlns:a16="http://schemas.microsoft.com/office/drawing/2014/main" id="{C050B8FF-BFC4-426A-A9BB-B21D380552EF}"/>
              </a:ext>
            </a:extLst>
          </p:cNvPr>
          <p:cNvSpPr>
            <a:spLocks xmlns:a="http://schemas.openxmlformats.org/drawingml/2006/main" noGrp="1"/>
          </p:cNvSpPr>
          <p:nvPr/>
        </p:nvSpPr>
        <p:spPr>
          <a:xfrm xmlns:a="http://schemas.openxmlformats.org/drawingml/2006/main">
            <a:off x="10267950" y="3267075"/>
            <a:ext cx="1352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0">
                <a:solidFill>
                  <a:srgbClr val="71656A"/>
                </a:solidFill>
              </a:defRPr>
            </a:defPPr>
          </a:lstStyle>
          <a:p xmlns:a="http://schemas.openxmlformats.org/drawingml/2006/main">
            <a:pPr>
              <a:defRPr sz="1050" b="0">
                <a:solidFill>
                  <a:srgbClr val="71656A"/>
                </a:solidFill>
              </a:defRPr>
            </a:pPr>
            <a:r>
              <a:rPr sz="1050" b="0">
                <a:solidFill>
                  <a:srgbClr val="71656A"/>
                </a:solidFill>
              </a:rPr>
              <a:t>Prepare → handover</a:t>
            </a:r>
          </a:p>
        </p:txBody>
      </p:sp>
      <p:sp>
        <p:nvSpPr>
          <p:cNvPr id="41" name="">
            <a:extLst xmlns:a="http://schemas.openxmlformats.org/drawingml/2006/main">
              <a:ext uri="{FF2B5EF4-FFF2-40B4-BE49-F238E27FC236}">
                <a16:creationId xmlns:a16="http://schemas.microsoft.com/office/drawing/2014/main" id="{1C71B074-0B14-417F-9051-8745F7B4BADB}"/>
              </a:ext>
            </a:extLst>
          </p:cNvPr>
          <p:cNvSpPr>
            <a:spLocks xmlns:a="http://schemas.openxmlformats.org/drawingml/2006/main" noGrp="1"/>
          </p:cNvSpPr>
          <p:nvPr/>
        </p:nvSpPr>
        <p:spPr>
          <a:xfrm xmlns:a="http://schemas.openxmlformats.org/drawingml/2006/main">
            <a:off x="609600" y="439102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8E123B"/>
                </a:solidFill>
              </a:defRPr>
            </a:defPPr>
          </a:lstStyle>
          <a:p xmlns:a="http://schemas.openxmlformats.org/drawingml/2006/main">
            <a:pPr>
              <a:defRPr sz="1350" b="1">
                <a:solidFill>
                  <a:srgbClr val="8E123B"/>
                </a:solidFill>
              </a:defRPr>
            </a:pPr>
            <a:r>
              <a:rPr sz="1350" b="1">
                <a:solidFill>
                  <a:srgbClr val="8E123B"/>
                </a:solidFill>
              </a:rPr>
              <a:t>Exception paths</a:t>
            </a:r>
          </a:p>
        </p:txBody>
      </p:sp>
      <p:sp>
        <p:nvSpPr>
          <p:cNvPr id="42" name="">
            <a:extLst xmlns:a="http://schemas.openxmlformats.org/drawingml/2006/main">
              <a:ext uri="{FF2B5EF4-FFF2-40B4-BE49-F238E27FC236}">
                <a16:creationId xmlns:a16="http://schemas.microsoft.com/office/drawing/2014/main" id="{AC004420-6A20-4698-B352-9A8CC098D820}"/>
              </a:ext>
            </a:extLst>
          </p:cNvPr>
          <p:cNvSpPr>
            <a:spLocks xmlns:a="http://schemas.openxmlformats.org/drawingml/2006/main" noGrp="1"/>
          </p:cNvSpPr>
          <p:nvPr/>
        </p:nvSpPr>
        <p:spPr>
          <a:xfrm xmlns:a="http://schemas.openxmlformats.org/drawingml/2006/main">
            <a:off x="609600" y="4848225"/>
            <a:ext cx="66675" cy="438150"/>
          </a:xfrm>
          <a:prstGeom xmlns:a="http://schemas.openxmlformats.org/drawingml/2006/main" prst="roundRect">
            <a:avLst>
              <a:gd name="adj" fmla="val 50000"/>
            </a:avLst>
          </a:prstGeom>
          <a:solidFill xmlns:a="http://schemas.openxmlformats.org/drawingml/2006/main">
            <a:srgbClr val="8E123B"/>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F94D9256-89F3-47BD-9910-DDDA9C594F34}"/>
              </a:ext>
            </a:extLst>
          </p:cNvPr>
          <p:cNvSpPr>
            <a:spLocks xmlns:a="http://schemas.openxmlformats.org/drawingml/2006/main" noGrp="1"/>
          </p:cNvSpPr>
          <p:nvPr/>
        </p:nvSpPr>
        <p:spPr>
          <a:xfrm xmlns:a="http://schemas.openxmlformats.org/drawingml/2006/main">
            <a:off x="819150" y="4800600"/>
            <a:ext cx="312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Hold expires</a:t>
            </a:r>
          </a:p>
        </p:txBody>
      </p:sp>
      <p:sp>
        <p:nvSpPr>
          <p:cNvPr id="44" name="">
            <a:extLst xmlns:a="http://schemas.openxmlformats.org/drawingml/2006/main">
              <a:ext uri="{FF2B5EF4-FFF2-40B4-BE49-F238E27FC236}">
                <a16:creationId xmlns:a16="http://schemas.microsoft.com/office/drawing/2014/main" id="{4DCF5ABD-F361-44EF-A7E7-EE20758FC47E}"/>
              </a:ext>
            </a:extLst>
          </p:cNvPr>
          <p:cNvSpPr>
            <a:spLocks xmlns:a="http://schemas.openxmlformats.org/drawingml/2006/main" noGrp="1"/>
          </p:cNvSpPr>
          <p:nvPr/>
        </p:nvSpPr>
        <p:spPr>
          <a:xfrm xmlns:a="http://schemas.openxmlformats.org/drawingml/2006/main">
            <a:off x="819150" y="5095875"/>
            <a:ext cx="3124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Release inventory and reserved credit if checkout is not completed in time.</a:t>
            </a:r>
          </a:p>
        </p:txBody>
      </p:sp>
      <p:sp>
        <p:nvSpPr>
          <p:cNvPr id="45" name="">
            <a:extLst xmlns:a="http://schemas.openxmlformats.org/drawingml/2006/main">
              <a:ext uri="{FF2B5EF4-FFF2-40B4-BE49-F238E27FC236}">
                <a16:creationId xmlns:a16="http://schemas.microsoft.com/office/drawing/2014/main" id="{CB050659-CBD1-4451-932C-C50538F6699B}"/>
              </a:ext>
            </a:extLst>
          </p:cNvPr>
          <p:cNvSpPr>
            <a:spLocks xmlns:a="http://schemas.openxmlformats.org/drawingml/2006/main" noGrp="1"/>
          </p:cNvSpPr>
          <p:nvPr/>
        </p:nvSpPr>
        <p:spPr>
          <a:xfrm xmlns:a="http://schemas.openxmlformats.org/drawingml/2006/main">
            <a:off x="4343400" y="4848225"/>
            <a:ext cx="66675" cy="438150"/>
          </a:xfrm>
          <a:prstGeom xmlns:a="http://schemas.openxmlformats.org/drawingml/2006/main" prst="roundRect">
            <a:avLst>
              <a:gd name="adj" fmla="val 50000"/>
            </a:avLst>
          </a:prstGeom>
          <a:solidFill xmlns:a="http://schemas.openxmlformats.org/drawingml/2006/main">
            <a:srgbClr val="D65C73"/>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1694B29C-B65E-4D98-8A5C-EF5F1768EB06}"/>
              </a:ext>
            </a:extLst>
          </p:cNvPr>
          <p:cNvSpPr>
            <a:spLocks xmlns:a="http://schemas.openxmlformats.org/drawingml/2006/main" noGrp="1"/>
          </p:cNvSpPr>
          <p:nvPr/>
        </p:nvSpPr>
        <p:spPr>
          <a:xfrm xmlns:a="http://schemas.openxmlformats.org/drawingml/2006/main">
            <a:off x="4552950" y="4800600"/>
            <a:ext cx="312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Payment is late or unclear</a:t>
            </a:r>
          </a:p>
        </p:txBody>
      </p:sp>
      <p:sp>
        <p:nvSpPr>
          <p:cNvPr id="47" name="">
            <a:extLst xmlns:a="http://schemas.openxmlformats.org/drawingml/2006/main">
              <a:ext uri="{FF2B5EF4-FFF2-40B4-BE49-F238E27FC236}">
                <a16:creationId xmlns:a16="http://schemas.microsoft.com/office/drawing/2014/main" id="{1E1D0AA8-18BF-498A-A962-2E2EBCE676A9}"/>
              </a:ext>
            </a:extLst>
          </p:cNvPr>
          <p:cNvSpPr>
            <a:spLocks xmlns:a="http://schemas.openxmlformats.org/drawingml/2006/main" noGrp="1"/>
          </p:cNvSpPr>
          <p:nvPr/>
        </p:nvSpPr>
        <p:spPr>
          <a:xfrm xmlns:a="http://schemas.openxmlformats.org/drawingml/2006/main">
            <a:off x="4552950" y="5095875"/>
            <a:ext cx="3124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Reconcile provider state; resolve captured funds that cannot be fulfilled.</a:t>
            </a:r>
          </a:p>
        </p:txBody>
      </p:sp>
      <p:sp>
        <p:nvSpPr>
          <p:cNvPr id="48" name="">
            <a:extLst xmlns:a="http://schemas.openxmlformats.org/drawingml/2006/main">
              <a:ext uri="{FF2B5EF4-FFF2-40B4-BE49-F238E27FC236}">
                <a16:creationId xmlns:a16="http://schemas.microsoft.com/office/drawing/2014/main" id="{CD46CB11-9082-4F90-89A9-D2860D9D9220}"/>
              </a:ext>
            </a:extLst>
          </p:cNvPr>
          <p:cNvSpPr>
            <a:spLocks xmlns:a="http://schemas.openxmlformats.org/drawingml/2006/main" noGrp="1"/>
          </p:cNvSpPr>
          <p:nvPr/>
        </p:nvSpPr>
        <p:spPr>
          <a:xfrm xmlns:a="http://schemas.openxmlformats.org/drawingml/2006/main">
            <a:off x="8077200" y="4848225"/>
            <a:ext cx="66675" cy="438150"/>
          </a:xfrm>
          <a:prstGeom xmlns:a="http://schemas.openxmlformats.org/drawingml/2006/main" prst="roundRect">
            <a:avLst>
              <a:gd name="adj" fmla="val 50000"/>
            </a:avLst>
          </a:prstGeom>
          <a:solidFill xmlns:a="http://schemas.openxmlformats.org/drawingml/2006/main">
            <a:srgbClr val="236D5A"/>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7329DD7E-E00D-470B-884F-5D8601B888A6}"/>
              </a:ext>
            </a:extLst>
          </p:cNvPr>
          <p:cNvSpPr>
            <a:spLocks xmlns:a="http://schemas.openxmlformats.org/drawingml/2006/main" noGrp="1"/>
          </p:cNvSpPr>
          <p:nvPr/>
        </p:nvSpPr>
        <p:spPr>
          <a:xfrm xmlns:a="http://schemas.openxmlformats.org/drawingml/2006/main">
            <a:off x="8286750" y="4800600"/>
            <a:ext cx="312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Portion is missed</a:t>
            </a:r>
          </a:p>
        </p:txBody>
      </p:sp>
      <p:sp>
        <p:nvSpPr>
          <p:cNvPr id="50" name="">
            <a:extLst xmlns:a="http://schemas.openxmlformats.org/drawingml/2006/main">
              <a:ext uri="{FF2B5EF4-FFF2-40B4-BE49-F238E27FC236}">
                <a16:creationId xmlns:a16="http://schemas.microsoft.com/office/drawing/2014/main" id="{EB12401E-EF83-47FD-8DF5-5652D2CBDE6E}"/>
              </a:ext>
            </a:extLst>
          </p:cNvPr>
          <p:cNvSpPr>
            <a:spLocks xmlns:a="http://schemas.openxmlformats.org/drawingml/2006/main" noGrp="1"/>
          </p:cNvSpPr>
          <p:nvPr/>
        </p:nvSpPr>
        <p:spPr>
          <a:xfrm xmlns:a="http://schemas.openxmlformats.org/drawingml/2006/main">
            <a:off x="8286750" y="5095875"/>
            <a:ext cx="3124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Apply the applicable credit policy and preserve the financial event trail.</a:t>
            </a:r>
          </a:p>
        </p:txBody>
      </p:sp>
    </p:spTree>
    <p:extLst>
      <p:ext uri="{BB962C8B-B14F-4D97-AF65-F5344CB8AC3E}">
        <p14:creationId xmlns:p14="http://schemas.microsoft.com/office/powerpoint/2010/main" val="1959725865"/>
      </p:ext>
    </p:extLst>
  </p:cSld>
</p:sld>
</file>

<file path=ppt/slides/slide5.xml><?xml version="1.0" encoding="utf-8"?>
<p:sld xmlns:p="http://schemas.openxmlformats.org/presentationml/2006/main">
  <p:cSld>
    <p:bg>
      <p:bgPr>
        <a:solidFill xmlns:a="http://schemas.openxmlformats.org/drawingml/2006/main">
          <a:srgbClr val="FBF7F4"/>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B7192993-7C12-4745-88F5-15D2FB67744A}"/>
              </a:ext>
            </a:extLst>
          </p:cNvPr>
          <p:cNvSpPr>
            <a:spLocks xmlns:a="http://schemas.openxmlformats.org/drawingml/2006/main" noGrp="1"/>
          </p:cNvSpPr>
          <p:nvPr/>
        </p:nvSpPr>
        <p:spPr>
          <a:xfrm xmlns:a="http://schemas.openxmlformats.org/drawingml/2006/main">
            <a:off x="6096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8E123B"/>
                </a:solidFill>
              </a:defRPr>
            </a:defPPr>
          </a:lstStyle>
          <a:p xmlns:a="http://schemas.openxmlformats.org/drawingml/2006/main">
            <a:pPr>
              <a:defRPr sz="900" b="1">
                <a:solidFill>
                  <a:srgbClr val="8E123B"/>
                </a:solidFill>
              </a:defRPr>
            </a:pPr>
            <a:r>
              <a:rPr sz="900" b="1">
                <a:solidFill>
                  <a:srgbClr val="8E123B"/>
                </a:solidFill>
              </a:rPr>
              <a:t>04 • SYSTEM ARCHITECTURE</a:t>
            </a:r>
          </a:p>
        </p:txBody>
      </p:sp>
      <p:sp>
        <p:nvSpPr>
          <p:cNvPr id="2" name="">
            <a:extLst xmlns:a="http://schemas.openxmlformats.org/drawingml/2006/main">
              <a:ext uri="{FF2B5EF4-FFF2-40B4-BE49-F238E27FC236}">
                <a16:creationId xmlns:a16="http://schemas.microsoft.com/office/drawing/2014/main" id="{AEE7AF54-AE59-42DB-86B8-63B2B66EB22F}"/>
              </a:ext>
            </a:extLst>
          </p:cNvPr>
          <p:cNvSpPr>
            <a:spLocks xmlns:a="http://schemas.openxmlformats.org/drawingml/2006/main" noGrp="1"/>
          </p:cNvSpPr>
          <p:nvPr/>
        </p:nvSpPr>
        <p:spPr>
          <a:xfrm xmlns:a="http://schemas.openxmlformats.org/drawingml/2006/main">
            <a:off x="609600" y="657225"/>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261D21"/>
                </a:solidFill>
              </a:defRPr>
            </a:defPPr>
          </a:lstStyle>
          <a:p xmlns:a="http://schemas.openxmlformats.org/drawingml/2006/main">
            <a:pPr>
              <a:defRPr sz="2550" b="1">
                <a:solidFill>
                  <a:srgbClr val="261D21"/>
                </a:solidFill>
              </a:defRPr>
            </a:pPr>
            <a:r>
              <a:rPr sz="2550" b="1">
                <a:solidFill>
                  <a:srgbClr val="261D21"/>
                </a:solidFill>
              </a:rPr>
              <a:t>A modular monolith, split across two hosts</a:t>
            </a:r>
          </a:p>
        </p:txBody>
      </p:sp>
      <p:sp>
        <p:nvSpPr>
          <p:cNvPr id="3" name="">
            <a:extLst xmlns:a="http://schemas.openxmlformats.org/drawingml/2006/main">
              <a:ext uri="{FF2B5EF4-FFF2-40B4-BE49-F238E27FC236}">
                <a16:creationId xmlns:a16="http://schemas.microsoft.com/office/drawing/2014/main" id="{EB383422-0B19-4AAF-916F-4E04AFB3D6F6}"/>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line">
            <a:avLst/>
          </a:prstGeom>
          <a:noFill xmlns:a="http://schemas.openxmlformats.org/drawingml/2006/main"/>
          <a:ln xmlns:a="http://schemas.openxmlformats.org/drawingml/2006/main" w="9525">
            <a:solidFill>
              <a:srgbClr val="E8DDE0"/>
            </a:solidFill>
            <a:prstDash val="solid"/>
          </a:ln>
        </p:spPr>
      </p:sp>
      <p:sp>
        <p:nvSpPr>
          <p:cNvPr id="4" name="">
            <a:extLst xmlns:a="http://schemas.openxmlformats.org/drawingml/2006/main">
              <a:ext uri="{FF2B5EF4-FFF2-40B4-BE49-F238E27FC236}">
                <a16:creationId xmlns:a16="http://schemas.microsoft.com/office/drawing/2014/main" id="{D7F07BC7-F883-43F2-819E-2020E2EAA8B8}"/>
              </a:ext>
            </a:extLst>
          </p:cNvPr>
          <p:cNvSpPr>
            <a:spLocks xmlns:a="http://schemas.openxmlformats.org/drawingml/2006/main" noGrp="1"/>
          </p:cNvSpPr>
          <p:nvPr/>
        </p:nvSpPr>
        <p:spPr>
          <a:xfrm xmlns:a="http://schemas.openxmlformats.org/drawingml/2006/main">
            <a:off x="609600" y="64579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71656A"/>
                </a:solidFill>
              </a:defRPr>
            </a:defPPr>
          </a:lstStyle>
          <a:p xmlns:a="http://schemas.openxmlformats.org/drawingml/2006/main">
            <a:pPr>
              <a:defRPr sz="825" b="1">
                <a:solidFill>
                  <a:srgbClr val="71656A"/>
                </a:solidFill>
              </a:defRPr>
            </a:pPr>
            <a:r>
              <a:rPr sz="825" b="1">
                <a:solidFill>
                  <a:srgbClr val="71656A"/>
                </a:solidFill>
              </a:rPr>
              <a:t>MINT  /  CAMPUS CANTEEN PICKUP</a:t>
            </a:r>
          </a:p>
        </p:txBody>
      </p:sp>
      <p:sp>
        <p:nvSpPr>
          <p:cNvPr id="5" name="">
            <a:extLst xmlns:a="http://schemas.openxmlformats.org/drawingml/2006/main">
              <a:ext uri="{FF2B5EF4-FFF2-40B4-BE49-F238E27FC236}">
                <a16:creationId xmlns:a16="http://schemas.microsoft.com/office/drawing/2014/main" id="{3F54FCAA-F179-4ABD-8CC9-562BAC1142C6}"/>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71656A"/>
                </a:solidFill>
              </a:defRPr>
            </a:defPPr>
          </a:lstStyle>
          <a:p xmlns:a="http://schemas.openxmlformats.org/drawingml/2006/main">
            <a:pPr algn="r">
              <a:defRPr sz="900" b="1">
                <a:solidFill>
                  <a:srgbClr val="71656A"/>
                </a:solidFill>
              </a:defRPr>
            </a:pPr>
            <a:r>
              <a:rPr sz="900" b="1">
                <a:solidFill>
                  <a:srgbClr val="71656A"/>
                </a:solidFill>
              </a:rPr>
              <a:t>05</a:t>
            </a:r>
          </a:p>
        </p:txBody>
      </p:sp>
      <p:sp>
        <p:nvSpPr>
          <p:cNvPr id="6" name="">
            <a:extLst xmlns:a="http://schemas.openxmlformats.org/drawingml/2006/main">
              <a:ext uri="{FF2B5EF4-FFF2-40B4-BE49-F238E27FC236}">
                <a16:creationId xmlns:a16="http://schemas.microsoft.com/office/drawing/2014/main" id="{AE25861E-C861-4A9C-983F-96C6E66D058D}"/>
              </a:ext>
            </a:extLst>
          </p:cNvPr>
          <p:cNvSpPr>
            <a:spLocks xmlns:a="http://schemas.openxmlformats.org/drawingml/2006/main" noGrp="1"/>
          </p:cNvSpPr>
          <p:nvPr/>
        </p:nvSpPr>
        <p:spPr>
          <a:xfrm xmlns:a="http://schemas.openxmlformats.org/drawingml/2006/main">
            <a:off x="609600" y="1752600"/>
            <a:ext cx="24574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E8DDE0"/>
            </a:solidFill>
            <a:prstDash val="solid"/>
          </a:ln>
        </p:spPr>
      </p:sp>
      <p:sp>
        <p:nvSpPr>
          <p:cNvPr id="7" name="">
            <a:extLst xmlns:a="http://schemas.openxmlformats.org/drawingml/2006/main">
              <a:ext uri="{FF2B5EF4-FFF2-40B4-BE49-F238E27FC236}">
                <a16:creationId xmlns:a16="http://schemas.microsoft.com/office/drawing/2014/main" id="{3F186A60-FBB6-4FF1-B88D-AD7FC252CA26}"/>
              </a:ext>
            </a:extLst>
          </p:cNvPr>
          <p:cNvSpPr>
            <a:spLocks xmlns:a="http://schemas.openxmlformats.org/drawingml/2006/main" noGrp="1"/>
          </p:cNvSpPr>
          <p:nvPr/>
        </p:nvSpPr>
        <p:spPr>
          <a:xfrm xmlns:a="http://schemas.openxmlformats.org/drawingml/2006/main">
            <a:off x="609600" y="1752600"/>
            <a:ext cx="66675" cy="990600"/>
          </a:xfrm>
          <a:prstGeom xmlns:a="http://schemas.openxmlformats.org/drawingml/2006/main" prst="roundRect">
            <a:avLst>
              <a:gd name="adj" fmla="val 50000"/>
            </a:avLst>
          </a:prstGeom>
          <a:solidFill xmlns:a="http://schemas.openxmlformats.org/drawingml/2006/main">
            <a:srgbClr val="D65C7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6A5B373-8F4A-4278-A717-59B945934D7C}"/>
              </a:ext>
            </a:extLst>
          </p:cNvPr>
          <p:cNvSpPr>
            <a:spLocks xmlns:a="http://schemas.openxmlformats.org/drawingml/2006/main" noGrp="1"/>
          </p:cNvSpPr>
          <p:nvPr/>
        </p:nvSpPr>
        <p:spPr>
          <a:xfrm xmlns:a="http://schemas.openxmlformats.org/drawingml/2006/main">
            <a:off x="781050" y="18478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261D21"/>
                </a:solidFill>
              </a:defRPr>
            </a:defPPr>
          </a:lstStyle>
          <a:p xmlns:a="http://schemas.openxmlformats.org/drawingml/2006/main">
            <a:pPr>
              <a:defRPr sz="1275" b="1">
                <a:solidFill>
                  <a:srgbClr val="261D21"/>
                </a:solidFill>
              </a:defRPr>
            </a:pPr>
            <a:r>
              <a:rPr sz="1275" b="1">
                <a:solidFill>
                  <a:srgbClr val="261D21"/>
                </a:solidFill>
              </a:rPr>
              <a:t>Browser / installed PWA</a:t>
            </a:r>
          </a:p>
        </p:txBody>
      </p:sp>
      <p:sp>
        <p:nvSpPr>
          <p:cNvPr id="9" name="">
            <a:extLst xmlns:a="http://schemas.openxmlformats.org/drawingml/2006/main">
              <a:ext uri="{FF2B5EF4-FFF2-40B4-BE49-F238E27FC236}">
                <a16:creationId xmlns:a16="http://schemas.microsoft.com/office/drawing/2014/main" id="{48C282BF-74A1-49DA-8A21-91EC807E32EA}"/>
              </a:ext>
            </a:extLst>
          </p:cNvPr>
          <p:cNvSpPr>
            <a:spLocks xmlns:a="http://schemas.openxmlformats.org/drawingml/2006/main" noGrp="1"/>
          </p:cNvSpPr>
          <p:nvPr/>
        </p:nvSpPr>
        <p:spPr>
          <a:xfrm xmlns:a="http://schemas.openxmlformats.org/drawingml/2006/main">
            <a:off x="781050" y="2152650"/>
            <a:ext cx="2152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71656A"/>
                </a:solidFill>
              </a:defRPr>
            </a:defPPr>
          </a:lstStyle>
          <a:p xmlns:a="http://schemas.openxmlformats.org/drawingml/2006/main">
            <a:pPr>
              <a:defRPr sz="975" b="0">
                <a:solidFill>
                  <a:srgbClr val="71656A"/>
                </a:solidFill>
              </a:defRPr>
            </a:pPr>
            <a:r>
              <a:rPr sz="975" b="0">
                <a:solidFill>
                  <a:srgbClr val="71656A"/>
                </a:solidFill>
              </a:rPr>
              <a:t>React + TypeScript</a:t>
            </a:r>
          </a:p>
        </p:txBody>
      </p:sp>
      <p:sp>
        <p:nvSpPr>
          <p:cNvPr id="10" name="">
            <a:extLst xmlns:a="http://schemas.openxmlformats.org/drawingml/2006/main">
              <a:ext uri="{FF2B5EF4-FFF2-40B4-BE49-F238E27FC236}">
                <a16:creationId xmlns:a16="http://schemas.microsoft.com/office/drawing/2014/main" id="{EA0A4B9F-1315-4D55-8D73-DB04AE6C7581}"/>
              </a:ext>
            </a:extLst>
          </p:cNvPr>
          <p:cNvSpPr>
            <a:spLocks xmlns:a="http://schemas.openxmlformats.org/drawingml/2006/main" noGrp="1"/>
          </p:cNvSpPr>
          <p:nvPr/>
        </p:nvSpPr>
        <p:spPr>
          <a:xfrm xmlns:a="http://schemas.openxmlformats.org/drawingml/2006/main">
            <a:off x="3838575" y="1752600"/>
            <a:ext cx="24574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E8DDE0"/>
            </a:solidFill>
            <a:prstDash val="solid"/>
          </a:ln>
        </p:spPr>
      </p:sp>
      <p:sp>
        <p:nvSpPr>
          <p:cNvPr id="11" name="">
            <a:extLst xmlns:a="http://schemas.openxmlformats.org/drawingml/2006/main">
              <a:ext uri="{FF2B5EF4-FFF2-40B4-BE49-F238E27FC236}">
                <a16:creationId xmlns:a16="http://schemas.microsoft.com/office/drawing/2014/main" id="{B80D0818-A6E8-4CAB-8BD9-7F59377522B5}"/>
              </a:ext>
            </a:extLst>
          </p:cNvPr>
          <p:cNvSpPr>
            <a:spLocks xmlns:a="http://schemas.openxmlformats.org/drawingml/2006/main" noGrp="1"/>
          </p:cNvSpPr>
          <p:nvPr/>
        </p:nvSpPr>
        <p:spPr>
          <a:xfrm xmlns:a="http://schemas.openxmlformats.org/drawingml/2006/main">
            <a:off x="3838575" y="1752600"/>
            <a:ext cx="66675" cy="990600"/>
          </a:xfrm>
          <a:prstGeom xmlns:a="http://schemas.openxmlformats.org/drawingml/2006/main" prst="roundRect">
            <a:avLst>
              <a:gd name="adj" fmla="val 50000"/>
            </a:avLst>
          </a:prstGeom>
          <a:solidFill xmlns:a="http://schemas.openxmlformats.org/drawingml/2006/main">
            <a:srgbClr val="8E123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52FF988-315A-4346-BDAF-8E924F1FCC2C}"/>
              </a:ext>
            </a:extLst>
          </p:cNvPr>
          <p:cNvSpPr>
            <a:spLocks xmlns:a="http://schemas.openxmlformats.org/drawingml/2006/main" noGrp="1"/>
          </p:cNvSpPr>
          <p:nvPr/>
        </p:nvSpPr>
        <p:spPr>
          <a:xfrm xmlns:a="http://schemas.openxmlformats.org/drawingml/2006/main">
            <a:off x="4010025" y="18478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261D21"/>
                </a:solidFill>
              </a:defRPr>
            </a:defPPr>
          </a:lstStyle>
          <a:p xmlns:a="http://schemas.openxmlformats.org/drawingml/2006/main">
            <a:pPr>
              <a:defRPr sz="1275" b="1">
                <a:solidFill>
                  <a:srgbClr val="261D21"/>
                </a:solidFill>
              </a:defRPr>
            </a:pPr>
            <a:r>
              <a:rPr sz="1275" b="1">
                <a:solidFill>
                  <a:srgbClr val="261D21"/>
                </a:solidFill>
              </a:rPr>
              <a:t>Vercel</a:t>
            </a:r>
          </a:p>
        </p:txBody>
      </p:sp>
      <p:sp>
        <p:nvSpPr>
          <p:cNvPr id="13" name="">
            <a:extLst xmlns:a="http://schemas.openxmlformats.org/drawingml/2006/main">
              <a:ext uri="{FF2B5EF4-FFF2-40B4-BE49-F238E27FC236}">
                <a16:creationId xmlns:a16="http://schemas.microsoft.com/office/drawing/2014/main" id="{ACDECCBC-30AC-45B3-9200-E883F0418759}"/>
              </a:ext>
            </a:extLst>
          </p:cNvPr>
          <p:cNvSpPr>
            <a:spLocks xmlns:a="http://schemas.openxmlformats.org/drawingml/2006/main" noGrp="1"/>
          </p:cNvSpPr>
          <p:nvPr/>
        </p:nvSpPr>
        <p:spPr>
          <a:xfrm xmlns:a="http://schemas.openxmlformats.org/drawingml/2006/main">
            <a:off x="4010025" y="2152650"/>
            <a:ext cx="2152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71656A"/>
                </a:solidFill>
              </a:defRPr>
            </a:defPPr>
          </a:lstStyle>
          <a:p xmlns:a="http://schemas.openxmlformats.org/drawingml/2006/main">
            <a:pPr>
              <a:defRPr sz="975" b="0">
                <a:solidFill>
                  <a:srgbClr val="71656A"/>
                </a:solidFill>
              </a:defRPr>
            </a:pPr>
            <a:r>
              <a:rPr sz="975" b="0">
                <a:solidFill>
                  <a:srgbClr val="71656A"/>
                </a:solidFill>
              </a:rPr>
              <a:t>Next.js UI • same-origin API entry</a:t>
            </a:r>
          </a:p>
        </p:txBody>
      </p:sp>
      <p:sp>
        <p:nvSpPr>
          <p:cNvPr id="14" name="">
            <a:extLst xmlns:a="http://schemas.openxmlformats.org/drawingml/2006/main">
              <a:ext uri="{FF2B5EF4-FFF2-40B4-BE49-F238E27FC236}">
                <a16:creationId xmlns:a16="http://schemas.microsoft.com/office/drawing/2014/main" id="{4512D9F2-26AC-49CC-9F74-6DCC73DB6FC6}"/>
              </a:ext>
            </a:extLst>
          </p:cNvPr>
          <p:cNvSpPr>
            <a:spLocks xmlns:a="http://schemas.openxmlformats.org/drawingml/2006/main" noGrp="1"/>
          </p:cNvSpPr>
          <p:nvPr/>
        </p:nvSpPr>
        <p:spPr>
          <a:xfrm xmlns:a="http://schemas.openxmlformats.org/drawingml/2006/main">
            <a:off x="7086600" y="1752600"/>
            <a:ext cx="24574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E8DDE0"/>
            </a:solidFill>
            <a:prstDash val="solid"/>
          </a:ln>
        </p:spPr>
      </p:sp>
      <p:sp>
        <p:nvSpPr>
          <p:cNvPr id="15" name="">
            <a:extLst xmlns:a="http://schemas.openxmlformats.org/drawingml/2006/main">
              <a:ext uri="{FF2B5EF4-FFF2-40B4-BE49-F238E27FC236}">
                <a16:creationId xmlns:a16="http://schemas.microsoft.com/office/drawing/2014/main" id="{7E55715B-CE68-4E48-A839-CF929E7D0490}"/>
              </a:ext>
            </a:extLst>
          </p:cNvPr>
          <p:cNvSpPr>
            <a:spLocks xmlns:a="http://schemas.openxmlformats.org/drawingml/2006/main" noGrp="1"/>
          </p:cNvSpPr>
          <p:nvPr/>
        </p:nvSpPr>
        <p:spPr>
          <a:xfrm xmlns:a="http://schemas.openxmlformats.org/drawingml/2006/main">
            <a:off x="7086600" y="1752600"/>
            <a:ext cx="66675" cy="990600"/>
          </a:xfrm>
          <a:prstGeom xmlns:a="http://schemas.openxmlformats.org/drawingml/2006/main" prst="roundRect">
            <a:avLst>
              <a:gd name="adj" fmla="val 50000"/>
            </a:avLst>
          </a:prstGeom>
          <a:solidFill xmlns:a="http://schemas.openxmlformats.org/drawingml/2006/main">
            <a:srgbClr val="236D5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8F57D1D-ADC6-41BD-95D0-C3F7388576FD}"/>
              </a:ext>
            </a:extLst>
          </p:cNvPr>
          <p:cNvSpPr>
            <a:spLocks xmlns:a="http://schemas.openxmlformats.org/drawingml/2006/main" noGrp="1"/>
          </p:cNvSpPr>
          <p:nvPr/>
        </p:nvSpPr>
        <p:spPr>
          <a:xfrm xmlns:a="http://schemas.openxmlformats.org/drawingml/2006/main">
            <a:off x="7258050" y="18478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261D21"/>
                </a:solidFill>
              </a:defRPr>
            </a:defPPr>
          </a:lstStyle>
          <a:p xmlns:a="http://schemas.openxmlformats.org/drawingml/2006/main">
            <a:pPr>
              <a:defRPr sz="1275" b="1">
                <a:solidFill>
                  <a:srgbClr val="261D21"/>
                </a:solidFill>
              </a:defRPr>
            </a:pPr>
            <a:r>
              <a:rPr sz="1275" b="1">
                <a:solidFill>
                  <a:srgbClr val="261D21"/>
                </a:solidFill>
              </a:rPr>
              <a:t>Render</a:t>
            </a:r>
          </a:p>
        </p:txBody>
      </p:sp>
      <p:sp>
        <p:nvSpPr>
          <p:cNvPr id="17" name="">
            <a:extLst xmlns:a="http://schemas.openxmlformats.org/drawingml/2006/main">
              <a:ext uri="{FF2B5EF4-FFF2-40B4-BE49-F238E27FC236}">
                <a16:creationId xmlns:a16="http://schemas.microsoft.com/office/drawing/2014/main" id="{3AF38E40-1757-44FB-B3EB-F4B9E12CF1D7}"/>
              </a:ext>
            </a:extLst>
          </p:cNvPr>
          <p:cNvSpPr>
            <a:spLocks xmlns:a="http://schemas.openxmlformats.org/drawingml/2006/main" noGrp="1"/>
          </p:cNvSpPr>
          <p:nvPr/>
        </p:nvSpPr>
        <p:spPr>
          <a:xfrm xmlns:a="http://schemas.openxmlformats.org/drawingml/2006/main">
            <a:off x="7258050" y="2152650"/>
            <a:ext cx="2152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71656A"/>
                </a:solidFill>
              </a:defRPr>
            </a:defPPr>
          </a:lstStyle>
          <a:p xmlns:a="http://schemas.openxmlformats.org/drawingml/2006/main">
            <a:pPr>
              <a:defRPr sz="975" b="0">
                <a:solidFill>
                  <a:srgbClr val="71656A"/>
                </a:solidFill>
              </a:defRPr>
            </a:pPr>
            <a:r>
              <a:rPr sz="975" b="0">
                <a:solidFill>
                  <a:srgbClr val="71656A"/>
                </a:solidFill>
              </a:rPr>
              <a:t>Next.js Node API • business modules</a:t>
            </a:r>
          </a:p>
        </p:txBody>
      </p:sp>
      <p:sp>
        <p:nvSpPr>
          <p:cNvPr id="18" name="">
            <a:extLst xmlns:a="http://schemas.openxmlformats.org/drawingml/2006/main">
              <a:ext uri="{FF2B5EF4-FFF2-40B4-BE49-F238E27FC236}">
                <a16:creationId xmlns:a16="http://schemas.microsoft.com/office/drawing/2014/main" id="{571593DA-5320-46C7-A5B3-4756DE3DC027}"/>
              </a:ext>
            </a:extLst>
          </p:cNvPr>
          <p:cNvSpPr>
            <a:spLocks xmlns:a="http://schemas.openxmlformats.org/drawingml/2006/main" noGrp="1"/>
          </p:cNvSpPr>
          <p:nvPr/>
        </p:nvSpPr>
        <p:spPr>
          <a:xfrm xmlns:a="http://schemas.openxmlformats.org/drawingml/2006/main">
            <a:off x="8810625" y="3552825"/>
            <a:ext cx="24574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8DDE0"/>
            </a:solidFill>
            <a:prstDash val="solid"/>
          </a:ln>
        </p:spPr>
      </p:sp>
      <p:sp>
        <p:nvSpPr>
          <p:cNvPr id="19" name="">
            <a:extLst xmlns:a="http://schemas.openxmlformats.org/drawingml/2006/main">
              <a:ext uri="{FF2B5EF4-FFF2-40B4-BE49-F238E27FC236}">
                <a16:creationId xmlns:a16="http://schemas.microsoft.com/office/drawing/2014/main" id="{BD0B4259-93AE-4F13-97BC-CABD5A4BFEE4}"/>
              </a:ext>
            </a:extLst>
          </p:cNvPr>
          <p:cNvSpPr>
            <a:spLocks xmlns:a="http://schemas.openxmlformats.org/drawingml/2006/main" noGrp="1"/>
          </p:cNvSpPr>
          <p:nvPr/>
        </p:nvSpPr>
        <p:spPr>
          <a:xfrm xmlns:a="http://schemas.openxmlformats.org/drawingml/2006/main">
            <a:off x="8810625" y="3552825"/>
            <a:ext cx="66675" cy="1066800"/>
          </a:xfrm>
          <a:prstGeom xmlns:a="http://schemas.openxmlformats.org/drawingml/2006/main" prst="roundRect">
            <a:avLst>
              <a:gd name="adj" fmla="val 50000"/>
            </a:avLst>
          </a:prstGeom>
          <a:solidFill xmlns:a="http://schemas.openxmlformats.org/drawingml/2006/main">
            <a:srgbClr val="8E123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F0959D5-0E36-41AF-8BBA-79940023ACCC}"/>
              </a:ext>
            </a:extLst>
          </p:cNvPr>
          <p:cNvSpPr>
            <a:spLocks xmlns:a="http://schemas.openxmlformats.org/drawingml/2006/main" noGrp="1"/>
          </p:cNvSpPr>
          <p:nvPr/>
        </p:nvSpPr>
        <p:spPr>
          <a:xfrm xmlns:a="http://schemas.openxmlformats.org/drawingml/2006/main">
            <a:off x="8982075" y="3648075"/>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261D21"/>
                </a:solidFill>
              </a:defRPr>
            </a:defPPr>
          </a:lstStyle>
          <a:p xmlns:a="http://schemas.openxmlformats.org/drawingml/2006/main">
            <a:pPr>
              <a:defRPr sz="1275" b="1">
                <a:solidFill>
                  <a:srgbClr val="261D21"/>
                </a:solidFill>
              </a:defRPr>
            </a:pPr>
            <a:r>
              <a:rPr sz="1275" b="1">
                <a:solidFill>
                  <a:srgbClr val="261D21"/>
                </a:solidFill>
              </a:rPr>
              <a:t>Supabase</a:t>
            </a:r>
          </a:p>
        </p:txBody>
      </p:sp>
      <p:sp>
        <p:nvSpPr>
          <p:cNvPr id="21" name="">
            <a:extLst xmlns:a="http://schemas.openxmlformats.org/drawingml/2006/main">
              <a:ext uri="{FF2B5EF4-FFF2-40B4-BE49-F238E27FC236}">
                <a16:creationId xmlns:a16="http://schemas.microsoft.com/office/drawing/2014/main" id="{921D2E30-1CA1-411B-82B3-C0C4443407F7}"/>
              </a:ext>
            </a:extLst>
          </p:cNvPr>
          <p:cNvSpPr>
            <a:spLocks xmlns:a="http://schemas.openxmlformats.org/drawingml/2006/main" noGrp="1"/>
          </p:cNvSpPr>
          <p:nvPr/>
        </p:nvSpPr>
        <p:spPr>
          <a:xfrm xmlns:a="http://schemas.openxmlformats.org/drawingml/2006/main">
            <a:off x="8982075" y="3952875"/>
            <a:ext cx="2152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71656A"/>
                </a:solidFill>
              </a:defRPr>
            </a:defPPr>
          </a:lstStyle>
          <a:p xmlns:a="http://schemas.openxmlformats.org/drawingml/2006/main">
            <a:pPr>
              <a:defRPr sz="975" b="0">
                <a:solidFill>
                  <a:srgbClr val="71656A"/>
                </a:solidFill>
              </a:defRPr>
            </a:pPr>
            <a:r>
              <a:rPr sz="975" b="0">
                <a:solidFill>
                  <a:srgbClr val="71656A"/>
                </a:solidFill>
              </a:rPr>
              <a:t>PostgreSQL in private mint schema</a:t>
            </a:r>
          </a:p>
        </p:txBody>
      </p:sp>
      <p:sp>
        <p:nvSpPr>
          <p:cNvPr id="22" name="">
            <a:extLst xmlns:a="http://schemas.openxmlformats.org/drawingml/2006/main">
              <a:ext uri="{FF2B5EF4-FFF2-40B4-BE49-F238E27FC236}">
                <a16:creationId xmlns:a16="http://schemas.microsoft.com/office/drawing/2014/main" id="{B6D514A7-F6C9-4CCD-AA8D-E812211268C8}"/>
              </a:ext>
            </a:extLst>
          </p:cNvPr>
          <p:cNvSpPr>
            <a:spLocks xmlns:a="http://schemas.openxmlformats.org/drawingml/2006/main" noGrp="1"/>
          </p:cNvSpPr>
          <p:nvPr/>
        </p:nvSpPr>
        <p:spPr>
          <a:xfrm xmlns:a="http://schemas.openxmlformats.org/drawingml/2006/main">
            <a:off x="5524500" y="3552825"/>
            <a:ext cx="24574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8DDE0"/>
            </a:solidFill>
            <a:prstDash val="solid"/>
          </a:ln>
        </p:spPr>
      </p:sp>
      <p:sp>
        <p:nvSpPr>
          <p:cNvPr id="23" name="">
            <a:extLst xmlns:a="http://schemas.openxmlformats.org/drawingml/2006/main">
              <a:ext uri="{FF2B5EF4-FFF2-40B4-BE49-F238E27FC236}">
                <a16:creationId xmlns:a16="http://schemas.microsoft.com/office/drawing/2014/main" id="{FCC6D82D-0337-448D-BA81-A3DA69E2F706}"/>
              </a:ext>
            </a:extLst>
          </p:cNvPr>
          <p:cNvSpPr>
            <a:spLocks xmlns:a="http://schemas.openxmlformats.org/drawingml/2006/main" noGrp="1"/>
          </p:cNvSpPr>
          <p:nvPr/>
        </p:nvSpPr>
        <p:spPr>
          <a:xfrm xmlns:a="http://schemas.openxmlformats.org/drawingml/2006/main">
            <a:off x="5524500" y="3552825"/>
            <a:ext cx="66675" cy="1066800"/>
          </a:xfrm>
          <a:prstGeom xmlns:a="http://schemas.openxmlformats.org/drawingml/2006/main" prst="roundRect">
            <a:avLst>
              <a:gd name="adj" fmla="val 50000"/>
            </a:avLst>
          </a:prstGeom>
          <a:solidFill xmlns:a="http://schemas.openxmlformats.org/drawingml/2006/main">
            <a:srgbClr val="D65C7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754DF7E-853A-4E9C-A5D3-636C624218CA}"/>
              </a:ext>
            </a:extLst>
          </p:cNvPr>
          <p:cNvSpPr>
            <a:spLocks xmlns:a="http://schemas.openxmlformats.org/drawingml/2006/main" noGrp="1"/>
          </p:cNvSpPr>
          <p:nvPr/>
        </p:nvSpPr>
        <p:spPr>
          <a:xfrm xmlns:a="http://schemas.openxmlformats.org/drawingml/2006/main">
            <a:off x="5695950" y="3648075"/>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261D21"/>
                </a:solidFill>
              </a:defRPr>
            </a:defPPr>
          </a:lstStyle>
          <a:p xmlns:a="http://schemas.openxmlformats.org/drawingml/2006/main">
            <a:pPr>
              <a:defRPr sz="1275" b="1">
                <a:solidFill>
                  <a:srgbClr val="261D21"/>
                </a:solidFill>
              </a:defRPr>
            </a:pPr>
            <a:r>
              <a:rPr sz="1275" b="1">
                <a:solidFill>
                  <a:srgbClr val="261D21"/>
                </a:solidFill>
              </a:rPr>
              <a:t>Razorpay</a:t>
            </a:r>
          </a:p>
        </p:txBody>
      </p:sp>
      <p:sp>
        <p:nvSpPr>
          <p:cNvPr id="25" name="">
            <a:extLst xmlns:a="http://schemas.openxmlformats.org/drawingml/2006/main">
              <a:ext uri="{FF2B5EF4-FFF2-40B4-BE49-F238E27FC236}">
                <a16:creationId xmlns:a16="http://schemas.microsoft.com/office/drawing/2014/main" id="{75ABF166-8C91-4C4B-85CD-3A9893C2BB69}"/>
              </a:ext>
            </a:extLst>
          </p:cNvPr>
          <p:cNvSpPr>
            <a:spLocks xmlns:a="http://schemas.openxmlformats.org/drawingml/2006/main" noGrp="1"/>
          </p:cNvSpPr>
          <p:nvPr/>
        </p:nvSpPr>
        <p:spPr>
          <a:xfrm xmlns:a="http://schemas.openxmlformats.org/drawingml/2006/main">
            <a:off x="5695950" y="3952875"/>
            <a:ext cx="2152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71656A"/>
                </a:solidFill>
              </a:defRPr>
            </a:defPPr>
          </a:lstStyle>
          <a:p xmlns:a="http://schemas.openxmlformats.org/drawingml/2006/main">
            <a:pPr>
              <a:defRPr sz="975" b="0">
                <a:solidFill>
                  <a:srgbClr val="71656A"/>
                </a:solidFill>
              </a:defRPr>
            </a:pPr>
            <a:r>
              <a:rPr sz="975" b="0">
                <a:solidFill>
                  <a:srgbClr val="71656A"/>
                </a:solidFill>
              </a:rPr>
              <a:t>Hosted checkout • payment provider</a:t>
            </a:r>
          </a:p>
        </p:txBody>
      </p:sp>
      <p:sp>
        <p:nvSpPr>
          <p:cNvPr id="26" name="">
            <a:extLst xmlns:a="http://schemas.openxmlformats.org/drawingml/2006/main">
              <a:ext uri="{FF2B5EF4-FFF2-40B4-BE49-F238E27FC236}">
                <a16:creationId xmlns:a16="http://schemas.microsoft.com/office/drawing/2014/main" id="{647FC18B-4C98-4F6F-B9F6-81EBF453F368}"/>
              </a:ext>
            </a:extLst>
          </p:cNvPr>
          <p:cNvSpPr>
            <a:spLocks xmlns:a="http://schemas.openxmlformats.org/drawingml/2006/main" noGrp="1"/>
          </p:cNvSpPr>
          <p:nvPr/>
        </p:nvSpPr>
        <p:spPr>
          <a:xfrm xmlns:a="http://schemas.openxmlformats.org/drawingml/2006/main">
            <a:off x="609600" y="3552825"/>
            <a:ext cx="24574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8DDE0"/>
            </a:solidFill>
            <a:prstDash val="solid"/>
          </a:ln>
        </p:spPr>
      </p:sp>
      <p:sp>
        <p:nvSpPr>
          <p:cNvPr id="27" name="">
            <a:extLst xmlns:a="http://schemas.openxmlformats.org/drawingml/2006/main">
              <a:ext uri="{FF2B5EF4-FFF2-40B4-BE49-F238E27FC236}">
                <a16:creationId xmlns:a16="http://schemas.microsoft.com/office/drawing/2014/main" id="{742B2962-8AEC-43A6-BD86-FE3F5F037717}"/>
              </a:ext>
            </a:extLst>
          </p:cNvPr>
          <p:cNvSpPr>
            <a:spLocks xmlns:a="http://schemas.openxmlformats.org/drawingml/2006/main" noGrp="1"/>
          </p:cNvSpPr>
          <p:nvPr/>
        </p:nvSpPr>
        <p:spPr>
          <a:xfrm xmlns:a="http://schemas.openxmlformats.org/drawingml/2006/main">
            <a:off x="609600" y="3552825"/>
            <a:ext cx="66675" cy="1066800"/>
          </a:xfrm>
          <a:prstGeom xmlns:a="http://schemas.openxmlformats.org/drawingml/2006/main" prst="roundRect">
            <a:avLst>
              <a:gd name="adj" fmla="val 50000"/>
            </a:avLst>
          </a:prstGeom>
          <a:solidFill xmlns:a="http://schemas.openxmlformats.org/drawingml/2006/main">
            <a:srgbClr val="236D5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9571C0B-2127-45EA-89FC-AF0E7F6D1120}"/>
              </a:ext>
            </a:extLst>
          </p:cNvPr>
          <p:cNvSpPr>
            <a:spLocks xmlns:a="http://schemas.openxmlformats.org/drawingml/2006/main" noGrp="1"/>
          </p:cNvSpPr>
          <p:nvPr/>
        </p:nvSpPr>
        <p:spPr>
          <a:xfrm xmlns:a="http://schemas.openxmlformats.org/drawingml/2006/main">
            <a:off x="781050" y="3648075"/>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261D21"/>
                </a:solidFill>
              </a:defRPr>
            </a:defPPr>
          </a:lstStyle>
          <a:p xmlns:a="http://schemas.openxmlformats.org/drawingml/2006/main">
            <a:pPr>
              <a:defRPr sz="1275" b="1">
                <a:solidFill>
                  <a:srgbClr val="261D21"/>
                </a:solidFill>
              </a:defRPr>
            </a:pPr>
            <a:r>
              <a:rPr sz="1275" b="1">
                <a:solidFill>
                  <a:srgbClr val="261D21"/>
                </a:solidFill>
              </a:rPr>
              <a:t>Supabase Auth</a:t>
            </a:r>
          </a:p>
        </p:txBody>
      </p:sp>
      <p:sp>
        <p:nvSpPr>
          <p:cNvPr id="29" name="">
            <a:extLst xmlns:a="http://schemas.openxmlformats.org/drawingml/2006/main">
              <a:ext uri="{FF2B5EF4-FFF2-40B4-BE49-F238E27FC236}">
                <a16:creationId xmlns:a16="http://schemas.microsoft.com/office/drawing/2014/main" id="{1EF4F673-A0F8-453D-B63B-A04074E9F536}"/>
              </a:ext>
            </a:extLst>
          </p:cNvPr>
          <p:cNvSpPr>
            <a:spLocks xmlns:a="http://schemas.openxmlformats.org/drawingml/2006/main" noGrp="1"/>
          </p:cNvSpPr>
          <p:nvPr/>
        </p:nvSpPr>
        <p:spPr>
          <a:xfrm xmlns:a="http://schemas.openxmlformats.org/drawingml/2006/main">
            <a:off x="781050" y="3952875"/>
            <a:ext cx="2152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71656A"/>
                </a:solidFill>
              </a:defRPr>
            </a:defPPr>
          </a:lstStyle>
          <a:p xmlns:a="http://schemas.openxmlformats.org/drawingml/2006/main">
            <a:pPr>
              <a:defRPr sz="975" b="0">
                <a:solidFill>
                  <a:srgbClr val="71656A"/>
                </a:solidFill>
              </a:defRPr>
            </a:pPr>
            <a:r>
              <a:rPr sz="975" b="0">
                <a:solidFill>
                  <a:srgbClr val="71656A"/>
                </a:solidFill>
              </a:rPr>
              <a:t>OTP + verified user sessions</a:t>
            </a:r>
          </a:p>
        </p:txBody>
      </p:sp>
      <p:sp>
        <p:nvSpPr>
          <p:cNvPr id="30" name="">
            <a:extLst xmlns:a="http://schemas.openxmlformats.org/drawingml/2006/main">
              <a:ext uri="{FF2B5EF4-FFF2-40B4-BE49-F238E27FC236}">
                <a16:creationId xmlns:a16="http://schemas.microsoft.com/office/drawing/2014/main" id="{197C9D31-05F8-48AD-9A31-2BA79FB92767}"/>
              </a:ext>
            </a:extLst>
          </p:cNvPr>
          <p:cNvSpPr>
            <a:spLocks xmlns:a="http://schemas.openxmlformats.org/drawingml/2006/main" noGrp="1"/>
          </p:cNvSpPr>
          <p:nvPr/>
        </p:nvSpPr>
        <p:spPr>
          <a:xfrm xmlns:a="http://schemas.openxmlformats.org/drawingml/2006/main">
            <a:off x="3067050" y="2247900"/>
            <a:ext cx="771525" cy="9525"/>
          </a:xfrm>
          <a:prstGeom xmlns:a="http://schemas.openxmlformats.org/drawingml/2006/main" prst="line">
            <a:avLst/>
          </a:prstGeom>
          <a:noFill xmlns:a="http://schemas.openxmlformats.org/drawingml/2006/main"/>
          <a:ln xmlns:a="http://schemas.openxmlformats.org/drawingml/2006/main" w="28575">
            <a:solidFill>
              <a:srgbClr val="8E123B"/>
            </a:solidFill>
            <a:prstDash val="solid"/>
          </a:ln>
        </p:spPr>
      </p:sp>
      <p:sp>
        <p:nvSpPr>
          <p:cNvPr id="31" name="">
            <a:extLst xmlns:a="http://schemas.openxmlformats.org/drawingml/2006/main">
              <a:ext uri="{FF2B5EF4-FFF2-40B4-BE49-F238E27FC236}">
                <a16:creationId xmlns:a16="http://schemas.microsoft.com/office/drawing/2014/main" id="{7352EDF4-734F-4940-8BED-9F52F2D90529}"/>
              </a:ext>
            </a:extLst>
          </p:cNvPr>
          <p:cNvSpPr>
            <a:spLocks xmlns:a="http://schemas.openxmlformats.org/drawingml/2006/main" noGrp="1"/>
          </p:cNvSpPr>
          <p:nvPr/>
        </p:nvSpPr>
        <p:spPr>
          <a:xfrm xmlns:a="http://schemas.openxmlformats.org/drawingml/2006/main">
            <a:off x="3171825" y="1952625"/>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71656A"/>
                </a:solidFill>
              </a:defRPr>
            </a:defPPr>
          </a:lstStyle>
          <a:p xmlns:a="http://schemas.openxmlformats.org/drawingml/2006/main">
            <a:pPr>
              <a:defRPr sz="900" b="1">
                <a:solidFill>
                  <a:srgbClr val="71656A"/>
                </a:solidFill>
              </a:defRPr>
            </a:pPr>
            <a:r>
              <a:rPr sz="900" b="1">
                <a:solidFill>
                  <a:srgbClr val="71656A"/>
                </a:solidFill>
              </a:rPr>
              <a:t>HTTPS</a:t>
            </a:r>
          </a:p>
        </p:txBody>
      </p:sp>
      <p:sp>
        <p:nvSpPr>
          <p:cNvPr id="32" name="">
            <a:extLst xmlns:a="http://schemas.openxmlformats.org/drawingml/2006/main">
              <a:ext uri="{FF2B5EF4-FFF2-40B4-BE49-F238E27FC236}">
                <a16:creationId xmlns:a16="http://schemas.microsoft.com/office/drawing/2014/main" id="{C500B344-3235-4BDB-97A6-7DA3B73C0B94}"/>
              </a:ext>
            </a:extLst>
          </p:cNvPr>
          <p:cNvSpPr>
            <a:spLocks xmlns:a="http://schemas.openxmlformats.org/drawingml/2006/main" noGrp="1"/>
          </p:cNvSpPr>
          <p:nvPr/>
        </p:nvSpPr>
        <p:spPr>
          <a:xfrm xmlns:a="http://schemas.openxmlformats.org/drawingml/2006/main">
            <a:off x="6296025" y="2247900"/>
            <a:ext cx="790575" cy="9525"/>
          </a:xfrm>
          <a:prstGeom xmlns:a="http://schemas.openxmlformats.org/drawingml/2006/main" prst="line">
            <a:avLst/>
          </a:prstGeom>
          <a:noFill xmlns:a="http://schemas.openxmlformats.org/drawingml/2006/main"/>
          <a:ln xmlns:a="http://schemas.openxmlformats.org/drawingml/2006/main" w="28575">
            <a:solidFill>
              <a:srgbClr val="8E123B"/>
            </a:solidFill>
            <a:prstDash val="solid"/>
          </a:ln>
        </p:spPr>
      </p:sp>
      <p:sp>
        <p:nvSpPr>
          <p:cNvPr id="33" name="">
            <a:extLst xmlns:a="http://schemas.openxmlformats.org/drawingml/2006/main">
              <a:ext uri="{FF2B5EF4-FFF2-40B4-BE49-F238E27FC236}">
                <a16:creationId xmlns:a16="http://schemas.microsoft.com/office/drawing/2014/main" id="{AD0760FE-36E3-4766-9101-AE85771C7E75}"/>
              </a:ext>
            </a:extLst>
          </p:cNvPr>
          <p:cNvSpPr>
            <a:spLocks xmlns:a="http://schemas.openxmlformats.org/drawingml/2006/main" noGrp="1"/>
          </p:cNvSpPr>
          <p:nvPr/>
        </p:nvSpPr>
        <p:spPr>
          <a:xfrm xmlns:a="http://schemas.openxmlformats.org/drawingml/2006/main">
            <a:off x="6362700" y="195262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71656A"/>
                </a:solidFill>
              </a:defRPr>
            </a:defPPr>
          </a:lstStyle>
          <a:p xmlns:a="http://schemas.openxmlformats.org/drawingml/2006/main">
            <a:pPr>
              <a:defRPr sz="900" b="1">
                <a:solidFill>
                  <a:srgbClr val="71656A"/>
                </a:solidFill>
              </a:defRPr>
            </a:pPr>
            <a:r>
              <a:rPr sz="900" b="1">
                <a:solidFill>
                  <a:srgbClr val="71656A"/>
                </a:solidFill>
              </a:rPr>
              <a:t>/api/* rewrite</a:t>
            </a:r>
          </a:p>
        </p:txBody>
      </p:sp>
      <p:sp>
        <p:nvSpPr>
          <p:cNvPr id="34" name="">
            <a:extLst xmlns:a="http://schemas.openxmlformats.org/drawingml/2006/main">
              <a:ext uri="{FF2B5EF4-FFF2-40B4-BE49-F238E27FC236}">
                <a16:creationId xmlns:a16="http://schemas.microsoft.com/office/drawing/2014/main" id="{8BA71CE3-031A-44CC-9DAE-248B23094B7B}"/>
              </a:ext>
            </a:extLst>
          </p:cNvPr>
          <p:cNvSpPr>
            <a:spLocks xmlns:a="http://schemas.openxmlformats.org/drawingml/2006/main" noGrp="1"/>
          </p:cNvSpPr>
          <p:nvPr/>
        </p:nvSpPr>
        <p:spPr>
          <a:xfrm xmlns:a="http://schemas.openxmlformats.org/drawingml/2006/main">
            <a:off x="8305800" y="2743200"/>
            <a:ext cx="1314450" cy="809625"/>
          </a:xfrm>
          <a:prstGeom xmlns:a="http://schemas.openxmlformats.org/drawingml/2006/main" prst="line">
            <a:avLst/>
          </a:prstGeom>
          <a:noFill xmlns:a="http://schemas.openxmlformats.org/drawingml/2006/main"/>
          <a:ln xmlns:a="http://schemas.openxmlformats.org/drawingml/2006/main" w="19050">
            <a:solidFill>
              <a:srgbClr val="236D5A"/>
            </a:solidFill>
            <a:prstDash val="solid"/>
          </a:ln>
        </p:spPr>
      </p:sp>
      <p:sp>
        <p:nvSpPr>
          <p:cNvPr id="35" name="">
            <a:extLst xmlns:a="http://schemas.openxmlformats.org/drawingml/2006/main">
              <a:ext uri="{FF2B5EF4-FFF2-40B4-BE49-F238E27FC236}">
                <a16:creationId xmlns:a16="http://schemas.microsoft.com/office/drawing/2014/main" id="{A4E0B2D8-CD28-40CF-8FE6-9074E46729F6}"/>
              </a:ext>
            </a:extLst>
          </p:cNvPr>
          <p:cNvSpPr>
            <a:spLocks xmlns:a="http://schemas.openxmlformats.org/drawingml/2006/main" noGrp="1"/>
          </p:cNvSpPr>
          <p:nvPr/>
        </p:nvSpPr>
        <p:spPr>
          <a:xfrm xmlns:a="http://schemas.openxmlformats.org/drawingml/2006/main">
            <a:off x="8248650" y="30003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71656A"/>
                </a:solidFill>
              </a:defRPr>
            </a:defPPr>
          </a:lstStyle>
          <a:p xmlns:a="http://schemas.openxmlformats.org/drawingml/2006/main">
            <a:pPr>
              <a:defRPr sz="900" b="1">
                <a:solidFill>
                  <a:srgbClr val="71656A"/>
                </a:solidFill>
              </a:defRPr>
            </a:pPr>
            <a:r>
              <a:rPr sz="900" b="1">
                <a:solidFill>
                  <a:srgbClr val="71656A"/>
                </a:solidFill>
              </a:rPr>
              <a:t>SQL over verified TLS</a:t>
            </a:r>
          </a:p>
        </p:txBody>
      </p:sp>
      <p:sp>
        <p:nvSpPr>
          <p:cNvPr id="36" name="">
            <a:extLst xmlns:a="http://schemas.openxmlformats.org/drawingml/2006/main">
              <a:ext uri="{FF2B5EF4-FFF2-40B4-BE49-F238E27FC236}">
                <a16:creationId xmlns:a16="http://schemas.microsoft.com/office/drawing/2014/main" id="{76E73BE1-5781-46D2-A0ED-760307BE865D}"/>
              </a:ext>
            </a:extLst>
          </p:cNvPr>
          <p:cNvSpPr>
            <a:spLocks xmlns:a="http://schemas.openxmlformats.org/drawingml/2006/main" noGrp="1"/>
          </p:cNvSpPr>
          <p:nvPr/>
        </p:nvSpPr>
        <p:spPr>
          <a:xfrm xmlns:a="http://schemas.openxmlformats.org/drawingml/2006/main">
            <a:off x="6962775" y="2590800"/>
            <a:ext cx="123825" cy="962025"/>
          </a:xfrm>
          <a:prstGeom xmlns:a="http://schemas.openxmlformats.org/drawingml/2006/main" prst="line">
            <a:avLst/>
          </a:prstGeom>
          <a:noFill xmlns:a="http://schemas.openxmlformats.org/drawingml/2006/main"/>
          <a:ln xmlns:a="http://schemas.openxmlformats.org/drawingml/2006/main" w="19050">
            <a:solidFill>
              <a:srgbClr val="D65C73"/>
            </a:solidFill>
            <a:prstDash val="solid"/>
          </a:ln>
        </p:spPr>
      </p:sp>
      <p:sp>
        <p:nvSpPr>
          <p:cNvPr id="37" name="">
            <a:extLst xmlns:a="http://schemas.openxmlformats.org/drawingml/2006/main">
              <a:ext uri="{FF2B5EF4-FFF2-40B4-BE49-F238E27FC236}">
                <a16:creationId xmlns:a16="http://schemas.microsoft.com/office/drawing/2014/main" id="{CDEA749F-CB6F-415A-BD01-61F513640AD4}"/>
              </a:ext>
            </a:extLst>
          </p:cNvPr>
          <p:cNvSpPr>
            <a:spLocks xmlns:a="http://schemas.openxmlformats.org/drawingml/2006/main" noGrp="1"/>
          </p:cNvSpPr>
          <p:nvPr/>
        </p:nvSpPr>
        <p:spPr>
          <a:xfrm xmlns:a="http://schemas.openxmlformats.org/drawingml/2006/main">
            <a:off x="6877050" y="3009900"/>
            <a:ext cx="914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71656A"/>
                </a:solidFill>
              </a:defRPr>
            </a:defPPr>
          </a:lstStyle>
          <a:p xmlns:a="http://schemas.openxmlformats.org/drawingml/2006/main">
            <a:pPr>
              <a:defRPr sz="900" b="1">
                <a:solidFill>
                  <a:srgbClr val="71656A"/>
                </a:solidFill>
              </a:defRPr>
            </a:pPr>
            <a:r>
              <a:rPr sz="900" b="1">
                <a:solidFill>
                  <a:srgbClr val="71656A"/>
                </a:solidFill>
              </a:rPr>
              <a:t>REST calls</a:t>
            </a:r>
          </a:p>
        </p:txBody>
      </p:sp>
      <p:sp>
        <p:nvSpPr>
          <p:cNvPr id="38" name="">
            <a:extLst xmlns:a="http://schemas.openxmlformats.org/drawingml/2006/main">
              <a:ext uri="{FF2B5EF4-FFF2-40B4-BE49-F238E27FC236}">
                <a16:creationId xmlns:a16="http://schemas.microsoft.com/office/drawing/2014/main" id="{7034651A-E228-4379-80DB-6D0769E91A7B}"/>
              </a:ext>
            </a:extLst>
          </p:cNvPr>
          <p:cNvSpPr>
            <a:spLocks xmlns:a="http://schemas.openxmlformats.org/drawingml/2006/main" noGrp="1"/>
          </p:cNvSpPr>
          <p:nvPr/>
        </p:nvSpPr>
        <p:spPr>
          <a:xfrm xmlns:a="http://schemas.openxmlformats.org/drawingml/2006/main">
            <a:off x="1809750" y="2743200"/>
            <a:ext cx="762000" cy="809625"/>
          </a:xfrm>
          <a:prstGeom xmlns:a="http://schemas.openxmlformats.org/drawingml/2006/main" prst="line">
            <a:avLst/>
          </a:prstGeom>
          <a:noFill xmlns:a="http://schemas.openxmlformats.org/drawingml/2006/main"/>
          <a:ln xmlns:a="http://schemas.openxmlformats.org/drawingml/2006/main" w="19050">
            <a:solidFill>
              <a:srgbClr val="236D5A"/>
            </a:solidFill>
            <a:prstDash val="solid"/>
          </a:ln>
        </p:spPr>
      </p:sp>
      <p:sp>
        <p:nvSpPr>
          <p:cNvPr id="39" name="">
            <a:extLst xmlns:a="http://schemas.openxmlformats.org/drawingml/2006/main">
              <a:ext uri="{FF2B5EF4-FFF2-40B4-BE49-F238E27FC236}">
                <a16:creationId xmlns:a16="http://schemas.microsoft.com/office/drawing/2014/main" id="{9F837901-28A6-418E-9714-34D39C0EB30C}"/>
              </a:ext>
            </a:extLst>
          </p:cNvPr>
          <p:cNvSpPr>
            <a:spLocks xmlns:a="http://schemas.openxmlformats.org/drawingml/2006/main" noGrp="1"/>
          </p:cNvSpPr>
          <p:nvPr/>
        </p:nvSpPr>
        <p:spPr>
          <a:xfrm xmlns:a="http://schemas.openxmlformats.org/drawingml/2006/main">
            <a:off x="2066925" y="300037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71656A"/>
                </a:solidFill>
              </a:defRPr>
            </a:defPPr>
          </a:lstStyle>
          <a:p xmlns:a="http://schemas.openxmlformats.org/drawingml/2006/main">
            <a:pPr>
              <a:defRPr sz="900" b="1">
                <a:solidFill>
                  <a:srgbClr val="71656A"/>
                </a:solidFill>
              </a:defRPr>
            </a:pPr>
            <a:r>
              <a:rPr sz="900" b="1">
                <a:solidFill>
                  <a:srgbClr val="71656A"/>
                </a:solidFill>
              </a:rPr>
              <a:t>session validation</a:t>
            </a:r>
          </a:p>
        </p:txBody>
      </p:sp>
      <p:sp>
        <p:nvSpPr>
          <p:cNvPr id="40" name="">
            <a:extLst xmlns:a="http://schemas.openxmlformats.org/drawingml/2006/main">
              <a:ext uri="{FF2B5EF4-FFF2-40B4-BE49-F238E27FC236}">
                <a16:creationId xmlns:a16="http://schemas.microsoft.com/office/drawing/2014/main" id="{5E36217B-B2D6-44B5-A36B-B51F0C55B9E1}"/>
              </a:ext>
            </a:extLst>
          </p:cNvPr>
          <p:cNvSpPr>
            <a:spLocks xmlns:a="http://schemas.openxmlformats.org/drawingml/2006/main" noGrp="1"/>
          </p:cNvSpPr>
          <p:nvPr/>
        </p:nvSpPr>
        <p:spPr>
          <a:xfrm xmlns:a="http://schemas.openxmlformats.org/drawingml/2006/main">
            <a:off x="3810000" y="4772025"/>
            <a:ext cx="4572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8E123B"/>
                </a:solidFill>
              </a:defRPr>
            </a:defPPr>
          </a:lstStyle>
          <a:p xmlns:a="http://schemas.openxmlformats.org/drawingml/2006/main">
            <a:pPr algn="ctr">
              <a:defRPr sz="1050" b="1">
                <a:solidFill>
                  <a:srgbClr val="8E123B"/>
                </a:solidFill>
              </a:defRPr>
            </a:pPr>
            <a:r>
              <a:rPr sz="1050" b="1">
                <a:solidFill>
                  <a:srgbClr val="8E123B"/>
                </a:solidFill>
              </a:rPr>
              <a:t>Webhook return: Razorpay → Vercel /api → Render</a:t>
            </a:r>
          </a:p>
        </p:txBody>
      </p:sp>
      <p:sp>
        <p:nvSpPr>
          <p:cNvPr id="41" name="">
            <a:extLst xmlns:a="http://schemas.openxmlformats.org/drawingml/2006/main">
              <a:ext uri="{FF2B5EF4-FFF2-40B4-BE49-F238E27FC236}">
                <a16:creationId xmlns:a16="http://schemas.microsoft.com/office/drawing/2014/main" id="{D19270A2-2833-4BAF-BCDA-D22989AA8E18}"/>
              </a:ext>
            </a:extLst>
          </p:cNvPr>
          <p:cNvSpPr>
            <a:spLocks xmlns:a="http://schemas.openxmlformats.org/drawingml/2006/main" noGrp="1"/>
          </p:cNvSpPr>
          <p:nvPr/>
        </p:nvSpPr>
        <p:spPr>
          <a:xfrm xmlns:a="http://schemas.openxmlformats.org/drawingml/2006/main">
            <a:off x="609600" y="5181600"/>
            <a:ext cx="10972800" cy="685800"/>
          </a:xfrm>
          <a:prstGeom xmlns:a="http://schemas.openxmlformats.org/drawingml/2006/main" prst="roundRect">
            <a:avLst>
              <a:gd name="adj" fmla="val 11111"/>
            </a:avLst>
          </a:prstGeom>
          <a:solidFill xmlns:a="http://schemas.openxmlformats.org/drawingml/2006/main">
            <a:srgbClr val="F3E2E6"/>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A1426273-210E-4B80-B9D7-FAAB760B1A49}"/>
              </a:ext>
            </a:extLst>
          </p:cNvPr>
          <p:cNvSpPr>
            <a:spLocks xmlns:a="http://schemas.openxmlformats.org/drawingml/2006/main" noGrp="1"/>
          </p:cNvSpPr>
          <p:nvPr/>
        </p:nvSpPr>
        <p:spPr>
          <a:xfrm xmlns:a="http://schemas.openxmlformats.org/drawingml/2006/main">
            <a:off x="800100" y="53149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8E123B"/>
                </a:solidFill>
              </a:defRPr>
            </a:defPPr>
          </a:lstStyle>
          <a:p xmlns:a="http://schemas.openxmlformats.org/drawingml/2006/main">
            <a:pPr>
              <a:defRPr sz="1125" b="1">
                <a:solidFill>
                  <a:srgbClr val="8E123B"/>
                </a:solidFill>
              </a:defRPr>
            </a:pPr>
            <a:r>
              <a:rPr sz="1125" b="1">
                <a:solidFill>
                  <a:srgbClr val="8E123B"/>
                </a:solidFill>
              </a:rPr>
              <a:t>Scheduled work</a:t>
            </a:r>
          </a:p>
        </p:txBody>
      </p:sp>
      <p:sp>
        <p:nvSpPr>
          <p:cNvPr id="43" name="">
            <a:extLst xmlns:a="http://schemas.openxmlformats.org/drawingml/2006/main">
              <a:ext uri="{FF2B5EF4-FFF2-40B4-BE49-F238E27FC236}">
                <a16:creationId xmlns:a16="http://schemas.microsoft.com/office/drawing/2014/main" id="{95EABD10-D0AB-422D-AED5-F3CF160240B7}"/>
              </a:ext>
            </a:extLst>
          </p:cNvPr>
          <p:cNvSpPr>
            <a:spLocks xmlns:a="http://schemas.openxmlformats.org/drawingml/2006/main" noGrp="1"/>
          </p:cNvSpPr>
          <p:nvPr/>
        </p:nvSpPr>
        <p:spPr>
          <a:xfrm xmlns:a="http://schemas.openxmlformats.org/drawingml/2006/main">
            <a:off x="2628900" y="53149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261D21"/>
                </a:solidFill>
              </a:defRPr>
            </a:defPPr>
          </a:lstStyle>
          <a:p xmlns:a="http://schemas.openxmlformats.org/drawingml/2006/main">
            <a:pPr>
              <a:defRPr sz="1200" b="1">
                <a:solidFill>
                  <a:srgbClr val="261D21"/>
                </a:solidFill>
              </a:defRPr>
            </a:pPr>
            <a:r>
              <a:rPr sz="1200" b="1">
                <a:solidFill>
                  <a:srgbClr val="261D21"/>
                </a:solidFill>
              </a:rPr>
              <a:t>pg_cron → private dispatch function → Vault secret + pg_net signed POST → Render worker</a:t>
            </a:r>
          </a:p>
        </p:txBody>
      </p:sp>
    </p:spTree>
    <p:extLst>
      <p:ext uri="{BB962C8B-B14F-4D97-AF65-F5344CB8AC3E}">
        <p14:creationId xmlns:p14="http://schemas.microsoft.com/office/powerpoint/2010/main" val="454362974"/>
      </p:ext>
    </p:extLst>
  </p:cSld>
</p:sld>
</file>

<file path=ppt/slides/slide6.xml><?xml version="1.0" encoding="utf-8"?>
<p:sld xmlns:p="http://schemas.openxmlformats.org/presentationml/2006/main">
  <p:cSld>
    <p:bg>
      <p:bgPr>
        <a:solidFill xmlns:a="http://schemas.openxmlformats.org/drawingml/2006/main">
          <a:srgbClr val="FBF7F4"/>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87568FE-E124-478D-B67B-7A5D7EC0E7E8}"/>
              </a:ext>
            </a:extLst>
          </p:cNvPr>
          <p:cNvSpPr>
            <a:spLocks xmlns:a="http://schemas.openxmlformats.org/drawingml/2006/main" noGrp="1"/>
          </p:cNvSpPr>
          <p:nvPr/>
        </p:nvSpPr>
        <p:spPr>
          <a:xfrm xmlns:a="http://schemas.openxmlformats.org/drawingml/2006/main">
            <a:off x="6096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8E123B"/>
                </a:solidFill>
              </a:defRPr>
            </a:defPPr>
          </a:lstStyle>
          <a:p xmlns:a="http://schemas.openxmlformats.org/drawingml/2006/main">
            <a:pPr>
              <a:defRPr sz="900" b="1">
                <a:solidFill>
                  <a:srgbClr val="8E123B"/>
                </a:solidFill>
              </a:defRPr>
            </a:pPr>
            <a:r>
              <a:rPr sz="900" b="1">
                <a:solidFill>
                  <a:srgbClr val="8E123B"/>
                </a:solidFill>
              </a:rPr>
              <a:t>05 • TECHNOLOGY CHOICES</a:t>
            </a:r>
          </a:p>
        </p:txBody>
      </p:sp>
      <p:sp>
        <p:nvSpPr>
          <p:cNvPr id="2" name="">
            <a:extLst xmlns:a="http://schemas.openxmlformats.org/drawingml/2006/main">
              <a:ext uri="{FF2B5EF4-FFF2-40B4-BE49-F238E27FC236}">
                <a16:creationId xmlns:a16="http://schemas.microsoft.com/office/drawing/2014/main" id="{D87A4DF1-6122-4F56-8BDC-F77BCE79BFF0}"/>
              </a:ext>
            </a:extLst>
          </p:cNvPr>
          <p:cNvSpPr>
            <a:spLocks xmlns:a="http://schemas.openxmlformats.org/drawingml/2006/main" noGrp="1"/>
          </p:cNvSpPr>
          <p:nvPr/>
        </p:nvSpPr>
        <p:spPr>
          <a:xfrm xmlns:a="http://schemas.openxmlformats.org/drawingml/2006/main">
            <a:off x="609600" y="657225"/>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261D21"/>
                </a:solidFill>
              </a:defRPr>
            </a:defPPr>
          </a:lstStyle>
          <a:p xmlns:a="http://schemas.openxmlformats.org/drawingml/2006/main">
            <a:pPr>
              <a:defRPr sz="2550" b="1">
                <a:solidFill>
                  <a:srgbClr val="261D21"/>
                </a:solidFill>
              </a:defRPr>
            </a:pPr>
            <a:r>
              <a:rPr sz="2550" b="1">
                <a:solidFill>
                  <a:srgbClr val="261D21"/>
                </a:solidFill>
              </a:rPr>
              <a:t>The stack keeps control near the business rules</a:t>
            </a:r>
          </a:p>
        </p:txBody>
      </p:sp>
      <p:sp>
        <p:nvSpPr>
          <p:cNvPr id="3" name="">
            <a:extLst xmlns:a="http://schemas.openxmlformats.org/drawingml/2006/main">
              <a:ext uri="{FF2B5EF4-FFF2-40B4-BE49-F238E27FC236}">
                <a16:creationId xmlns:a16="http://schemas.microsoft.com/office/drawing/2014/main" id="{C3364E58-E010-4A9A-88A9-D716DD8E1ED0}"/>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line">
            <a:avLst/>
          </a:prstGeom>
          <a:noFill xmlns:a="http://schemas.openxmlformats.org/drawingml/2006/main"/>
          <a:ln xmlns:a="http://schemas.openxmlformats.org/drawingml/2006/main" w="9525">
            <a:solidFill>
              <a:srgbClr val="E8DDE0"/>
            </a:solidFill>
            <a:prstDash val="solid"/>
          </a:ln>
        </p:spPr>
      </p:sp>
      <p:sp>
        <p:nvSpPr>
          <p:cNvPr id="4" name="">
            <a:extLst xmlns:a="http://schemas.openxmlformats.org/drawingml/2006/main">
              <a:ext uri="{FF2B5EF4-FFF2-40B4-BE49-F238E27FC236}">
                <a16:creationId xmlns:a16="http://schemas.microsoft.com/office/drawing/2014/main" id="{2C1D9FBD-03CF-454F-8BCA-59F12A5E4F6E}"/>
              </a:ext>
            </a:extLst>
          </p:cNvPr>
          <p:cNvSpPr>
            <a:spLocks xmlns:a="http://schemas.openxmlformats.org/drawingml/2006/main" noGrp="1"/>
          </p:cNvSpPr>
          <p:nvPr/>
        </p:nvSpPr>
        <p:spPr>
          <a:xfrm xmlns:a="http://schemas.openxmlformats.org/drawingml/2006/main">
            <a:off x="609600" y="64579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71656A"/>
                </a:solidFill>
              </a:defRPr>
            </a:defPPr>
          </a:lstStyle>
          <a:p xmlns:a="http://schemas.openxmlformats.org/drawingml/2006/main">
            <a:pPr>
              <a:defRPr sz="825" b="1">
                <a:solidFill>
                  <a:srgbClr val="71656A"/>
                </a:solidFill>
              </a:defRPr>
            </a:pPr>
            <a:r>
              <a:rPr sz="825" b="1">
                <a:solidFill>
                  <a:srgbClr val="71656A"/>
                </a:solidFill>
              </a:rPr>
              <a:t>MINT  /  CAMPUS CANTEEN PICKUP</a:t>
            </a:r>
          </a:p>
        </p:txBody>
      </p:sp>
      <p:sp>
        <p:nvSpPr>
          <p:cNvPr id="5" name="">
            <a:extLst xmlns:a="http://schemas.openxmlformats.org/drawingml/2006/main">
              <a:ext uri="{FF2B5EF4-FFF2-40B4-BE49-F238E27FC236}">
                <a16:creationId xmlns:a16="http://schemas.microsoft.com/office/drawing/2014/main" id="{BA156797-39AA-4A87-B1CF-B2D54BACAC8D}"/>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71656A"/>
                </a:solidFill>
              </a:defRPr>
            </a:defPPr>
          </a:lstStyle>
          <a:p xmlns:a="http://schemas.openxmlformats.org/drawingml/2006/main">
            <a:pPr algn="r">
              <a:defRPr sz="900" b="1">
                <a:solidFill>
                  <a:srgbClr val="71656A"/>
                </a:solidFill>
              </a:defRPr>
            </a:pPr>
            <a:r>
              <a:rPr sz="900" b="1">
                <a:solidFill>
                  <a:srgbClr val="71656A"/>
                </a:solidFill>
              </a:rPr>
              <a:t>06</a:t>
            </a:r>
          </a:p>
        </p:txBody>
      </p:sp>
      <p:sp>
        <p:nvSpPr>
          <p:cNvPr id="6" name="">
            <a:extLst xmlns:a="http://schemas.openxmlformats.org/drawingml/2006/main">
              <a:ext uri="{FF2B5EF4-FFF2-40B4-BE49-F238E27FC236}">
                <a16:creationId xmlns:a16="http://schemas.microsoft.com/office/drawing/2014/main" id="{2DA4A96E-28E2-4E67-A80E-113E515D5940}"/>
              </a:ext>
            </a:extLst>
          </p:cNvPr>
          <p:cNvSpPr>
            <a:spLocks xmlns:a="http://schemas.openxmlformats.org/drawingml/2006/main" noGrp="1"/>
          </p:cNvSpPr>
          <p:nvPr/>
        </p:nvSpPr>
        <p:spPr>
          <a:xfrm xmlns:a="http://schemas.openxmlformats.org/drawingml/2006/main">
            <a:off x="609600" y="171450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8E123B"/>
                </a:solidFill>
              </a:defRPr>
            </a:defPPr>
          </a:lstStyle>
          <a:p xmlns:a="http://schemas.openxmlformats.org/drawingml/2006/main">
            <a:pPr>
              <a:defRPr sz="975" b="1">
                <a:solidFill>
                  <a:srgbClr val="8E123B"/>
                </a:solidFill>
              </a:defRPr>
            </a:pPr>
            <a:r>
              <a:rPr sz="975" b="1">
                <a:solidFill>
                  <a:srgbClr val="8E123B"/>
                </a:solidFill>
              </a:rPr>
              <a:t>APPLICATION</a:t>
            </a:r>
          </a:p>
        </p:txBody>
      </p:sp>
      <p:sp>
        <p:nvSpPr>
          <p:cNvPr id="7" name="">
            <a:extLst xmlns:a="http://schemas.openxmlformats.org/drawingml/2006/main">
              <a:ext uri="{FF2B5EF4-FFF2-40B4-BE49-F238E27FC236}">
                <a16:creationId xmlns:a16="http://schemas.microsoft.com/office/drawing/2014/main" id="{2A4AE12D-1BB3-4C13-BC52-6019A3A78886}"/>
              </a:ext>
            </a:extLst>
          </p:cNvPr>
          <p:cNvSpPr>
            <a:spLocks xmlns:a="http://schemas.openxmlformats.org/drawingml/2006/main" noGrp="1"/>
          </p:cNvSpPr>
          <p:nvPr/>
        </p:nvSpPr>
        <p:spPr>
          <a:xfrm xmlns:a="http://schemas.openxmlformats.org/drawingml/2006/main">
            <a:off x="609600" y="2095500"/>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261D21"/>
                </a:solidFill>
              </a:defRPr>
            </a:defPPr>
          </a:lstStyle>
          <a:p xmlns:a="http://schemas.openxmlformats.org/drawingml/2006/main">
            <a:pPr>
              <a:defRPr sz="1500" b="1">
                <a:solidFill>
                  <a:srgbClr val="261D21"/>
                </a:solidFill>
              </a:defRPr>
            </a:pPr>
            <a:r>
              <a:rPr sz="1500" b="1">
                <a:solidFill>
                  <a:srgbClr val="261D21"/>
                </a:solidFill>
              </a:rPr>
              <a:t>Next.js 16.4</a:t>
            </a:r>
          </a:p>
          <a:p xmlns:a="http://schemas.openxmlformats.org/drawingml/2006/main">
            <a:pPr>
              <a:defRPr sz="1500" b="1">
                <a:solidFill>
                  <a:srgbClr val="261D21"/>
                </a:solidFill>
              </a:defRPr>
            </a:pPr>
            <a:r>
              <a:rPr sz="1500" b="1">
                <a:solidFill>
                  <a:srgbClr val="261D21"/>
                </a:solidFill>
              </a:rPr>
              <a:t>React 19.3</a:t>
            </a:r>
          </a:p>
          <a:p xmlns:a="http://schemas.openxmlformats.org/drawingml/2006/main">
            <a:pPr>
              <a:defRPr sz="1500" b="1">
                <a:solidFill>
                  <a:srgbClr val="261D21"/>
                </a:solidFill>
              </a:defRPr>
            </a:pPr>
            <a:r>
              <a:rPr sz="1500" b="1">
                <a:solidFill>
                  <a:srgbClr val="261D21"/>
                </a:solidFill>
              </a:rPr>
              <a:t>TypeScript 6</a:t>
            </a:r>
          </a:p>
        </p:txBody>
      </p:sp>
      <p:sp>
        <p:nvSpPr>
          <p:cNvPr id="8" name="">
            <a:extLst xmlns:a="http://schemas.openxmlformats.org/drawingml/2006/main">
              <a:ext uri="{FF2B5EF4-FFF2-40B4-BE49-F238E27FC236}">
                <a16:creationId xmlns:a16="http://schemas.microsoft.com/office/drawing/2014/main" id="{6B3C4DAE-E1B0-444E-AC19-8B7F7027DE94}"/>
              </a:ext>
            </a:extLst>
          </p:cNvPr>
          <p:cNvSpPr>
            <a:spLocks xmlns:a="http://schemas.openxmlformats.org/drawingml/2006/main" noGrp="1"/>
          </p:cNvSpPr>
          <p:nvPr/>
        </p:nvSpPr>
        <p:spPr>
          <a:xfrm xmlns:a="http://schemas.openxmlformats.org/drawingml/2006/main">
            <a:off x="609600" y="3133725"/>
            <a:ext cx="2381250" cy="9525"/>
          </a:xfrm>
          <a:prstGeom xmlns:a="http://schemas.openxmlformats.org/drawingml/2006/main" prst="line">
            <a:avLst/>
          </a:prstGeom>
          <a:noFill xmlns:a="http://schemas.openxmlformats.org/drawingml/2006/main"/>
          <a:ln xmlns:a="http://schemas.openxmlformats.org/drawingml/2006/main" w="28575">
            <a:solidFill>
              <a:srgbClr val="D65C73"/>
            </a:solidFill>
            <a:prstDash val="solid"/>
          </a:ln>
        </p:spPr>
      </p:sp>
      <p:sp>
        <p:nvSpPr>
          <p:cNvPr id="9" name="">
            <a:extLst xmlns:a="http://schemas.openxmlformats.org/drawingml/2006/main">
              <a:ext uri="{FF2B5EF4-FFF2-40B4-BE49-F238E27FC236}">
                <a16:creationId xmlns:a16="http://schemas.microsoft.com/office/drawing/2014/main" id="{B89E9391-D78C-4919-9F46-D4EA99731A99}"/>
              </a:ext>
            </a:extLst>
          </p:cNvPr>
          <p:cNvSpPr>
            <a:spLocks xmlns:a="http://schemas.openxmlformats.org/drawingml/2006/main" noGrp="1"/>
          </p:cNvSpPr>
          <p:nvPr/>
        </p:nvSpPr>
        <p:spPr>
          <a:xfrm xmlns:a="http://schemas.openxmlformats.org/drawingml/2006/main">
            <a:off x="609600" y="3333750"/>
            <a:ext cx="2381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One codebase for route handling, UI, and server-side domain modules.</a:t>
            </a:r>
          </a:p>
        </p:txBody>
      </p:sp>
      <p:sp>
        <p:nvSpPr>
          <p:cNvPr id="10" name="">
            <a:extLst xmlns:a="http://schemas.openxmlformats.org/drawingml/2006/main">
              <a:ext uri="{FF2B5EF4-FFF2-40B4-BE49-F238E27FC236}">
                <a16:creationId xmlns:a16="http://schemas.microsoft.com/office/drawing/2014/main" id="{05FEFC77-93DA-42D5-B6E7-9693EEDADA35}"/>
              </a:ext>
            </a:extLst>
          </p:cNvPr>
          <p:cNvSpPr>
            <a:spLocks xmlns:a="http://schemas.openxmlformats.org/drawingml/2006/main" noGrp="1"/>
          </p:cNvSpPr>
          <p:nvPr/>
        </p:nvSpPr>
        <p:spPr>
          <a:xfrm xmlns:a="http://schemas.openxmlformats.org/drawingml/2006/main">
            <a:off x="3390900" y="171450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8E123B"/>
                </a:solidFill>
              </a:defRPr>
            </a:defPPr>
          </a:lstStyle>
          <a:p xmlns:a="http://schemas.openxmlformats.org/drawingml/2006/main">
            <a:pPr>
              <a:defRPr sz="975" b="1">
                <a:solidFill>
                  <a:srgbClr val="8E123B"/>
                </a:solidFill>
              </a:defRPr>
            </a:pPr>
            <a:r>
              <a:rPr sz="975" b="1">
                <a:solidFill>
                  <a:srgbClr val="8E123B"/>
                </a:solidFill>
              </a:rPr>
              <a:t>DATA</a:t>
            </a:r>
          </a:p>
        </p:txBody>
      </p:sp>
      <p:sp>
        <p:nvSpPr>
          <p:cNvPr id="11" name="">
            <a:extLst xmlns:a="http://schemas.openxmlformats.org/drawingml/2006/main">
              <a:ext uri="{FF2B5EF4-FFF2-40B4-BE49-F238E27FC236}">
                <a16:creationId xmlns:a16="http://schemas.microsoft.com/office/drawing/2014/main" id="{2D10C040-DBD8-4BFC-BBFF-1F6AC409B19C}"/>
              </a:ext>
            </a:extLst>
          </p:cNvPr>
          <p:cNvSpPr>
            <a:spLocks xmlns:a="http://schemas.openxmlformats.org/drawingml/2006/main" noGrp="1"/>
          </p:cNvSpPr>
          <p:nvPr/>
        </p:nvSpPr>
        <p:spPr>
          <a:xfrm xmlns:a="http://schemas.openxmlformats.org/drawingml/2006/main">
            <a:off x="3390900" y="2095500"/>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261D21"/>
                </a:solidFill>
              </a:defRPr>
            </a:defPPr>
          </a:lstStyle>
          <a:p xmlns:a="http://schemas.openxmlformats.org/drawingml/2006/main">
            <a:pPr>
              <a:defRPr sz="1500" b="1">
                <a:solidFill>
                  <a:srgbClr val="261D21"/>
                </a:solidFill>
              </a:defRPr>
            </a:pPr>
            <a:r>
              <a:rPr sz="1500" b="1">
                <a:solidFill>
                  <a:srgbClr val="261D21"/>
                </a:solidFill>
              </a:rPr>
              <a:t>Supabase PostgreSQL</a:t>
            </a:r>
          </a:p>
          <a:p xmlns:a="http://schemas.openxmlformats.org/drawingml/2006/main">
            <a:pPr>
              <a:defRPr sz="1500" b="1">
                <a:solidFill>
                  <a:srgbClr val="261D21"/>
                </a:solidFill>
              </a:defRPr>
            </a:pPr>
            <a:r>
              <a:rPr sz="1500" b="1">
                <a:solidFill>
                  <a:srgbClr val="261D21"/>
                </a:solidFill>
              </a:rPr>
              <a:t>Drizzle ORM</a:t>
            </a:r>
          </a:p>
          <a:p xmlns:a="http://schemas.openxmlformats.org/drawingml/2006/main">
            <a:pPr>
              <a:defRPr sz="1500" b="1">
                <a:solidFill>
                  <a:srgbClr val="261D21"/>
                </a:solidFill>
              </a:defRPr>
            </a:pPr>
            <a:r>
              <a:rPr sz="1500" b="1">
                <a:solidFill>
                  <a:srgbClr val="261D21"/>
                </a:solidFill>
              </a:rPr>
              <a:t>Postgres.js</a:t>
            </a:r>
          </a:p>
        </p:txBody>
      </p:sp>
      <p:sp>
        <p:nvSpPr>
          <p:cNvPr id="12" name="">
            <a:extLst xmlns:a="http://schemas.openxmlformats.org/drawingml/2006/main">
              <a:ext uri="{FF2B5EF4-FFF2-40B4-BE49-F238E27FC236}">
                <a16:creationId xmlns:a16="http://schemas.microsoft.com/office/drawing/2014/main" id="{28EAE2AC-16BE-49FC-855C-11C0D0A88B71}"/>
              </a:ext>
            </a:extLst>
          </p:cNvPr>
          <p:cNvSpPr>
            <a:spLocks xmlns:a="http://schemas.openxmlformats.org/drawingml/2006/main" noGrp="1"/>
          </p:cNvSpPr>
          <p:nvPr/>
        </p:nvSpPr>
        <p:spPr>
          <a:xfrm xmlns:a="http://schemas.openxmlformats.org/drawingml/2006/main">
            <a:off x="3390900" y="3133725"/>
            <a:ext cx="2381250" cy="9525"/>
          </a:xfrm>
          <a:prstGeom xmlns:a="http://schemas.openxmlformats.org/drawingml/2006/main" prst="line">
            <a:avLst/>
          </a:prstGeom>
          <a:noFill xmlns:a="http://schemas.openxmlformats.org/drawingml/2006/main"/>
          <a:ln xmlns:a="http://schemas.openxmlformats.org/drawingml/2006/main" w="28575">
            <a:solidFill>
              <a:srgbClr val="D65C73"/>
            </a:solidFill>
            <a:prstDash val="solid"/>
          </a:ln>
        </p:spPr>
      </p:sp>
      <p:sp>
        <p:nvSpPr>
          <p:cNvPr id="13" name="">
            <a:extLst xmlns:a="http://schemas.openxmlformats.org/drawingml/2006/main">
              <a:ext uri="{FF2B5EF4-FFF2-40B4-BE49-F238E27FC236}">
                <a16:creationId xmlns:a16="http://schemas.microsoft.com/office/drawing/2014/main" id="{96936D67-0EFE-4E3D-B493-BD0754B57999}"/>
              </a:ext>
            </a:extLst>
          </p:cNvPr>
          <p:cNvSpPr>
            <a:spLocks xmlns:a="http://schemas.openxmlformats.org/drawingml/2006/main" noGrp="1"/>
          </p:cNvSpPr>
          <p:nvPr/>
        </p:nvSpPr>
        <p:spPr>
          <a:xfrm xmlns:a="http://schemas.openxmlformats.org/drawingml/2006/main">
            <a:off x="3390900" y="3333750"/>
            <a:ext cx="2381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Relational constraints and explicit SQL locks fit inventory and money workflows.</a:t>
            </a:r>
          </a:p>
        </p:txBody>
      </p:sp>
      <p:sp>
        <p:nvSpPr>
          <p:cNvPr id="14" name="">
            <a:extLst xmlns:a="http://schemas.openxmlformats.org/drawingml/2006/main">
              <a:ext uri="{FF2B5EF4-FFF2-40B4-BE49-F238E27FC236}">
                <a16:creationId xmlns:a16="http://schemas.microsoft.com/office/drawing/2014/main" id="{C0A85DB5-7E1A-4712-9A05-BD650C23A2D5}"/>
              </a:ext>
            </a:extLst>
          </p:cNvPr>
          <p:cNvSpPr>
            <a:spLocks xmlns:a="http://schemas.openxmlformats.org/drawingml/2006/main" noGrp="1"/>
          </p:cNvSpPr>
          <p:nvPr/>
        </p:nvSpPr>
        <p:spPr>
          <a:xfrm xmlns:a="http://schemas.openxmlformats.org/drawingml/2006/main">
            <a:off x="6172200" y="171450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8E123B"/>
                </a:solidFill>
              </a:defRPr>
            </a:defPPr>
          </a:lstStyle>
          <a:p xmlns:a="http://schemas.openxmlformats.org/drawingml/2006/main">
            <a:pPr>
              <a:defRPr sz="975" b="1">
                <a:solidFill>
                  <a:srgbClr val="8E123B"/>
                </a:solidFill>
              </a:defRPr>
            </a:pPr>
            <a:r>
              <a:rPr sz="975" b="1">
                <a:solidFill>
                  <a:srgbClr val="8E123B"/>
                </a:solidFill>
              </a:rPr>
              <a:t>IDENTITY + PAYMENTS</a:t>
            </a:r>
          </a:p>
        </p:txBody>
      </p:sp>
      <p:sp>
        <p:nvSpPr>
          <p:cNvPr id="15" name="">
            <a:extLst xmlns:a="http://schemas.openxmlformats.org/drawingml/2006/main">
              <a:ext uri="{FF2B5EF4-FFF2-40B4-BE49-F238E27FC236}">
                <a16:creationId xmlns:a16="http://schemas.microsoft.com/office/drawing/2014/main" id="{FDF6D526-E5EE-4C8A-9C31-8EE0A3D9E67C}"/>
              </a:ext>
            </a:extLst>
          </p:cNvPr>
          <p:cNvSpPr>
            <a:spLocks xmlns:a="http://schemas.openxmlformats.org/drawingml/2006/main" noGrp="1"/>
          </p:cNvSpPr>
          <p:nvPr/>
        </p:nvSpPr>
        <p:spPr>
          <a:xfrm xmlns:a="http://schemas.openxmlformats.org/drawingml/2006/main">
            <a:off x="6172200" y="2095500"/>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261D21"/>
                </a:solidFill>
              </a:defRPr>
            </a:defPPr>
          </a:lstStyle>
          <a:p xmlns:a="http://schemas.openxmlformats.org/drawingml/2006/main">
            <a:pPr>
              <a:defRPr sz="1500" b="1">
                <a:solidFill>
                  <a:srgbClr val="261D21"/>
                </a:solidFill>
              </a:defRPr>
            </a:pPr>
            <a:r>
              <a:rPr sz="1500" b="1">
                <a:solidFill>
                  <a:srgbClr val="261D21"/>
                </a:solidFill>
              </a:rPr>
              <a:t>Supabase Auth</a:t>
            </a:r>
          </a:p>
          <a:p xmlns:a="http://schemas.openxmlformats.org/drawingml/2006/main">
            <a:pPr>
              <a:defRPr sz="1500" b="1">
                <a:solidFill>
                  <a:srgbClr val="261D21"/>
                </a:solidFill>
              </a:defRPr>
            </a:pPr>
            <a:r>
              <a:rPr sz="1500" b="1">
                <a:solidFill>
                  <a:srgbClr val="261D21"/>
                </a:solidFill>
              </a:rPr>
              <a:t>Razorpay REST + widget</a:t>
            </a:r>
          </a:p>
        </p:txBody>
      </p:sp>
      <p:sp>
        <p:nvSpPr>
          <p:cNvPr id="16" name="">
            <a:extLst xmlns:a="http://schemas.openxmlformats.org/drawingml/2006/main">
              <a:ext uri="{FF2B5EF4-FFF2-40B4-BE49-F238E27FC236}">
                <a16:creationId xmlns:a16="http://schemas.microsoft.com/office/drawing/2014/main" id="{80E1574D-D2C7-4DAE-8046-A377BF90FC69}"/>
              </a:ext>
            </a:extLst>
          </p:cNvPr>
          <p:cNvSpPr>
            <a:spLocks xmlns:a="http://schemas.openxmlformats.org/drawingml/2006/main" noGrp="1"/>
          </p:cNvSpPr>
          <p:nvPr/>
        </p:nvSpPr>
        <p:spPr>
          <a:xfrm xmlns:a="http://schemas.openxmlformats.org/drawingml/2006/main">
            <a:off x="6172200" y="3133725"/>
            <a:ext cx="2381250" cy="9525"/>
          </a:xfrm>
          <a:prstGeom xmlns:a="http://schemas.openxmlformats.org/drawingml/2006/main" prst="line">
            <a:avLst/>
          </a:prstGeom>
          <a:noFill xmlns:a="http://schemas.openxmlformats.org/drawingml/2006/main"/>
          <a:ln xmlns:a="http://schemas.openxmlformats.org/drawingml/2006/main" w="28575">
            <a:solidFill>
              <a:srgbClr val="D65C73"/>
            </a:solidFill>
            <a:prstDash val="solid"/>
          </a:ln>
        </p:spPr>
      </p:sp>
      <p:sp>
        <p:nvSpPr>
          <p:cNvPr id="17" name="">
            <a:extLst xmlns:a="http://schemas.openxmlformats.org/drawingml/2006/main">
              <a:ext uri="{FF2B5EF4-FFF2-40B4-BE49-F238E27FC236}">
                <a16:creationId xmlns:a16="http://schemas.microsoft.com/office/drawing/2014/main" id="{16F19455-4963-4CE8-A080-516B739B55B7}"/>
              </a:ext>
            </a:extLst>
          </p:cNvPr>
          <p:cNvSpPr>
            <a:spLocks xmlns:a="http://schemas.openxmlformats.org/drawingml/2006/main" noGrp="1"/>
          </p:cNvSpPr>
          <p:nvPr/>
        </p:nvSpPr>
        <p:spPr>
          <a:xfrm xmlns:a="http://schemas.openxmlformats.org/drawingml/2006/main">
            <a:off x="6172200" y="3333750"/>
            <a:ext cx="2381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Managed identity; explicit payment verification and webhook validation.</a:t>
            </a:r>
          </a:p>
        </p:txBody>
      </p:sp>
      <p:sp>
        <p:nvSpPr>
          <p:cNvPr id="18" name="">
            <a:extLst xmlns:a="http://schemas.openxmlformats.org/drawingml/2006/main">
              <a:ext uri="{FF2B5EF4-FFF2-40B4-BE49-F238E27FC236}">
                <a16:creationId xmlns:a16="http://schemas.microsoft.com/office/drawing/2014/main" id="{8FCD76BE-C0E9-49BC-BB24-F2CC691CE9DE}"/>
              </a:ext>
            </a:extLst>
          </p:cNvPr>
          <p:cNvSpPr>
            <a:spLocks xmlns:a="http://schemas.openxmlformats.org/drawingml/2006/main" noGrp="1"/>
          </p:cNvSpPr>
          <p:nvPr/>
        </p:nvSpPr>
        <p:spPr>
          <a:xfrm xmlns:a="http://schemas.openxmlformats.org/drawingml/2006/main">
            <a:off x="8953500" y="171450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8E123B"/>
                </a:solidFill>
              </a:defRPr>
            </a:defPPr>
          </a:lstStyle>
          <a:p xmlns:a="http://schemas.openxmlformats.org/drawingml/2006/main">
            <a:pPr>
              <a:defRPr sz="975" b="1">
                <a:solidFill>
                  <a:srgbClr val="8E123B"/>
                </a:solidFill>
              </a:defRPr>
            </a:pPr>
            <a:r>
              <a:rPr sz="975" b="1">
                <a:solidFill>
                  <a:srgbClr val="8E123B"/>
                </a:solidFill>
              </a:rPr>
              <a:t>CLIENT</a:t>
            </a:r>
          </a:p>
        </p:txBody>
      </p:sp>
      <p:sp>
        <p:nvSpPr>
          <p:cNvPr id="19" name="">
            <a:extLst xmlns:a="http://schemas.openxmlformats.org/drawingml/2006/main">
              <a:ext uri="{FF2B5EF4-FFF2-40B4-BE49-F238E27FC236}">
                <a16:creationId xmlns:a16="http://schemas.microsoft.com/office/drawing/2014/main" id="{ED94849D-9F66-4D66-B48F-E8A03E59CC45}"/>
              </a:ext>
            </a:extLst>
          </p:cNvPr>
          <p:cNvSpPr>
            <a:spLocks xmlns:a="http://schemas.openxmlformats.org/drawingml/2006/main" noGrp="1"/>
          </p:cNvSpPr>
          <p:nvPr/>
        </p:nvSpPr>
        <p:spPr>
          <a:xfrm xmlns:a="http://schemas.openxmlformats.org/drawingml/2006/main">
            <a:off x="8953500" y="2095500"/>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261D21"/>
                </a:solidFill>
              </a:defRPr>
            </a:defPPr>
          </a:lstStyle>
          <a:p xmlns:a="http://schemas.openxmlformats.org/drawingml/2006/main">
            <a:pPr>
              <a:defRPr sz="1500" b="1">
                <a:solidFill>
                  <a:srgbClr val="261D21"/>
                </a:solidFill>
              </a:defRPr>
            </a:pPr>
            <a:r>
              <a:rPr sz="1500" b="1">
                <a:solidFill>
                  <a:srgbClr val="261D21"/>
                </a:solidFill>
              </a:rPr>
              <a:t>PWA + Tailwind CSS</a:t>
            </a:r>
          </a:p>
          <a:p xmlns:a="http://schemas.openxmlformats.org/drawingml/2006/main">
            <a:pPr>
              <a:defRPr sz="1500" b="1">
                <a:solidFill>
                  <a:srgbClr val="261D21"/>
                </a:solidFill>
              </a:defRPr>
            </a:pPr>
            <a:r>
              <a:rPr sz="1500" b="1">
                <a:solidFill>
                  <a:srgbClr val="261D21"/>
                </a:solidFill>
              </a:rPr>
              <a:t>Zod • Playwright</a:t>
            </a:r>
          </a:p>
        </p:txBody>
      </p:sp>
      <p:sp>
        <p:nvSpPr>
          <p:cNvPr id="20" name="">
            <a:extLst xmlns:a="http://schemas.openxmlformats.org/drawingml/2006/main">
              <a:ext uri="{FF2B5EF4-FFF2-40B4-BE49-F238E27FC236}">
                <a16:creationId xmlns:a16="http://schemas.microsoft.com/office/drawing/2014/main" id="{A1D64E81-9AFF-49ED-B750-367A0A3DEF7A}"/>
              </a:ext>
            </a:extLst>
          </p:cNvPr>
          <p:cNvSpPr>
            <a:spLocks xmlns:a="http://schemas.openxmlformats.org/drawingml/2006/main" noGrp="1"/>
          </p:cNvSpPr>
          <p:nvPr/>
        </p:nvSpPr>
        <p:spPr>
          <a:xfrm xmlns:a="http://schemas.openxmlformats.org/drawingml/2006/main">
            <a:off x="8953500" y="3133725"/>
            <a:ext cx="2381250" cy="9525"/>
          </a:xfrm>
          <a:prstGeom xmlns:a="http://schemas.openxmlformats.org/drawingml/2006/main" prst="line">
            <a:avLst/>
          </a:prstGeom>
          <a:noFill xmlns:a="http://schemas.openxmlformats.org/drawingml/2006/main"/>
          <a:ln xmlns:a="http://schemas.openxmlformats.org/drawingml/2006/main" w="28575">
            <a:solidFill>
              <a:srgbClr val="D65C73"/>
            </a:solidFill>
            <a:prstDash val="solid"/>
          </a:ln>
        </p:spPr>
      </p:sp>
      <p:sp>
        <p:nvSpPr>
          <p:cNvPr id="21" name="">
            <a:extLst xmlns:a="http://schemas.openxmlformats.org/drawingml/2006/main">
              <a:ext uri="{FF2B5EF4-FFF2-40B4-BE49-F238E27FC236}">
                <a16:creationId xmlns:a16="http://schemas.microsoft.com/office/drawing/2014/main" id="{6B0535AD-7E14-4EFD-AA37-83B450355F9B}"/>
              </a:ext>
            </a:extLst>
          </p:cNvPr>
          <p:cNvSpPr>
            <a:spLocks xmlns:a="http://schemas.openxmlformats.org/drawingml/2006/main" noGrp="1"/>
          </p:cNvSpPr>
          <p:nvPr/>
        </p:nvSpPr>
        <p:spPr>
          <a:xfrm xmlns:a="http://schemas.openxmlformats.org/drawingml/2006/main">
            <a:off x="8953500" y="3333750"/>
            <a:ext cx="2381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Installable web app, runtime request validation, and browser workflow tests.</a:t>
            </a:r>
          </a:p>
        </p:txBody>
      </p:sp>
      <p:sp>
        <p:nvSpPr>
          <p:cNvPr id="22" name="">
            <a:extLst xmlns:a="http://schemas.openxmlformats.org/drawingml/2006/main">
              <a:ext uri="{FF2B5EF4-FFF2-40B4-BE49-F238E27FC236}">
                <a16:creationId xmlns:a16="http://schemas.microsoft.com/office/drawing/2014/main" id="{FFD1E83B-6FE2-497D-9CAE-1427D4E1E757}"/>
              </a:ext>
            </a:extLst>
          </p:cNvPr>
          <p:cNvSpPr>
            <a:spLocks xmlns:a="http://schemas.openxmlformats.org/drawingml/2006/main" noGrp="1"/>
          </p:cNvSpPr>
          <p:nvPr/>
        </p:nvSpPr>
        <p:spPr>
          <a:xfrm xmlns:a="http://schemas.openxmlformats.org/drawingml/2006/main">
            <a:off x="609600" y="4857750"/>
            <a:ext cx="10972800" cy="828675"/>
          </a:xfrm>
          <a:prstGeom xmlns:a="http://schemas.openxmlformats.org/drawingml/2006/main" prst="roundRect">
            <a:avLst>
              <a:gd name="adj" fmla="val 9195"/>
            </a:avLst>
          </a:prstGeom>
          <a:solidFill xmlns:a="http://schemas.openxmlformats.org/drawingml/2006/main">
            <a:srgbClr val="32101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223A895-9110-4B49-A6AC-115743DE6871}"/>
              </a:ext>
            </a:extLst>
          </p:cNvPr>
          <p:cNvSpPr>
            <a:spLocks xmlns:a="http://schemas.openxmlformats.org/drawingml/2006/main" noGrp="1"/>
          </p:cNvSpPr>
          <p:nvPr/>
        </p:nvSpPr>
        <p:spPr>
          <a:xfrm xmlns:a="http://schemas.openxmlformats.org/drawingml/2006/main">
            <a:off x="819150" y="5010150"/>
            <a:ext cx="2266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F7DDE5"/>
                </a:solidFill>
              </a:defRPr>
            </a:defPPr>
          </a:lstStyle>
          <a:p xmlns:a="http://schemas.openxmlformats.org/drawingml/2006/main">
            <a:pPr>
              <a:defRPr sz="1050" b="1">
                <a:solidFill>
                  <a:srgbClr val="F7DDE5"/>
                </a:solidFill>
              </a:defRPr>
            </a:pPr>
            <a:r>
              <a:rPr sz="1050" b="1">
                <a:solidFill>
                  <a:srgbClr val="F7DDE5"/>
                </a:solidFill>
              </a:rPr>
              <a:t>Deliberate omissions</a:t>
            </a:r>
          </a:p>
        </p:txBody>
      </p:sp>
      <p:sp>
        <p:nvSpPr>
          <p:cNvPr id="24" name="">
            <a:extLst xmlns:a="http://schemas.openxmlformats.org/drawingml/2006/main">
              <a:ext uri="{FF2B5EF4-FFF2-40B4-BE49-F238E27FC236}">
                <a16:creationId xmlns:a16="http://schemas.microsoft.com/office/drawing/2014/main" id="{214E3659-AA92-4210-BFC3-A6B40C95B1C2}"/>
              </a:ext>
            </a:extLst>
          </p:cNvPr>
          <p:cNvSpPr>
            <a:spLocks xmlns:a="http://schemas.openxmlformats.org/drawingml/2006/main" noGrp="1"/>
          </p:cNvSpPr>
          <p:nvPr/>
        </p:nvSpPr>
        <p:spPr>
          <a:xfrm xmlns:a="http://schemas.openxmlformats.org/drawingml/2006/main">
            <a:off x="3105150" y="4972050"/>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FFFFFF"/>
                </a:solidFill>
              </a:defRPr>
            </a:defPPr>
          </a:lstStyle>
          <a:p xmlns:a="http://schemas.openxmlformats.org/drawingml/2006/main">
            <a:pPr>
              <a:defRPr sz="1275" b="1">
                <a:solidFill>
                  <a:srgbClr val="FFFFFF"/>
                </a:solidFill>
              </a:defRPr>
            </a:pPr>
            <a:r>
              <a:rPr sz="1275" b="1">
                <a:solidFill>
                  <a:srgbClr val="FFFFFF"/>
                </a:solidFill>
              </a:rPr>
              <a:t>No Redis, Kafka, microservices, native mobile app, recommendation model, or AI inference service: PostgreSQL and explicit code currently cover the shipped requirements.</a:t>
            </a:r>
          </a:p>
        </p:txBody>
      </p:sp>
    </p:spTree>
    <p:extLst>
      <p:ext uri="{BB962C8B-B14F-4D97-AF65-F5344CB8AC3E}">
        <p14:creationId xmlns:p14="http://schemas.microsoft.com/office/powerpoint/2010/main" val="1397759096"/>
      </p:ext>
    </p:extLst>
  </p:cSld>
</p:sld>
</file>

<file path=ppt/slides/slide7.xml><?xml version="1.0" encoding="utf-8"?>
<p:sld xmlns:p="http://schemas.openxmlformats.org/presentationml/2006/main">
  <p:cSld>
    <p:bg>
      <p:bgPr>
        <a:solidFill xmlns:a="http://schemas.openxmlformats.org/drawingml/2006/main">
          <a:srgbClr val="FBF7F4"/>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2C20A48-9A2F-4163-B7F3-ABC8097D3856}"/>
              </a:ext>
            </a:extLst>
          </p:cNvPr>
          <p:cNvSpPr>
            <a:spLocks xmlns:a="http://schemas.openxmlformats.org/drawingml/2006/main" noGrp="1"/>
          </p:cNvSpPr>
          <p:nvPr/>
        </p:nvSpPr>
        <p:spPr>
          <a:xfrm xmlns:a="http://schemas.openxmlformats.org/drawingml/2006/main">
            <a:off x="6096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8E123B"/>
                </a:solidFill>
              </a:defRPr>
            </a:defPPr>
          </a:lstStyle>
          <a:p xmlns:a="http://schemas.openxmlformats.org/drawingml/2006/main">
            <a:pPr>
              <a:defRPr sz="900" b="1">
                <a:solidFill>
                  <a:srgbClr val="8E123B"/>
                </a:solidFill>
              </a:defRPr>
            </a:pPr>
            <a:r>
              <a:rPr sz="900" b="1">
                <a:solidFill>
                  <a:srgbClr val="8E123B"/>
                </a:solidFill>
              </a:rPr>
              <a:t>06 • DATABASE SCHEMA</a:t>
            </a:r>
          </a:p>
        </p:txBody>
      </p:sp>
      <p:sp>
        <p:nvSpPr>
          <p:cNvPr id="2" name="">
            <a:extLst xmlns:a="http://schemas.openxmlformats.org/drawingml/2006/main">
              <a:ext uri="{FF2B5EF4-FFF2-40B4-BE49-F238E27FC236}">
                <a16:creationId xmlns:a16="http://schemas.microsoft.com/office/drawing/2014/main" id="{9024789A-84C8-4CFA-B003-ADE16A012752}"/>
              </a:ext>
            </a:extLst>
          </p:cNvPr>
          <p:cNvSpPr>
            <a:spLocks xmlns:a="http://schemas.openxmlformats.org/drawingml/2006/main" noGrp="1"/>
          </p:cNvSpPr>
          <p:nvPr/>
        </p:nvSpPr>
        <p:spPr>
          <a:xfrm xmlns:a="http://schemas.openxmlformats.org/drawingml/2006/main">
            <a:off x="609600" y="657225"/>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261D21"/>
                </a:solidFill>
              </a:defRPr>
            </a:defPPr>
          </a:lstStyle>
          <a:p xmlns:a="http://schemas.openxmlformats.org/drawingml/2006/main">
            <a:pPr>
              <a:defRPr sz="2550" b="1">
                <a:solidFill>
                  <a:srgbClr val="261D21"/>
                </a:solidFill>
              </a:defRPr>
            </a:pPr>
            <a:r>
              <a:rPr sz="2550" b="1">
                <a:solidFill>
                  <a:srgbClr val="261D21"/>
                </a:solidFill>
              </a:rPr>
              <a:t>The schema separates order, portion, stock, and money</a:t>
            </a:r>
          </a:p>
        </p:txBody>
      </p:sp>
      <p:sp>
        <p:nvSpPr>
          <p:cNvPr id="3" name="">
            <a:extLst xmlns:a="http://schemas.openxmlformats.org/drawingml/2006/main">
              <a:ext uri="{FF2B5EF4-FFF2-40B4-BE49-F238E27FC236}">
                <a16:creationId xmlns:a16="http://schemas.microsoft.com/office/drawing/2014/main" id="{60E03788-15FC-4B2C-8A32-5AB31A3D2EBC}"/>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line">
            <a:avLst/>
          </a:prstGeom>
          <a:noFill xmlns:a="http://schemas.openxmlformats.org/drawingml/2006/main"/>
          <a:ln xmlns:a="http://schemas.openxmlformats.org/drawingml/2006/main" w="9525">
            <a:solidFill>
              <a:srgbClr val="E8DDE0"/>
            </a:solidFill>
            <a:prstDash val="solid"/>
          </a:ln>
        </p:spPr>
      </p:sp>
      <p:sp>
        <p:nvSpPr>
          <p:cNvPr id="4" name="">
            <a:extLst xmlns:a="http://schemas.openxmlformats.org/drawingml/2006/main">
              <a:ext uri="{FF2B5EF4-FFF2-40B4-BE49-F238E27FC236}">
                <a16:creationId xmlns:a16="http://schemas.microsoft.com/office/drawing/2014/main" id="{A71B41A3-A869-4CE2-97DC-1CF1C130CCAA}"/>
              </a:ext>
            </a:extLst>
          </p:cNvPr>
          <p:cNvSpPr>
            <a:spLocks xmlns:a="http://schemas.openxmlformats.org/drawingml/2006/main" noGrp="1"/>
          </p:cNvSpPr>
          <p:nvPr/>
        </p:nvSpPr>
        <p:spPr>
          <a:xfrm xmlns:a="http://schemas.openxmlformats.org/drawingml/2006/main">
            <a:off x="609600" y="64579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71656A"/>
                </a:solidFill>
              </a:defRPr>
            </a:defPPr>
          </a:lstStyle>
          <a:p xmlns:a="http://schemas.openxmlformats.org/drawingml/2006/main">
            <a:pPr>
              <a:defRPr sz="825" b="1">
                <a:solidFill>
                  <a:srgbClr val="71656A"/>
                </a:solidFill>
              </a:defRPr>
            </a:pPr>
            <a:r>
              <a:rPr sz="825" b="1">
                <a:solidFill>
                  <a:srgbClr val="71656A"/>
                </a:solidFill>
              </a:rPr>
              <a:t>MINT  /  CAMPUS CANTEEN PICKUP</a:t>
            </a:r>
          </a:p>
        </p:txBody>
      </p:sp>
      <p:sp>
        <p:nvSpPr>
          <p:cNvPr id="5" name="">
            <a:extLst xmlns:a="http://schemas.openxmlformats.org/drawingml/2006/main">
              <a:ext uri="{FF2B5EF4-FFF2-40B4-BE49-F238E27FC236}">
                <a16:creationId xmlns:a16="http://schemas.microsoft.com/office/drawing/2014/main" id="{00C5FEBA-1F7C-4844-867E-7A50602501C5}"/>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71656A"/>
                </a:solidFill>
              </a:defRPr>
            </a:defPPr>
          </a:lstStyle>
          <a:p xmlns:a="http://schemas.openxmlformats.org/drawingml/2006/main">
            <a:pPr algn="r">
              <a:defRPr sz="900" b="1">
                <a:solidFill>
                  <a:srgbClr val="71656A"/>
                </a:solidFill>
              </a:defRPr>
            </a:pPr>
            <a:r>
              <a:rPr sz="900" b="1">
                <a:solidFill>
                  <a:srgbClr val="71656A"/>
                </a:solidFill>
              </a:rPr>
              <a:t>07</a:t>
            </a:r>
          </a:p>
        </p:txBody>
      </p:sp>
      <p:sp>
        <p:nvSpPr>
          <p:cNvPr id="6" name="">
            <a:extLst xmlns:a="http://schemas.openxmlformats.org/drawingml/2006/main">
              <a:ext uri="{FF2B5EF4-FFF2-40B4-BE49-F238E27FC236}">
                <a16:creationId xmlns:a16="http://schemas.microsoft.com/office/drawing/2014/main" id="{7B5EF180-7D32-43B4-AA03-B31E1DD68DA1}"/>
              </a:ext>
            </a:extLst>
          </p:cNvPr>
          <p:cNvSpPr>
            <a:spLocks xmlns:a="http://schemas.openxmlformats.org/drawingml/2006/main" noGrp="1"/>
          </p:cNvSpPr>
          <p:nvPr/>
        </p:nvSpPr>
        <p:spPr>
          <a:xfrm xmlns:a="http://schemas.openxmlformats.org/drawingml/2006/main">
            <a:off x="609600" y="1657350"/>
            <a:ext cx="33718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E8DDE0"/>
            </a:solidFill>
            <a:prstDash val="solid"/>
          </a:ln>
        </p:spPr>
      </p:sp>
      <p:sp>
        <p:nvSpPr>
          <p:cNvPr id="7" name="">
            <a:extLst xmlns:a="http://schemas.openxmlformats.org/drawingml/2006/main">
              <a:ext uri="{FF2B5EF4-FFF2-40B4-BE49-F238E27FC236}">
                <a16:creationId xmlns:a16="http://schemas.microsoft.com/office/drawing/2014/main" id="{E1C6A8F2-6094-4A94-A2B3-9B6FB6299294}"/>
              </a:ext>
            </a:extLst>
          </p:cNvPr>
          <p:cNvSpPr>
            <a:spLocks xmlns:a="http://schemas.openxmlformats.org/drawingml/2006/main" noGrp="1"/>
          </p:cNvSpPr>
          <p:nvPr/>
        </p:nvSpPr>
        <p:spPr>
          <a:xfrm xmlns:a="http://schemas.openxmlformats.org/drawingml/2006/main">
            <a:off x="790575" y="1828800"/>
            <a:ext cx="3000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8E123B"/>
                </a:solidFill>
              </a:defRPr>
            </a:defPPr>
          </a:lstStyle>
          <a:p xmlns:a="http://schemas.openxmlformats.org/drawingml/2006/main">
            <a:pPr>
              <a:defRPr sz="1425" b="1">
                <a:solidFill>
                  <a:srgbClr val="8E123B"/>
                </a:solidFill>
              </a:defRPr>
            </a:pPr>
            <a:r>
              <a:rPr sz="1425" b="1">
                <a:solidFill>
                  <a:srgbClr val="8E123B"/>
                </a:solidFill>
              </a:rPr>
              <a:t>Identity</a:t>
            </a:r>
          </a:p>
        </p:txBody>
      </p:sp>
      <p:sp>
        <p:nvSpPr>
          <p:cNvPr id="8" name="">
            <a:extLst xmlns:a="http://schemas.openxmlformats.org/drawingml/2006/main">
              <a:ext uri="{FF2B5EF4-FFF2-40B4-BE49-F238E27FC236}">
                <a16:creationId xmlns:a16="http://schemas.microsoft.com/office/drawing/2014/main" id="{67D044B2-75F0-43C7-B0AF-933F00137CDE}"/>
              </a:ext>
            </a:extLst>
          </p:cNvPr>
          <p:cNvSpPr>
            <a:spLocks xmlns:a="http://schemas.openxmlformats.org/drawingml/2006/main" noGrp="1"/>
          </p:cNvSpPr>
          <p:nvPr/>
        </p:nvSpPr>
        <p:spPr>
          <a:xfrm xmlns:a="http://schemas.openxmlformats.org/drawingml/2006/main">
            <a:off x="790575" y="2276475"/>
            <a:ext cx="300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profiles • roles</a:t>
            </a:r>
          </a:p>
        </p:txBody>
      </p:sp>
      <p:sp>
        <p:nvSpPr>
          <p:cNvPr id="9" name="">
            <a:extLst xmlns:a="http://schemas.openxmlformats.org/drawingml/2006/main">
              <a:ext uri="{FF2B5EF4-FFF2-40B4-BE49-F238E27FC236}">
                <a16:creationId xmlns:a16="http://schemas.microsoft.com/office/drawing/2014/main" id="{CF6AA1B7-EE9A-40D2-8528-61E23B78D635}"/>
              </a:ext>
            </a:extLst>
          </p:cNvPr>
          <p:cNvSpPr>
            <a:spLocks xmlns:a="http://schemas.openxmlformats.org/drawingml/2006/main" noGrp="1"/>
          </p:cNvSpPr>
          <p:nvPr/>
        </p:nvSpPr>
        <p:spPr>
          <a:xfrm xmlns:a="http://schemas.openxmlformats.org/drawingml/2006/main">
            <a:off x="4286250" y="1657350"/>
            <a:ext cx="33718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E8DDE0"/>
            </a:solidFill>
            <a:prstDash val="solid"/>
          </a:ln>
        </p:spPr>
      </p:sp>
      <p:sp>
        <p:nvSpPr>
          <p:cNvPr id="10" name="">
            <a:extLst xmlns:a="http://schemas.openxmlformats.org/drawingml/2006/main">
              <a:ext uri="{FF2B5EF4-FFF2-40B4-BE49-F238E27FC236}">
                <a16:creationId xmlns:a16="http://schemas.microsoft.com/office/drawing/2014/main" id="{917E3F76-7352-48E6-AB0A-BD5AD983697A}"/>
              </a:ext>
            </a:extLst>
          </p:cNvPr>
          <p:cNvSpPr>
            <a:spLocks xmlns:a="http://schemas.openxmlformats.org/drawingml/2006/main" noGrp="1"/>
          </p:cNvSpPr>
          <p:nvPr/>
        </p:nvSpPr>
        <p:spPr>
          <a:xfrm xmlns:a="http://schemas.openxmlformats.org/drawingml/2006/main">
            <a:off x="4467225" y="1828800"/>
            <a:ext cx="3000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8E123B"/>
                </a:solidFill>
              </a:defRPr>
            </a:defPPr>
          </a:lstStyle>
          <a:p xmlns:a="http://schemas.openxmlformats.org/drawingml/2006/main">
            <a:pPr>
              <a:defRPr sz="1425" b="1">
                <a:solidFill>
                  <a:srgbClr val="8E123B"/>
                </a:solidFill>
              </a:defRPr>
            </a:pPr>
            <a:r>
              <a:rPr sz="1425" b="1">
                <a:solidFill>
                  <a:srgbClr val="8E123B"/>
                </a:solidFill>
              </a:rPr>
              <a:t>Catalogue</a:t>
            </a:r>
          </a:p>
        </p:txBody>
      </p:sp>
      <p:sp>
        <p:nvSpPr>
          <p:cNvPr id="11" name="">
            <a:extLst xmlns:a="http://schemas.openxmlformats.org/drawingml/2006/main">
              <a:ext uri="{FF2B5EF4-FFF2-40B4-BE49-F238E27FC236}">
                <a16:creationId xmlns:a16="http://schemas.microsoft.com/office/drawing/2014/main" id="{81FE4083-1AFF-4D9F-B6F3-7E61B383A9CA}"/>
              </a:ext>
            </a:extLst>
          </p:cNvPr>
          <p:cNvSpPr>
            <a:spLocks xmlns:a="http://schemas.openxmlformats.org/drawingml/2006/main" noGrp="1"/>
          </p:cNvSpPr>
          <p:nvPr/>
        </p:nvSpPr>
        <p:spPr>
          <a:xfrm xmlns:a="http://schemas.openxmlformats.org/drawingml/2006/main">
            <a:off x="4467225" y="2276475"/>
            <a:ext cx="300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canteens • stations • items</a:t>
            </a:r>
          </a:p>
        </p:txBody>
      </p:sp>
      <p:sp>
        <p:nvSpPr>
          <p:cNvPr id="12" name="">
            <a:extLst xmlns:a="http://schemas.openxmlformats.org/drawingml/2006/main">
              <a:ext uri="{FF2B5EF4-FFF2-40B4-BE49-F238E27FC236}">
                <a16:creationId xmlns:a16="http://schemas.microsoft.com/office/drawing/2014/main" id="{CA627B5A-5C5C-4A1D-B3AD-F457B12A23E8}"/>
              </a:ext>
            </a:extLst>
          </p:cNvPr>
          <p:cNvSpPr>
            <a:spLocks xmlns:a="http://schemas.openxmlformats.org/drawingml/2006/main" noGrp="1"/>
          </p:cNvSpPr>
          <p:nvPr/>
        </p:nvSpPr>
        <p:spPr>
          <a:xfrm xmlns:a="http://schemas.openxmlformats.org/drawingml/2006/main">
            <a:off x="7962900" y="1657350"/>
            <a:ext cx="33718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E8DDE0"/>
            </a:solidFill>
            <a:prstDash val="solid"/>
          </a:ln>
        </p:spPr>
      </p:sp>
      <p:sp>
        <p:nvSpPr>
          <p:cNvPr id="13" name="">
            <a:extLst xmlns:a="http://schemas.openxmlformats.org/drawingml/2006/main">
              <a:ext uri="{FF2B5EF4-FFF2-40B4-BE49-F238E27FC236}">
                <a16:creationId xmlns:a16="http://schemas.microsoft.com/office/drawing/2014/main" id="{4D09936B-95C2-4F09-BEFF-A1DE819C107D}"/>
              </a:ext>
            </a:extLst>
          </p:cNvPr>
          <p:cNvSpPr>
            <a:spLocks xmlns:a="http://schemas.openxmlformats.org/drawingml/2006/main" noGrp="1"/>
          </p:cNvSpPr>
          <p:nvPr/>
        </p:nvSpPr>
        <p:spPr>
          <a:xfrm xmlns:a="http://schemas.openxmlformats.org/drawingml/2006/main">
            <a:off x="8143875" y="1828800"/>
            <a:ext cx="3000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8E123B"/>
                </a:solidFill>
              </a:defRPr>
            </a:defPPr>
          </a:lstStyle>
          <a:p xmlns:a="http://schemas.openxmlformats.org/drawingml/2006/main">
            <a:pPr>
              <a:defRPr sz="1425" b="1">
                <a:solidFill>
                  <a:srgbClr val="8E123B"/>
                </a:solidFill>
              </a:defRPr>
            </a:pPr>
            <a:r>
              <a:rPr sz="1425" b="1">
                <a:solidFill>
                  <a:srgbClr val="8E123B"/>
                </a:solidFill>
              </a:rPr>
              <a:t>Inventory</a:t>
            </a:r>
          </a:p>
        </p:txBody>
      </p:sp>
      <p:sp>
        <p:nvSpPr>
          <p:cNvPr id="14" name="">
            <a:extLst xmlns:a="http://schemas.openxmlformats.org/drawingml/2006/main">
              <a:ext uri="{FF2B5EF4-FFF2-40B4-BE49-F238E27FC236}">
                <a16:creationId xmlns:a16="http://schemas.microsoft.com/office/drawing/2014/main" id="{0B647D41-69D3-49F1-9DFF-1677C97E1B65}"/>
              </a:ext>
            </a:extLst>
          </p:cNvPr>
          <p:cNvSpPr>
            <a:spLocks xmlns:a="http://schemas.openxmlformats.org/drawingml/2006/main" noGrp="1"/>
          </p:cNvSpPr>
          <p:nvPr/>
        </p:nvSpPr>
        <p:spPr>
          <a:xfrm xmlns:a="http://schemas.openxmlformats.org/drawingml/2006/main">
            <a:off x="8143875" y="2276475"/>
            <a:ext cx="300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batches • stock_events</a:t>
            </a:r>
          </a:p>
        </p:txBody>
      </p:sp>
      <p:sp>
        <p:nvSpPr>
          <p:cNvPr id="15" name="">
            <a:extLst xmlns:a="http://schemas.openxmlformats.org/drawingml/2006/main">
              <a:ext uri="{FF2B5EF4-FFF2-40B4-BE49-F238E27FC236}">
                <a16:creationId xmlns:a16="http://schemas.microsoft.com/office/drawing/2014/main" id="{94B6E224-89AE-47E7-B73F-E86AA0342382}"/>
              </a:ext>
            </a:extLst>
          </p:cNvPr>
          <p:cNvSpPr>
            <a:spLocks xmlns:a="http://schemas.openxmlformats.org/drawingml/2006/main" noGrp="1"/>
          </p:cNvSpPr>
          <p:nvPr/>
        </p:nvSpPr>
        <p:spPr>
          <a:xfrm xmlns:a="http://schemas.openxmlformats.org/drawingml/2006/main">
            <a:off x="609600" y="3467100"/>
            <a:ext cx="3371850" cy="1485900"/>
          </a:xfrm>
          <a:prstGeom xmlns:a="http://schemas.openxmlformats.org/drawingml/2006/main" prst="roundRect">
            <a:avLst>
              <a:gd name="adj" fmla="val 5128"/>
            </a:avLst>
          </a:prstGeom>
          <a:solidFill xmlns:a="http://schemas.openxmlformats.org/drawingml/2006/main">
            <a:srgbClr val="F3E2E6"/>
          </a:solidFill>
          <a:ln xmlns:a="http://schemas.openxmlformats.org/drawingml/2006/main" w="9525">
            <a:solidFill>
              <a:srgbClr val="E8DDE0"/>
            </a:solidFill>
            <a:prstDash val="solid"/>
          </a:ln>
        </p:spPr>
      </p:sp>
      <p:sp>
        <p:nvSpPr>
          <p:cNvPr id="16" name="">
            <a:extLst xmlns:a="http://schemas.openxmlformats.org/drawingml/2006/main">
              <a:ext uri="{FF2B5EF4-FFF2-40B4-BE49-F238E27FC236}">
                <a16:creationId xmlns:a16="http://schemas.microsoft.com/office/drawing/2014/main" id="{2E96B058-DA47-4E84-9E31-A1E2B00A5CFF}"/>
              </a:ext>
            </a:extLst>
          </p:cNvPr>
          <p:cNvSpPr>
            <a:spLocks xmlns:a="http://schemas.openxmlformats.org/drawingml/2006/main" noGrp="1"/>
          </p:cNvSpPr>
          <p:nvPr/>
        </p:nvSpPr>
        <p:spPr>
          <a:xfrm xmlns:a="http://schemas.openxmlformats.org/drawingml/2006/main">
            <a:off x="790575" y="3638550"/>
            <a:ext cx="3000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8E123B"/>
                </a:solidFill>
              </a:defRPr>
            </a:defPPr>
          </a:lstStyle>
          <a:p xmlns:a="http://schemas.openxmlformats.org/drawingml/2006/main">
            <a:pPr>
              <a:defRPr sz="1425" b="1">
                <a:solidFill>
                  <a:srgbClr val="8E123B"/>
                </a:solidFill>
              </a:defRPr>
            </a:pPr>
            <a:r>
              <a:rPr sz="1425" b="1">
                <a:solidFill>
                  <a:srgbClr val="8E123B"/>
                </a:solidFill>
              </a:rPr>
              <a:t>Order / pickup</a:t>
            </a:r>
          </a:p>
        </p:txBody>
      </p:sp>
      <p:sp>
        <p:nvSpPr>
          <p:cNvPr id="17" name="">
            <a:extLst xmlns:a="http://schemas.openxmlformats.org/drawingml/2006/main">
              <a:ext uri="{FF2B5EF4-FFF2-40B4-BE49-F238E27FC236}">
                <a16:creationId xmlns:a16="http://schemas.microsoft.com/office/drawing/2014/main" id="{D123B26C-E77F-4977-9E82-F496885BA203}"/>
              </a:ext>
            </a:extLst>
          </p:cNvPr>
          <p:cNvSpPr>
            <a:spLocks xmlns:a="http://schemas.openxmlformats.org/drawingml/2006/main" noGrp="1"/>
          </p:cNvSpPr>
          <p:nvPr/>
        </p:nvSpPr>
        <p:spPr>
          <a:xfrm xmlns:a="http://schemas.openxmlformats.org/drawingml/2006/main">
            <a:off x="790575" y="4086225"/>
            <a:ext cx="300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orders • units • passes • invitations</a:t>
            </a:r>
          </a:p>
        </p:txBody>
      </p:sp>
      <p:sp>
        <p:nvSpPr>
          <p:cNvPr id="18" name="">
            <a:extLst xmlns:a="http://schemas.openxmlformats.org/drawingml/2006/main">
              <a:ext uri="{FF2B5EF4-FFF2-40B4-BE49-F238E27FC236}">
                <a16:creationId xmlns:a16="http://schemas.microsoft.com/office/drawing/2014/main" id="{47E6DD58-8A08-4A20-8909-08E3B4FF62EB}"/>
              </a:ext>
            </a:extLst>
          </p:cNvPr>
          <p:cNvSpPr>
            <a:spLocks xmlns:a="http://schemas.openxmlformats.org/drawingml/2006/main" noGrp="1"/>
          </p:cNvSpPr>
          <p:nvPr/>
        </p:nvSpPr>
        <p:spPr>
          <a:xfrm xmlns:a="http://schemas.openxmlformats.org/drawingml/2006/main">
            <a:off x="4286250" y="3467100"/>
            <a:ext cx="33718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E8DDE0"/>
            </a:solidFill>
            <a:prstDash val="solid"/>
          </a:ln>
        </p:spPr>
      </p:sp>
      <p:sp>
        <p:nvSpPr>
          <p:cNvPr id="19" name="">
            <a:extLst xmlns:a="http://schemas.openxmlformats.org/drawingml/2006/main">
              <a:ext uri="{FF2B5EF4-FFF2-40B4-BE49-F238E27FC236}">
                <a16:creationId xmlns:a16="http://schemas.microsoft.com/office/drawing/2014/main" id="{CD2208E8-D7F9-4E7D-B727-37DAB9BCE07C}"/>
              </a:ext>
            </a:extLst>
          </p:cNvPr>
          <p:cNvSpPr>
            <a:spLocks xmlns:a="http://schemas.openxmlformats.org/drawingml/2006/main" noGrp="1"/>
          </p:cNvSpPr>
          <p:nvPr/>
        </p:nvSpPr>
        <p:spPr>
          <a:xfrm xmlns:a="http://schemas.openxmlformats.org/drawingml/2006/main">
            <a:off x="4467225" y="3638550"/>
            <a:ext cx="3000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8E123B"/>
                </a:solidFill>
              </a:defRPr>
            </a:defPPr>
          </a:lstStyle>
          <a:p xmlns:a="http://schemas.openxmlformats.org/drawingml/2006/main">
            <a:pPr>
              <a:defRPr sz="1425" b="1">
                <a:solidFill>
                  <a:srgbClr val="8E123B"/>
                </a:solidFill>
              </a:defRPr>
            </a:pPr>
            <a:r>
              <a:rPr sz="1425" b="1">
                <a:solidFill>
                  <a:srgbClr val="8E123B"/>
                </a:solidFill>
              </a:rPr>
              <a:t>Payment / credit</a:t>
            </a:r>
          </a:p>
        </p:txBody>
      </p:sp>
      <p:sp>
        <p:nvSpPr>
          <p:cNvPr id="20" name="">
            <a:extLst xmlns:a="http://schemas.openxmlformats.org/drawingml/2006/main">
              <a:ext uri="{FF2B5EF4-FFF2-40B4-BE49-F238E27FC236}">
                <a16:creationId xmlns:a16="http://schemas.microsoft.com/office/drawing/2014/main" id="{07FA69FF-050B-4AA2-A3A5-C1FAAED1D213}"/>
              </a:ext>
            </a:extLst>
          </p:cNvPr>
          <p:cNvSpPr>
            <a:spLocks xmlns:a="http://schemas.openxmlformats.org/drawingml/2006/main" noGrp="1"/>
          </p:cNvSpPr>
          <p:nvPr/>
        </p:nvSpPr>
        <p:spPr>
          <a:xfrm xmlns:a="http://schemas.openxmlformats.org/drawingml/2006/main">
            <a:off x="4467225" y="4086225"/>
            <a:ext cx="300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payments • accounts • lots • reservations • ledger</a:t>
            </a:r>
          </a:p>
        </p:txBody>
      </p:sp>
      <p:sp>
        <p:nvSpPr>
          <p:cNvPr id="21" name="">
            <a:extLst xmlns:a="http://schemas.openxmlformats.org/drawingml/2006/main">
              <a:ext uri="{FF2B5EF4-FFF2-40B4-BE49-F238E27FC236}">
                <a16:creationId xmlns:a16="http://schemas.microsoft.com/office/drawing/2014/main" id="{22CB5BBC-12E2-4B2A-9C5D-1FF51DD90D41}"/>
              </a:ext>
            </a:extLst>
          </p:cNvPr>
          <p:cNvSpPr>
            <a:spLocks xmlns:a="http://schemas.openxmlformats.org/drawingml/2006/main" noGrp="1"/>
          </p:cNvSpPr>
          <p:nvPr/>
        </p:nvSpPr>
        <p:spPr>
          <a:xfrm xmlns:a="http://schemas.openxmlformats.org/drawingml/2006/main">
            <a:off x="7962900" y="3467100"/>
            <a:ext cx="33718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E8DDE0"/>
            </a:solidFill>
            <a:prstDash val="solid"/>
          </a:ln>
        </p:spPr>
      </p:sp>
      <p:sp>
        <p:nvSpPr>
          <p:cNvPr id="22" name="">
            <a:extLst xmlns:a="http://schemas.openxmlformats.org/drawingml/2006/main">
              <a:ext uri="{FF2B5EF4-FFF2-40B4-BE49-F238E27FC236}">
                <a16:creationId xmlns:a16="http://schemas.microsoft.com/office/drawing/2014/main" id="{6776B11D-7B84-46CE-BE64-41233088E088}"/>
              </a:ext>
            </a:extLst>
          </p:cNvPr>
          <p:cNvSpPr>
            <a:spLocks xmlns:a="http://schemas.openxmlformats.org/drawingml/2006/main" noGrp="1"/>
          </p:cNvSpPr>
          <p:nvPr/>
        </p:nvSpPr>
        <p:spPr>
          <a:xfrm xmlns:a="http://schemas.openxmlformats.org/drawingml/2006/main">
            <a:off x="8143875" y="3638550"/>
            <a:ext cx="3000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8E123B"/>
                </a:solidFill>
              </a:defRPr>
            </a:defPPr>
          </a:lstStyle>
          <a:p xmlns:a="http://schemas.openxmlformats.org/drawingml/2006/main">
            <a:pPr>
              <a:defRPr sz="1425" b="1">
                <a:solidFill>
                  <a:srgbClr val="8E123B"/>
                </a:solidFill>
              </a:defRPr>
            </a:pPr>
            <a:r>
              <a:rPr sz="1425" b="1">
                <a:solidFill>
                  <a:srgbClr val="8E123B"/>
                </a:solidFill>
              </a:rPr>
              <a:t>Operations / safety</a:t>
            </a:r>
          </a:p>
        </p:txBody>
      </p:sp>
      <p:sp>
        <p:nvSpPr>
          <p:cNvPr id="23" name="">
            <a:extLst xmlns:a="http://schemas.openxmlformats.org/drawingml/2006/main">
              <a:ext uri="{FF2B5EF4-FFF2-40B4-BE49-F238E27FC236}">
                <a16:creationId xmlns:a16="http://schemas.microsoft.com/office/drawing/2014/main" id="{A1E55E19-3B46-4EFC-AE58-CAE8B410DA19}"/>
              </a:ext>
            </a:extLst>
          </p:cNvPr>
          <p:cNvSpPr>
            <a:spLocks xmlns:a="http://schemas.openxmlformats.org/drawingml/2006/main" noGrp="1"/>
          </p:cNvSpPr>
          <p:nvPr/>
        </p:nvSpPr>
        <p:spPr>
          <a:xfrm xmlns:a="http://schemas.openxmlformats.org/drawingml/2006/main">
            <a:off x="8143875" y="4086225"/>
            <a:ext cx="300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idempotency • resolutions • audit • counters</a:t>
            </a:r>
          </a:p>
        </p:txBody>
      </p:sp>
      <p:sp>
        <p:nvSpPr>
          <p:cNvPr id="24" name="">
            <a:extLst xmlns:a="http://schemas.openxmlformats.org/drawingml/2006/main">
              <a:ext uri="{FF2B5EF4-FFF2-40B4-BE49-F238E27FC236}">
                <a16:creationId xmlns:a16="http://schemas.microsoft.com/office/drawing/2014/main" id="{719333CA-C944-445D-872D-CCE0735CC7A4}"/>
              </a:ext>
            </a:extLst>
          </p:cNvPr>
          <p:cNvSpPr>
            <a:spLocks xmlns:a="http://schemas.openxmlformats.org/drawingml/2006/main" noGrp="1"/>
          </p:cNvSpPr>
          <p:nvPr/>
        </p:nvSpPr>
        <p:spPr>
          <a:xfrm xmlns:a="http://schemas.openxmlformats.org/drawingml/2006/main">
            <a:off x="609600" y="5429250"/>
            <a:ext cx="1095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71656A"/>
                </a:solidFill>
              </a:defRPr>
            </a:defPPr>
          </a:lstStyle>
          <a:p xmlns:a="http://schemas.openxmlformats.org/drawingml/2006/main">
            <a:pPr>
              <a:defRPr sz="1275" b="1">
                <a:solidFill>
                  <a:srgbClr val="71656A"/>
                </a:solidFill>
              </a:defRPr>
            </a:pPr>
            <a:r>
              <a:rPr sz="1275" b="1">
                <a:solidFill>
                  <a:srgbClr val="71656A"/>
                </a:solidFill>
              </a:rPr>
              <a:t>22 application tables • schema: mint • most identifiers: random UUIDs</a:t>
            </a:r>
          </a:p>
        </p:txBody>
      </p:sp>
    </p:spTree>
    <p:extLst>
      <p:ext uri="{BB962C8B-B14F-4D97-AF65-F5344CB8AC3E}">
        <p14:creationId xmlns:p14="http://schemas.microsoft.com/office/powerpoint/2010/main" val="1151314457"/>
      </p:ext>
    </p:extLst>
  </p:cSld>
</p:sld>
</file>

<file path=ppt/slides/slide8.xml><?xml version="1.0" encoding="utf-8"?>
<p:sld xmlns:p="http://schemas.openxmlformats.org/presentationml/2006/main">
  <p:cSld>
    <p:bg>
      <p:bgPr>
        <a:solidFill xmlns:a="http://schemas.openxmlformats.org/drawingml/2006/main">
          <a:srgbClr val="FBF7F4"/>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C1CF263-7DFF-4847-A1D9-ADA3B6A889ED}"/>
              </a:ext>
            </a:extLst>
          </p:cNvPr>
          <p:cNvSpPr>
            <a:spLocks xmlns:a="http://schemas.openxmlformats.org/drawingml/2006/main" noGrp="1"/>
          </p:cNvSpPr>
          <p:nvPr/>
        </p:nvSpPr>
        <p:spPr>
          <a:xfrm xmlns:a="http://schemas.openxmlformats.org/drawingml/2006/main">
            <a:off x="6096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8E123B"/>
                </a:solidFill>
              </a:defRPr>
            </a:defPPr>
          </a:lstStyle>
          <a:p xmlns:a="http://schemas.openxmlformats.org/drawingml/2006/main">
            <a:pPr>
              <a:defRPr sz="900" b="1">
                <a:solidFill>
                  <a:srgbClr val="8E123B"/>
                </a:solidFill>
              </a:defRPr>
            </a:pPr>
            <a:r>
              <a:rPr sz="900" b="1">
                <a:solidFill>
                  <a:srgbClr val="8E123B"/>
                </a:solidFill>
              </a:rPr>
              <a:t>07 • CONCURRENCY</a:t>
            </a:r>
          </a:p>
        </p:txBody>
      </p:sp>
      <p:sp>
        <p:nvSpPr>
          <p:cNvPr id="2" name="">
            <a:extLst xmlns:a="http://schemas.openxmlformats.org/drawingml/2006/main">
              <a:ext uri="{FF2B5EF4-FFF2-40B4-BE49-F238E27FC236}">
                <a16:creationId xmlns:a16="http://schemas.microsoft.com/office/drawing/2014/main" id="{ABF71AF6-2E26-412C-98BA-62A677A78E55}"/>
              </a:ext>
            </a:extLst>
          </p:cNvPr>
          <p:cNvSpPr>
            <a:spLocks xmlns:a="http://schemas.openxmlformats.org/drawingml/2006/main" noGrp="1"/>
          </p:cNvSpPr>
          <p:nvPr/>
        </p:nvSpPr>
        <p:spPr>
          <a:xfrm xmlns:a="http://schemas.openxmlformats.org/drawingml/2006/main">
            <a:off x="609600" y="657225"/>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261D21"/>
                </a:solidFill>
              </a:defRPr>
            </a:defPPr>
          </a:lstStyle>
          <a:p xmlns:a="http://schemas.openxmlformats.org/drawingml/2006/main">
            <a:pPr>
              <a:defRPr sz="2550" b="1">
                <a:solidFill>
                  <a:srgbClr val="261D21"/>
                </a:solidFill>
              </a:defRPr>
            </a:pPr>
            <a:r>
              <a:rPr sz="2550" b="1">
                <a:solidFill>
                  <a:srgbClr val="261D21"/>
                </a:solidFill>
              </a:rPr>
              <a:t>The last portion is protected by transaction locks</a:t>
            </a:r>
          </a:p>
        </p:txBody>
      </p:sp>
      <p:sp>
        <p:nvSpPr>
          <p:cNvPr id="3" name="">
            <a:extLst xmlns:a="http://schemas.openxmlformats.org/drawingml/2006/main">
              <a:ext uri="{FF2B5EF4-FFF2-40B4-BE49-F238E27FC236}">
                <a16:creationId xmlns:a16="http://schemas.microsoft.com/office/drawing/2014/main" id="{85448D27-7A9B-4FDE-9C7F-AEA956DD90EA}"/>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line">
            <a:avLst/>
          </a:prstGeom>
          <a:noFill xmlns:a="http://schemas.openxmlformats.org/drawingml/2006/main"/>
          <a:ln xmlns:a="http://schemas.openxmlformats.org/drawingml/2006/main" w="9525">
            <a:solidFill>
              <a:srgbClr val="E8DDE0"/>
            </a:solidFill>
            <a:prstDash val="solid"/>
          </a:ln>
        </p:spPr>
      </p:sp>
      <p:sp>
        <p:nvSpPr>
          <p:cNvPr id="4" name="">
            <a:extLst xmlns:a="http://schemas.openxmlformats.org/drawingml/2006/main">
              <a:ext uri="{FF2B5EF4-FFF2-40B4-BE49-F238E27FC236}">
                <a16:creationId xmlns:a16="http://schemas.microsoft.com/office/drawing/2014/main" id="{26499037-F000-4B8E-88A4-79F6D5E9F341}"/>
              </a:ext>
            </a:extLst>
          </p:cNvPr>
          <p:cNvSpPr>
            <a:spLocks xmlns:a="http://schemas.openxmlformats.org/drawingml/2006/main" noGrp="1"/>
          </p:cNvSpPr>
          <p:nvPr/>
        </p:nvSpPr>
        <p:spPr>
          <a:xfrm xmlns:a="http://schemas.openxmlformats.org/drawingml/2006/main">
            <a:off x="609600" y="64579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71656A"/>
                </a:solidFill>
              </a:defRPr>
            </a:defPPr>
          </a:lstStyle>
          <a:p xmlns:a="http://schemas.openxmlformats.org/drawingml/2006/main">
            <a:pPr>
              <a:defRPr sz="825" b="1">
                <a:solidFill>
                  <a:srgbClr val="71656A"/>
                </a:solidFill>
              </a:defRPr>
            </a:pPr>
            <a:r>
              <a:rPr sz="825" b="1">
                <a:solidFill>
                  <a:srgbClr val="71656A"/>
                </a:solidFill>
              </a:rPr>
              <a:t>MINT  /  CAMPUS CANTEEN PICKUP</a:t>
            </a:r>
          </a:p>
        </p:txBody>
      </p:sp>
      <p:sp>
        <p:nvSpPr>
          <p:cNvPr id="5" name="">
            <a:extLst xmlns:a="http://schemas.openxmlformats.org/drawingml/2006/main">
              <a:ext uri="{FF2B5EF4-FFF2-40B4-BE49-F238E27FC236}">
                <a16:creationId xmlns:a16="http://schemas.microsoft.com/office/drawing/2014/main" id="{2F39CEC9-AF41-4879-A076-86D03B2B937C}"/>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71656A"/>
                </a:solidFill>
              </a:defRPr>
            </a:defPPr>
          </a:lstStyle>
          <a:p xmlns:a="http://schemas.openxmlformats.org/drawingml/2006/main">
            <a:pPr algn="r">
              <a:defRPr sz="900" b="1">
                <a:solidFill>
                  <a:srgbClr val="71656A"/>
                </a:solidFill>
              </a:defRPr>
            </a:pPr>
            <a:r>
              <a:rPr sz="900" b="1">
                <a:solidFill>
                  <a:srgbClr val="71656A"/>
                </a:solidFill>
              </a:rPr>
              <a:t>08</a:t>
            </a:r>
          </a:p>
        </p:txBody>
      </p:sp>
      <p:sp>
        <p:nvSpPr>
          <p:cNvPr id="6" name="">
            <a:extLst xmlns:a="http://schemas.openxmlformats.org/drawingml/2006/main">
              <a:ext uri="{FF2B5EF4-FFF2-40B4-BE49-F238E27FC236}">
                <a16:creationId xmlns:a16="http://schemas.microsoft.com/office/drawing/2014/main" id="{F7025BD2-16F0-4525-AC89-D13ED931A0D8}"/>
              </a:ext>
            </a:extLst>
          </p:cNvPr>
          <p:cNvSpPr>
            <a:spLocks xmlns:a="http://schemas.openxmlformats.org/drawingml/2006/main" noGrp="1"/>
          </p:cNvSpPr>
          <p:nvPr/>
        </p:nvSpPr>
        <p:spPr>
          <a:xfrm xmlns:a="http://schemas.openxmlformats.org/drawingml/2006/main">
            <a:off x="609600" y="1704975"/>
            <a:ext cx="3238500" cy="35433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9525">
            <a:solidFill>
              <a:srgbClr val="E8DDE0"/>
            </a:solidFill>
            <a:prstDash val="solid"/>
          </a:ln>
        </p:spPr>
      </p:sp>
      <p:sp>
        <p:nvSpPr>
          <p:cNvPr id="7" name="">
            <a:extLst xmlns:a="http://schemas.openxmlformats.org/drawingml/2006/main">
              <a:ext uri="{FF2B5EF4-FFF2-40B4-BE49-F238E27FC236}">
                <a16:creationId xmlns:a16="http://schemas.microsoft.com/office/drawing/2014/main" id="{853DE480-A028-475C-8D52-B65D46298496}"/>
              </a:ext>
            </a:extLst>
          </p:cNvPr>
          <p:cNvSpPr>
            <a:spLocks xmlns:a="http://schemas.openxmlformats.org/drawingml/2006/main" noGrp="1"/>
          </p:cNvSpPr>
          <p:nvPr/>
        </p:nvSpPr>
        <p:spPr>
          <a:xfrm xmlns:a="http://schemas.openxmlformats.org/drawingml/2006/main">
            <a:off x="838200" y="19240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261D21"/>
                </a:solidFill>
              </a:defRPr>
            </a:defPPr>
          </a:lstStyle>
          <a:p xmlns:a="http://schemas.openxmlformats.org/drawingml/2006/main">
            <a:pPr>
              <a:defRPr sz="1500" b="1">
                <a:solidFill>
                  <a:srgbClr val="261D21"/>
                </a:solidFill>
              </a:defRPr>
            </a:pPr>
            <a:r>
              <a:rPr sz="1500" b="1">
                <a:solidFill>
                  <a:srgbClr val="261D21"/>
                </a:solidFill>
              </a:rPr>
              <a:t>Starting state</a:t>
            </a:r>
          </a:p>
        </p:txBody>
      </p:sp>
      <p:sp>
        <p:nvSpPr>
          <p:cNvPr id="8" name="">
            <a:extLst xmlns:a="http://schemas.openxmlformats.org/drawingml/2006/main">
              <a:ext uri="{FF2B5EF4-FFF2-40B4-BE49-F238E27FC236}">
                <a16:creationId xmlns:a16="http://schemas.microsoft.com/office/drawing/2014/main" id="{A11A0BBC-9889-4BF8-9E15-46DA98B2E509}"/>
              </a:ext>
            </a:extLst>
          </p:cNvPr>
          <p:cNvSpPr>
            <a:spLocks xmlns:a="http://schemas.openxmlformats.org/drawingml/2006/main" noGrp="1"/>
          </p:cNvSpPr>
          <p:nvPr/>
        </p:nvSpPr>
        <p:spPr>
          <a:xfrm xmlns:a="http://schemas.openxmlformats.org/drawingml/2006/main">
            <a:off x="838200" y="2419350"/>
            <a:ext cx="2238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71656A"/>
                </a:solidFill>
              </a:defRPr>
            </a:defPPr>
          </a:lstStyle>
          <a:p xmlns:a="http://schemas.openxmlformats.org/drawingml/2006/main">
            <a:pPr>
              <a:defRPr sz="1050" b="1">
                <a:solidFill>
                  <a:srgbClr val="71656A"/>
                </a:solidFill>
              </a:defRPr>
            </a:pPr>
            <a:r>
              <a:rPr sz="1050" b="1">
                <a:solidFill>
                  <a:srgbClr val="71656A"/>
                </a:solidFill>
              </a:rPr>
              <a:t>Available portions</a:t>
            </a:r>
          </a:p>
        </p:txBody>
      </p:sp>
      <p:sp>
        <p:nvSpPr>
          <p:cNvPr id="9" name="">
            <a:extLst xmlns:a="http://schemas.openxmlformats.org/drawingml/2006/main">
              <a:ext uri="{FF2B5EF4-FFF2-40B4-BE49-F238E27FC236}">
                <a16:creationId xmlns:a16="http://schemas.microsoft.com/office/drawing/2014/main" id="{B1CC9BFB-6E3B-4A21-8A2E-D6004AF33709}"/>
              </a:ext>
            </a:extLst>
          </p:cNvPr>
          <p:cNvSpPr>
            <a:spLocks xmlns:a="http://schemas.openxmlformats.org/drawingml/2006/main" noGrp="1"/>
          </p:cNvSpPr>
          <p:nvPr/>
        </p:nvSpPr>
        <p:spPr>
          <a:xfrm xmlns:a="http://schemas.openxmlformats.org/drawingml/2006/main">
            <a:off x="838200" y="2724150"/>
            <a:ext cx="1143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4650" b="1">
                <a:solidFill>
                  <a:srgbClr val="8E123B"/>
                </a:solidFill>
              </a:defRPr>
            </a:defPPr>
          </a:lstStyle>
          <a:p xmlns:a="http://schemas.openxmlformats.org/drawingml/2006/main">
            <a:pPr>
              <a:defRPr sz="4650" b="1">
                <a:solidFill>
                  <a:srgbClr val="8E123B"/>
                </a:solidFill>
              </a:defRPr>
            </a:pPr>
            <a:r>
              <a:rPr sz="4650" b="1">
                <a:solidFill>
                  <a:srgbClr val="8E123B"/>
                </a:solidFill>
              </a:rPr>
              <a:t>1</a:t>
            </a:r>
          </a:p>
        </p:txBody>
      </p:sp>
      <p:sp>
        <p:nvSpPr>
          <p:cNvPr id="10" name="">
            <a:extLst xmlns:a="http://schemas.openxmlformats.org/drawingml/2006/main">
              <a:ext uri="{FF2B5EF4-FFF2-40B4-BE49-F238E27FC236}">
                <a16:creationId xmlns:a16="http://schemas.microsoft.com/office/drawing/2014/main" id="{0800624E-6E17-4777-8C26-A8FB46F07D95}"/>
              </a:ext>
            </a:extLst>
          </p:cNvPr>
          <p:cNvSpPr>
            <a:spLocks xmlns:a="http://schemas.openxmlformats.org/drawingml/2006/main" noGrp="1"/>
          </p:cNvSpPr>
          <p:nvPr/>
        </p:nvSpPr>
        <p:spPr>
          <a:xfrm xmlns:a="http://schemas.openxmlformats.org/drawingml/2006/main">
            <a:off x="838200" y="3705225"/>
            <a:ext cx="2762250" cy="9525"/>
          </a:xfrm>
          <a:prstGeom xmlns:a="http://schemas.openxmlformats.org/drawingml/2006/main" prst="line">
            <a:avLst/>
          </a:prstGeom>
          <a:noFill xmlns:a="http://schemas.openxmlformats.org/drawingml/2006/main"/>
          <a:ln xmlns:a="http://schemas.openxmlformats.org/drawingml/2006/main" w="19050">
            <a:solidFill>
              <a:srgbClr val="E8DDE0"/>
            </a:solidFill>
            <a:prstDash val="solid"/>
          </a:ln>
        </p:spPr>
      </p:sp>
      <p:sp>
        <p:nvSpPr>
          <p:cNvPr id="11" name="">
            <a:extLst xmlns:a="http://schemas.openxmlformats.org/drawingml/2006/main">
              <a:ext uri="{FF2B5EF4-FFF2-40B4-BE49-F238E27FC236}">
                <a16:creationId xmlns:a16="http://schemas.microsoft.com/office/drawing/2014/main" id="{C03BE810-2F99-4E29-AE7A-250D1DB54EFF}"/>
              </a:ext>
            </a:extLst>
          </p:cNvPr>
          <p:cNvSpPr>
            <a:spLocks xmlns:a="http://schemas.openxmlformats.org/drawingml/2006/main" noGrp="1"/>
          </p:cNvSpPr>
          <p:nvPr/>
        </p:nvSpPr>
        <p:spPr>
          <a:xfrm xmlns:a="http://schemas.openxmlformats.org/drawingml/2006/main">
            <a:off x="838200" y="3971925"/>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261D21"/>
                </a:solidFill>
              </a:defRPr>
            </a:defPPr>
          </a:lstStyle>
          <a:p xmlns:a="http://schemas.openxmlformats.org/drawingml/2006/main">
            <a:pPr>
              <a:defRPr sz="1350" b="1">
                <a:solidFill>
                  <a:srgbClr val="261D21"/>
                </a:solidFill>
              </a:defRPr>
            </a:pPr>
            <a:r>
              <a:rPr sz="1350" b="1">
                <a:solidFill>
                  <a:srgbClr val="261D21"/>
                </a:solidFill>
              </a:rPr>
              <a:t>Two checkouts arrive together</a:t>
            </a:r>
          </a:p>
        </p:txBody>
      </p:sp>
      <p:sp>
        <p:nvSpPr>
          <p:cNvPr id="12" name="">
            <a:extLst xmlns:a="http://schemas.openxmlformats.org/drawingml/2006/main">
              <a:ext uri="{FF2B5EF4-FFF2-40B4-BE49-F238E27FC236}">
                <a16:creationId xmlns:a16="http://schemas.microsoft.com/office/drawing/2014/main" id="{84441C00-86E4-4B2D-B88E-E143D6592854}"/>
              </a:ext>
            </a:extLst>
          </p:cNvPr>
          <p:cNvSpPr>
            <a:spLocks xmlns:a="http://schemas.openxmlformats.org/drawingml/2006/main" noGrp="1"/>
          </p:cNvSpPr>
          <p:nvPr/>
        </p:nvSpPr>
        <p:spPr>
          <a:xfrm xmlns:a="http://schemas.openxmlformats.org/drawingml/2006/main">
            <a:off x="4343400" y="1724025"/>
            <a:ext cx="723900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E8DDE0"/>
            </a:solidFill>
            <a:prstDash val="solid"/>
          </a:ln>
        </p:spPr>
      </p:sp>
      <p:sp>
        <p:nvSpPr>
          <p:cNvPr id="13" name="">
            <a:extLst xmlns:a="http://schemas.openxmlformats.org/drawingml/2006/main">
              <a:ext uri="{FF2B5EF4-FFF2-40B4-BE49-F238E27FC236}">
                <a16:creationId xmlns:a16="http://schemas.microsoft.com/office/drawing/2014/main" id="{3A28B864-DA62-4330-AF5E-A005FAA7EEDE}"/>
              </a:ext>
            </a:extLst>
          </p:cNvPr>
          <p:cNvSpPr>
            <a:spLocks xmlns:a="http://schemas.openxmlformats.org/drawingml/2006/main" noGrp="1"/>
          </p:cNvSpPr>
          <p:nvPr/>
        </p:nvSpPr>
        <p:spPr>
          <a:xfrm xmlns:a="http://schemas.openxmlformats.org/drawingml/2006/main">
            <a:off x="4514850" y="1866900"/>
            <a:ext cx="381000" cy="381000"/>
          </a:xfrm>
          <a:prstGeom xmlns:a="http://schemas.openxmlformats.org/drawingml/2006/main" prst="roundRect">
            <a:avLst>
              <a:gd name="adj" fmla="val 20000"/>
            </a:avLst>
          </a:prstGeom>
          <a:solidFill xmlns:a="http://schemas.openxmlformats.org/drawingml/2006/main">
            <a:srgbClr val="8E123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AE5D23E-54D8-4818-AC49-874CB61C3007}"/>
              </a:ext>
            </a:extLst>
          </p:cNvPr>
          <p:cNvSpPr>
            <a:spLocks xmlns:a="http://schemas.openxmlformats.org/drawingml/2006/main" noGrp="1"/>
          </p:cNvSpPr>
          <p:nvPr/>
        </p:nvSpPr>
        <p:spPr>
          <a:xfrm xmlns:a="http://schemas.openxmlformats.org/drawingml/2006/main">
            <a:off x="4514850" y="18669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stStyle>
          <a:p xmlns:a="http://schemas.openxmlformats.org/drawingml/2006/main">
            <a:pPr algn="ctr">
              <a:defRPr sz="1275" b="1">
                <a:solidFill>
                  <a:srgbClr val="FFFFFF"/>
                </a:solidFill>
              </a:defRPr>
            </a:pPr>
            <a:r>
              <a:rPr sz="1275" b="1">
                <a:solidFill>
                  <a:srgbClr val="FFFFFF"/>
                </a:solidFill>
              </a:rPr>
              <a:t>A</a:t>
            </a:r>
          </a:p>
        </p:txBody>
      </p:sp>
      <p:sp>
        <p:nvSpPr>
          <p:cNvPr id="15" name="">
            <a:extLst xmlns:a="http://schemas.openxmlformats.org/drawingml/2006/main">
              <a:ext uri="{FF2B5EF4-FFF2-40B4-BE49-F238E27FC236}">
                <a16:creationId xmlns:a16="http://schemas.microsoft.com/office/drawing/2014/main" id="{9C45EF7D-7547-468E-ADED-2CBD0538D4A6}"/>
              </a:ext>
            </a:extLst>
          </p:cNvPr>
          <p:cNvSpPr>
            <a:spLocks xmlns:a="http://schemas.openxmlformats.org/drawingml/2006/main" noGrp="1"/>
          </p:cNvSpPr>
          <p:nvPr/>
        </p:nvSpPr>
        <p:spPr>
          <a:xfrm xmlns:a="http://schemas.openxmlformats.org/drawingml/2006/main">
            <a:off x="5095875" y="1781175"/>
            <a:ext cx="619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261D21"/>
                </a:solidFill>
              </a:defRPr>
            </a:defPPr>
          </a:lstStyle>
          <a:p xmlns:a="http://schemas.openxmlformats.org/drawingml/2006/main">
            <a:pPr>
              <a:defRPr sz="1275" b="1">
                <a:solidFill>
                  <a:srgbClr val="261D21"/>
                </a:solidFill>
              </a:defRPr>
            </a:pPr>
            <a:r>
              <a:rPr sz="1275" b="1">
                <a:solidFill>
                  <a:srgbClr val="261D21"/>
                </a:solidFill>
              </a:rPr>
              <a:t>Acquire student + canteen advisory locks</a:t>
            </a:r>
          </a:p>
        </p:txBody>
      </p:sp>
      <p:sp>
        <p:nvSpPr>
          <p:cNvPr id="16" name="">
            <a:extLst xmlns:a="http://schemas.openxmlformats.org/drawingml/2006/main">
              <a:ext uri="{FF2B5EF4-FFF2-40B4-BE49-F238E27FC236}">
                <a16:creationId xmlns:a16="http://schemas.microsoft.com/office/drawing/2014/main" id="{5BD6C998-073D-4159-9768-51BCAC682080}"/>
              </a:ext>
            </a:extLst>
          </p:cNvPr>
          <p:cNvSpPr>
            <a:spLocks xmlns:a="http://schemas.openxmlformats.org/drawingml/2006/main" noGrp="1"/>
          </p:cNvSpPr>
          <p:nvPr/>
        </p:nvSpPr>
        <p:spPr>
          <a:xfrm xmlns:a="http://schemas.openxmlformats.org/drawingml/2006/main">
            <a:off x="4343400" y="2590800"/>
            <a:ext cx="723900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E8DDE0"/>
            </a:solidFill>
            <a:prstDash val="solid"/>
          </a:ln>
        </p:spPr>
      </p:sp>
      <p:sp>
        <p:nvSpPr>
          <p:cNvPr id="17" name="">
            <a:extLst xmlns:a="http://schemas.openxmlformats.org/drawingml/2006/main">
              <a:ext uri="{FF2B5EF4-FFF2-40B4-BE49-F238E27FC236}">
                <a16:creationId xmlns:a16="http://schemas.microsoft.com/office/drawing/2014/main" id="{4A03D55E-C550-40F2-87EB-6EE6747A4B92}"/>
              </a:ext>
            </a:extLst>
          </p:cNvPr>
          <p:cNvSpPr>
            <a:spLocks xmlns:a="http://schemas.openxmlformats.org/drawingml/2006/main" noGrp="1"/>
          </p:cNvSpPr>
          <p:nvPr/>
        </p:nvSpPr>
        <p:spPr>
          <a:xfrm xmlns:a="http://schemas.openxmlformats.org/drawingml/2006/main">
            <a:off x="4514850" y="2733675"/>
            <a:ext cx="381000" cy="381000"/>
          </a:xfrm>
          <a:prstGeom xmlns:a="http://schemas.openxmlformats.org/drawingml/2006/main" prst="roundRect">
            <a:avLst>
              <a:gd name="adj" fmla="val 20000"/>
            </a:avLst>
          </a:prstGeom>
          <a:solidFill xmlns:a="http://schemas.openxmlformats.org/drawingml/2006/main">
            <a:srgbClr val="8E123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7C2D5F2-0652-4225-AAC9-073235582A75}"/>
              </a:ext>
            </a:extLst>
          </p:cNvPr>
          <p:cNvSpPr>
            <a:spLocks xmlns:a="http://schemas.openxmlformats.org/drawingml/2006/main" noGrp="1"/>
          </p:cNvSpPr>
          <p:nvPr/>
        </p:nvSpPr>
        <p:spPr>
          <a:xfrm xmlns:a="http://schemas.openxmlformats.org/drawingml/2006/main">
            <a:off x="4514850" y="27336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stStyle>
          <a:p xmlns:a="http://schemas.openxmlformats.org/drawingml/2006/main">
            <a:pPr algn="ctr">
              <a:defRPr sz="1275" b="1">
                <a:solidFill>
                  <a:srgbClr val="FFFFFF"/>
                </a:solidFill>
              </a:defRPr>
            </a:pPr>
            <a:r>
              <a:rPr sz="1275" b="1">
                <a:solidFill>
                  <a:srgbClr val="FFFFFF"/>
                </a:solidFill>
              </a:rPr>
              <a:t>B</a:t>
            </a:r>
          </a:p>
        </p:txBody>
      </p:sp>
      <p:sp>
        <p:nvSpPr>
          <p:cNvPr id="19" name="">
            <a:extLst xmlns:a="http://schemas.openxmlformats.org/drawingml/2006/main">
              <a:ext uri="{FF2B5EF4-FFF2-40B4-BE49-F238E27FC236}">
                <a16:creationId xmlns:a16="http://schemas.microsoft.com/office/drawing/2014/main" id="{22CFA1B0-B955-4AAE-B965-FE4285DCC4E6}"/>
              </a:ext>
            </a:extLst>
          </p:cNvPr>
          <p:cNvSpPr>
            <a:spLocks xmlns:a="http://schemas.openxmlformats.org/drawingml/2006/main" noGrp="1"/>
          </p:cNvSpPr>
          <p:nvPr/>
        </p:nvSpPr>
        <p:spPr>
          <a:xfrm xmlns:a="http://schemas.openxmlformats.org/drawingml/2006/main">
            <a:off x="5095875" y="2647950"/>
            <a:ext cx="619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261D21"/>
                </a:solidFill>
              </a:defRPr>
            </a:defPPr>
          </a:lstStyle>
          <a:p xmlns:a="http://schemas.openxmlformats.org/drawingml/2006/main">
            <a:pPr>
              <a:defRPr sz="1275" b="1">
                <a:solidFill>
                  <a:srgbClr val="261D21"/>
                </a:solidFill>
              </a:defRPr>
            </a:pPr>
            <a:r>
              <a:rPr sz="1275" b="1">
                <a:solidFill>
                  <a:srgbClr val="261D21"/>
                </a:solidFill>
              </a:rPr>
              <a:t>Lock eligible inventory rows; verify quantity</a:t>
            </a:r>
          </a:p>
        </p:txBody>
      </p:sp>
      <p:sp>
        <p:nvSpPr>
          <p:cNvPr id="20" name="">
            <a:extLst xmlns:a="http://schemas.openxmlformats.org/drawingml/2006/main">
              <a:ext uri="{FF2B5EF4-FFF2-40B4-BE49-F238E27FC236}">
                <a16:creationId xmlns:a16="http://schemas.microsoft.com/office/drawing/2014/main" id="{EB65B764-FF7E-49C5-A490-A5871ED1085B}"/>
              </a:ext>
            </a:extLst>
          </p:cNvPr>
          <p:cNvSpPr>
            <a:spLocks xmlns:a="http://schemas.openxmlformats.org/drawingml/2006/main" noGrp="1"/>
          </p:cNvSpPr>
          <p:nvPr/>
        </p:nvSpPr>
        <p:spPr>
          <a:xfrm xmlns:a="http://schemas.openxmlformats.org/drawingml/2006/main">
            <a:off x="4343400" y="3457575"/>
            <a:ext cx="723900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E8DDE0"/>
            </a:solidFill>
            <a:prstDash val="solid"/>
          </a:ln>
        </p:spPr>
      </p:sp>
      <p:sp>
        <p:nvSpPr>
          <p:cNvPr id="21" name="">
            <a:extLst xmlns:a="http://schemas.openxmlformats.org/drawingml/2006/main">
              <a:ext uri="{FF2B5EF4-FFF2-40B4-BE49-F238E27FC236}">
                <a16:creationId xmlns:a16="http://schemas.microsoft.com/office/drawing/2014/main" id="{29989325-81C9-4161-9026-05CA52804B6B}"/>
              </a:ext>
            </a:extLst>
          </p:cNvPr>
          <p:cNvSpPr>
            <a:spLocks xmlns:a="http://schemas.openxmlformats.org/drawingml/2006/main" noGrp="1"/>
          </p:cNvSpPr>
          <p:nvPr/>
        </p:nvSpPr>
        <p:spPr>
          <a:xfrm xmlns:a="http://schemas.openxmlformats.org/drawingml/2006/main">
            <a:off x="4514850" y="3600450"/>
            <a:ext cx="381000" cy="381000"/>
          </a:xfrm>
          <a:prstGeom xmlns:a="http://schemas.openxmlformats.org/drawingml/2006/main" prst="roundRect">
            <a:avLst>
              <a:gd name="adj" fmla="val 20000"/>
            </a:avLst>
          </a:prstGeom>
          <a:solidFill xmlns:a="http://schemas.openxmlformats.org/drawingml/2006/main">
            <a:srgbClr val="8E123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1690BA7-9A19-4B0F-B293-943FF8A252F9}"/>
              </a:ext>
            </a:extLst>
          </p:cNvPr>
          <p:cNvSpPr>
            <a:spLocks xmlns:a="http://schemas.openxmlformats.org/drawingml/2006/main" noGrp="1"/>
          </p:cNvSpPr>
          <p:nvPr/>
        </p:nvSpPr>
        <p:spPr>
          <a:xfrm xmlns:a="http://schemas.openxmlformats.org/drawingml/2006/main">
            <a:off x="4514850" y="36004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stStyle>
          <a:p xmlns:a="http://schemas.openxmlformats.org/drawingml/2006/main">
            <a:pPr algn="ctr">
              <a:defRPr sz="1275" b="1">
                <a:solidFill>
                  <a:srgbClr val="FFFFFF"/>
                </a:solidFill>
              </a:defRPr>
            </a:pPr>
            <a:r>
              <a:rPr sz="1275" b="1">
                <a:solidFill>
                  <a:srgbClr val="FFFFFF"/>
                </a:solidFill>
              </a:rPr>
              <a:t>C</a:t>
            </a:r>
          </a:p>
        </p:txBody>
      </p:sp>
      <p:sp>
        <p:nvSpPr>
          <p:cNvPr id="23" name="">
            <a:extLst xmlns:a="http://schemas.openxmlformats.org/drawingml/2006/main">
              <a:ext uri="{FF2B5EF4-FFF2-40B4-BE49-F238E27FC236}">
                <a16:creationId xmlns:a16="http://schemas.microsoft.com/office/drawing/2014/main" id="{19550095-EC64-4D1F-83AF-9B0D093678BA}"/>
              </a:ext>
            </a:extLst>
          </p:cNvPr>
          <p:cNvSpPr>
            <a:spLocks xmlns:a="http://schemas.openxmlformats.org/drawingml/2006/main" noGrp="1"/>
          </p:cNvSpPr>
          <p:nvPr/>
        </p:nvSpPr>
        <p:spPr>
          <a:xfrm xmlns:a="http://schemas.openxmlformats.org/drawingml/2006/main">
            <a:off x="5095875" y="3514725"/>
            <a:ext cx="619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261D21"/>
                </a:solidFill>
              </a:defRPr>
            </a:defPPr>
          </a:lstStyle>
          <a:p xmlns:a="http://schemas.openxmlformats.org/drawingml/2006/main">
            <a:pPr>
              <a:defRPr sz="1275" b="1">
                <a:solidFill>
                  <a:srgbClr val="261D21"/>
                </a:solidFill>
              </a:defRPr>
            </a:pPr>
            <a:r>
              <a:rPr sz="1275" b="1">
                <a:solidFill>
                  <a:srgbClr val="261D21"/>
                </a:solidFill>
              </a:rPr>
              <a:t>Reserve stock and write order/unit state</a:t>
            </a:r>
          </a:p>
        </p:txBody>
      </p:sp>
      <p:sp>
        <p:nvSpPr>
          <p:cNvPr id="24" name="">
            <a:extLst xmlns:a="http://schemas.openxmlformats.org/drawingml/2006/main">
              <a:ext uri="{FF2B5EF4-FFF2-40B4-BE49-F238E27FC236}">
                <a16:creationId xmlns:a16="http://schemas.microsoft.com/office/drawing/2014/main" id="{897ED81A-D45B-442C-A302-92FB8E0E03CB}"/>
              </a:ext>
            </a:extLst>
          </p:cNvPr>
          <p:cNvSpPr>
            <a:spLocks xmlns:a="http://schemas.openxmlformats.org/drawingml/2006/main" noGrp="1"/>
          </p:cNvSpPr>
          <p:nvPr/>
        </p:nvSpPr>
        <p:spPr>
          <a:xfrm xmlns:a="http://schemas.openxmlformats.org/drawingml/2006/main">
            <a:off x="4343400" y="4324350"/>
            <a:ext cx="7239000" cy="666750"/>
          </a:xfrm>
          <a:prstGeom xmlns:a="http://schemas.openxmlformats.org/drawingml/2006/main" prst="roundRect">
            <a:avLst>
              <a:gd name="adj" fmla="val 11429"/>
            </a:avLst>
          </a:prstGeom>
          <a:solidFill xmlns:a="http://schemas.openxmlformats.org/drawingml/2006/main">
            <a:srgbClr val="DCEDE7"/>
          </a:solidFill>
          <a:ln xmlns:a="http://schemas.openxmlformats.org/drawingml/2006/main" w="9525">
            <a:solidFill>
              <a:srgbClr val="E8DDE0"/>
            </a:solidFill>
            <a:prstDash val="solid"/>
          </a:ln>
        </p:spPr>
      </p:sp>
      <p:sp>
        <p:nvSpPr>
          <p:cNvPr id="25" name="">
            <a:extLst xmlns:a="http://schemas.openxmlformats.org/drawingml/2006/main">
              <a:ext uri="{FF2B5EF4-FFF2-40B4-BE49-F238E27FC236}">
                <a16:creationId xmlns:a16="http://schemas.microsoft.com/office/drawing/2014/main" id="{76FD051F-164B-426A-BA9D-EBA93C23DCC3}"/>
              </a:ext>
            </a:extLst>
          </p:cNvPr>
          <p:cNvSpPr>
            <a:spLocks xmlns:a="http://schemas.openxmlformats.org/drawingml/2006/main" noGrp="1"/>
          </p:cNvSpPr>
          <p:nvPr/>
        </p:nvSpPr>
        <p:spPr>
          <a:xfrm xmlns:a="http://schemas.openxmlformats.org/drawingml/2006/main">
            <a:off x="4514850" y="4467225"/>
            <a:ext cx="381000" cy="381000"/>
          </a:xfrm>
          <a:prstGeom xmlns:a="http://schemas.openxmlformats.org/drawingml/2006/main" prst="roundRect">
            <a:avLst>
              <a:gd name="adj" fmla="val 20000"/>
            </a:avLst>
          </a:prstGeom>
          <a:solidFill xmlns:a="http://schemas.openxmlformats.org/drawingml/2006/main">
            <a:srgbClr val="236D5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619D5CE-D145-4041-ADA9-0E839A515F37}"/>
              </a:ext>
            </a:extLst>
          </p:cNvPr>
          <p:cNvSpPr>
            <a:spLocks xmlns:a="http://schemas.openxmlformats.org/drawingml/2006/main" noGrp="1"/>
          </p:cNvSpPr>
          <p:nvPr/>
        </p:nvSpPr>
        <p:spPr>
          <a:xfrm xmlns:a="http://schemas.openxmlformats.org/drawingml/2006/main">
            <a:off x="4514850" y="44672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stStyle>
          <a:p xmlns:a="http://schemas.openxmlformats.org/drawingml/2006/main">
            <a:pPr algn="ctr">
              <a:defRPr sz="1275" b="1">
                <a:solidFill>
                  <a:srgbClr val="FFFFFF"/>
                </a:solidFill>
              </a:defRPr>
            </a:pPr>
            <a:r>
              <a:rPr sz="1275" b="1">
                <a:solidFill>
                  <a:srgbClr val="FFFFFF"/>
                </a:solidFill>
              </a:rPr>
              <a:t>D</a:t>
            </a:r>
          </a:p>
        </p:txBody>
      </p:sp>
      <p:sp>
        <p:nvSpPr>
          <p:cNvPr id="27" name="">
            <a:extLst xmlns:a="http://schemas.openxmlformats.org/drawingml/2006/main">
              <a:ext uri="{FF2B5EF4-FFF2-40B4-BE49-F238E27FC236}">
                <a16:creationId xmlns:a16="http://schemas.microsoft.com/office/drawing/2014/main" id="{B78CAEC8-A07D-4BC7-ADE1-51E4B42F0C43}"/>
              </a:ext>
            </a:extLst>
          </p:cNvPr>
          <p:cNvSpPr>
            <a:spLocks xmlns:a="http://schemas.openxmlformats.org/drawingml/2006/main" noGrp="1"/>
          </p:cNvSpPr>
          <p:nvPr/>
        </p:nvSpPr>
        <p:spPr>
          <a:xfrm xmlns:a="http://schemas.openxmlformats.org/drawingml/2006/main">
            <a:off x="5095875" y="4381500"/>
            <a:ext cx="619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261D21"/>
                </a:solidFill>
              </a:defRPr>
            </a:defPPr>
          </a:lstStyle>
          <a:p xmlns:a="http://schemas.openxmlformats.org/drawingml/2006/main">
            <a:pPr>
              <a:defRPr sz="1275" b="1">
                <a:solidFill>
                  <a:srgbClr val="261D21"/>
                </a:solidFill>
              </a:defRPr>
            </a:pPr>
            <a:r>
              <a:rPr sz="1275" b="1">
                <a:solidFill>
                  <a:srgbClr val="261D21"/>
                </a:solidFill>
              </a:rPr>
              <a:t>Commit: second request sees zero remaining</a:t>
            </a:r>
          </a:p>
        </p:txBody>
      </p:sp>
      <p:sp>
        <p:nvSpPr>
          <p:cNvPr id="28" name="">
            <a:extLst xmlns:a="http://schemas.openxmlformats.org/drawingml/2006/main">
              <a:ext uri="{FF2B5EF4-FFF2-40B4-BE49-F238E27FC236}">
                <a16:creationId xmlns:a16="http://schemas.microsoft.com/office/drawing/2014/main" id="{45622FE1-F4BB-408B-BA3A-2084219AC57A}"/>
              </a:ext>
            </a:extLst>
          </p:cNvPr>
          <p:cNvSpPr>
            <a:spLocks xmlns:a="http://schemas.openxmlformats.org/drawingml/2006/main" noGrp="1"/>
          </p:cNvSpPr>
          <p:nvPr/>
        </p:nvSpPr>
        <p:spPr>
          <a:xfrm xmlns:a="http://schemas.openxmlformats.org/drawingml/2006/main">
            <a:off x="4343400" y="5429250"/>
            <a:ext cx="704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8E123B"/>
                </a:solidFill>
              </a:defRPr>
            </a:defPPr>
          </a:lstStyle>
          <a:p xmlns:a="http://schemas.openxmlformats.org/drawingml/2006/main">
            <a:pPr>
              <a:defRPr sz="1200" b="1">
                <a:solidFill>
                  <a:srgbClr val="8E123B"/>
                </a:solidFill>
              </a:defRPr>
            </a:pPr>
            <a:r>
              <a:rPr sz="1200" b="1">
                <a:solidFill>
                  <a:srgbClr val="8E123B"/>
                </a:solidFill>
              </a:rPr>
              <a:t>Correctness comes from PostgreSQL locks, transaction boundaries, constraints, and unique keys—not from timing luck.</a:t>
            </a:r>
          </a:p>
        </p:txBody>
      </p:sp>
    </p:spTree>
    <p:extLst>
      <p:ext uri="{BB962C8B-B14F-4D97-AF65-F5344CB8AC3E}">
        <p14:creationId xmlns:p14="http://schemas.microsoft.com/office/powerpoint/2010/main" val="1091665837"/>
      </p:ext>
    </p:extLst>
  </p:cSld>
</p:sld>
</file>

<file path=ppt/slides/slide9.xml><?xml version="1.0" encoding="utf-8"?>
<p:sld xmlns:p="http://schemas.openxmlformats.org/presentationml/2006/main">
  <p:cSld>
    <p:bg>
      <p:bgPr>
        <a:solidFill xmlns:a="http://schemas.openxmlformats.org/drawingml/2006/main">
          <a:srgbClr val="FBF7F4"/>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01E8B49B-AB0E-45A1-9EE4-06FCE718F05F}"/>
              </a:ext>
            </a:extLst>
          </p:cNvPr>
          <p:cNvSpPr>
            <a:spLocks xmlns:a="http://schemas.openxmlformats.org/drawingml/2006/main" noGrp="1"/>
          </p:cNvSpPr>
          <p:nvPr/>
        </p:nvSpPr>
        <p:spPr>
          <a:xfrm xmlns:a="http://schemas.openxmlformats.org/drawingml/2006/main">
            <a:off x="6096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8E123B"/>
                </a:solidFill>
              </a:defRPr>
            </a:defPPr>
          </a:lstStyle>
          <a:p xmlns:a="http://schemas.openxmlformats.org/drawingml/2006/main">
            <a:pPr>
              <a:defRPr sz="900" b="1">
                <a:solidFill>
                  <a:srgbClr val="8E123B"/>
                </a:solidFill>
              </a:defRPr>
            </a:pPr>
            <a:r>
              <a:rPr sz="900" b="1">
                <a:solidFill>
                  <a:srgbClr val="8E123B"/>
                </a:solidFill>
              </a:rPr>
              <a:t>08 • PAYMENTS</a:t>
            </a:r>
          </a:p>
        </p:txBody>
      </p:sp>
      <p:sp>
        <p:nvSpPr>
          <p:cNvPr id="2" name="">
            <a:extLst xmlns:a="http://schemas.openxmlformats.org/drawingml/2006/main">
              <a:ext uri="{FF2B5EF4-FFF2-40B4-BE49-F238E27FC236}">
                <a16:creationId xmlns:a16="http://schemas.microsoft.com/office/drawing/2014/main" id="{DD335592-5818-48AD-B9CB-A576398A50BA}"/>
              </a:ext>
            </a:extLst>
          </p:cNvPr>
          <p:cNvSpPr>
            <a:spLocks xmlns:a="http://schemas.openxmlformats.org/drawingml/2006/main" noGrp="1"/>
          </p:cNvSpPr>
          <p:nvPr/>
        </p:nvSpPr>
        <p:spPr>
          <a:xfrm xmlns:a="http://schemas.openxmlformats.org/drawingml/2006/main">
            <a:off x="609600" y="657225"/>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261D21"/>
                </a:solidFill>
              </a:defRPr>
            </a:defPPr>
          </a:lstStyle>
          <a:p xmlns:a="http://schemas.openxmlformats.org/drawingml/2006/main">
            <a:pPr>
              <a:defRPr sz="2550" b="1">
                <a:solidFill>
                  <a:srgbClr val="261D21"/>
                </a:solidFill>
              </a:defRPr>
            </a:pPr>
            <a:r>
              <a:rPr sz="2550" b="1">
                <a:solidFill>
                  <a:srgbClr val="261D21"/>
                </a:solidFill>
              </a:rPr>
              <a:t>Payment is a recoverable state machine</a:t>
            </a:r>
          </a:p>
        </p:txBody>
      </p:sp>
      <p:sp>
        <p:nvSpPr>
          <p:cNvPr id="3" name="">
            <a:extLst xmlns:a="http://schemas.openxmlformats.org/drawingml/2006/main">
              <a:ext uri="{FF2B5EF4-FFF2-40B4-BE49-F238E27FC236}">
                <a16:creationId xmlns:a16="http://schemas.microsoft.com/office/drawing/2014/main" id="{70D402D7-1807-49E2-87C2-64032DFCF291}"/>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line">
            <a:avLst/>
          </a:prstGeom>
          <a:noFill xmlns:a="http://schemas.openxmlformats.org/drawingml/2006/main"/>
          <a:ln xmlns:a="http://schemas.openxmlformats.org/drawingml/2006/main" w="9525">
            <a:solidFill>
              <a:srgbClr val="E8DDE0"/>
            </a:solidFill>
            <a:prstDash val="solid"/>
          </a:ln>
        </p:spPr>
      </p:sp>
      <p:sp>
        <p:nvSpPr>
          <p:cNvPr id="4" name="">
            <a:extLst xmlns:a="http://schemas.openxmlformats.org/drawingml/2006/main">
              <a:ext uri="{FF2B5EF4-FFF2-40B4-BE49-F238E27FC236}">
                <a16:creationId xmlns:a16="http://schemas.microsoft.com/office/drawing/2014/main" id="{03B09FFB-F20D-4CCC-B171-9B4D4698F3C9}"/>
              </a:ext>
            </a:extLst>
          </p:cNvPr>
          <p:cNvSpPr>
            <a:spLocks xmlns:a="http://schemas.openxmlformats.org/drawingml/2006/main" noGrp="1"/>
          </p:cNvSpPr>
          <p:nvPr/>
        </p:nvSpPr>
        <p:spPr>
          <a:xfrm xmlns:a="http://schemas.openxmlformats.org/drawingml/2006/main">
            <a:off x="609600" y="64579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71656A"/>
                </a:solidFill>
              </a:defRPr>
            </a:defPPr>
          </a:lstStyle>
          <a:p xmlns:a="http://schemas.openxmlformats.org/drawingml/2006/main">
            <a:pPr>
              <a:defRPr sz="825" b="1">
                <a:solidFill>
                  <a:srgbClr val="71656A"/>
                </a:solidFill>
              </a:defRPr>
            </a:pPr>
            <a:r>
              <a:rPr sz="825" b="1">
                <a:solidFill>
                  <a:srgbClr val="71656A"/>
                </a:solidFill>
              </a:rPr>
              <a:t>MINT  /  CAMPUS CANTEEN PICKUP</a:t>
            </a:r>
          </a:p>
        </p:txBody>
      </p:sp>
      <p:sp>
        <p:nvSpPr>
          <p:cNvPr id="5" name="">
            <a:extLst xmlns:a="http://schemas.openxmlformats.org/drawingml/2006/main">
              <a:ext uri="{FF2B5EF4-FFF2-40B4-BE49-F238E27FC236}">
                <a16:creationId xmlns:a16="http://schemas.microsoft.com/office/drawing/2014/main" id="{5B59EDDD-0362-4CEF-AD46-7A4BD5110395}"/>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71656A"/>
                </a:solidFill>
              </a:defRPr>
            </a:defPPr>
          </a:lstStyle>
          <a:p xmlns:a="http://schemas.openxmlformats.org/drawingml/2006/main">
            <a:pPr algn="r">
              <a:defRPr sz="900" b="1">
                <a:solidFill>
                  <a:srgbClr val="71656A"/>
                </a:solidFill>
              </a:defRPr>
            </a:pPr>
            <a:r>
              <a:rPr sz="900" b="1">
                <a:solidFill>
                  <a:srgbClr val="71656A"/>
                </a:solidFill>
              </a:rPr>
              <a:t>09</a:t>
            </a:r>
          </a:p>
        </p:txBody>
      </p:sp>
      <p:sp>
        <p:nvSpPr>
          <p:cNvPr id="6" name="">
            <a:extLst xmlns:a="http://schemas.openxmlformats.org/drawingml/2006/main">
              <a:ext uri="{FF2B5EF4-FFF2-40B4-BE49-F238E27FC236}">
                <a16:creationId xmlns:a16="http://schemas.microsoft.com/office/drawing/2014/main" id="{E62664EF-CA45-4162-BB77-0742DE241806}"/>
              </a:ext>
            </a:extLst>
          </p:cNvPr>
          <p:cNvSpPr>
            <a:spLocks xmlns:a="http://schemas.openxmlformats.org/drawingml/2006/main" noGrp="1"/>
          </p:cNvSpPr>
          <p:nvPr/>
        </p:nvSpPr>
        <p:spPr>
          <a:xfrm xmlns:a="http://schemas.openxmlformats.org/drawingml/2006/main">
            <a:off x="609600" y="1866900"/>
            <a:ext cx="2476500"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9525">
            <a:solidFill>
              <a:srgbClr val="E8DDE0"/>
            </a:solidFill>
            <a:prstDash val="solid"/>
          </a:ln>
        </p:spPr>
      </p:sp>
      <p:sp>
        <p:nvSpPr>
          <p:cNvPr id="7" name="">
            <a:extLst xmlns:a="http://schemas.openxmlformats.org/drawingml/2006/main">
              <a:ext uri="{FF2B5EF4-FFF2-40B4-BE49-F238E27FC236}">
                <a16:creationId xmlns:a16="http://schemas.microsoft.com/office/drawing/2014/main" id="{92B93F1C-5D6B-4EC7-B832-D179EE56D3DB}"/>
              </a:ext>
            </a:extLst>
          </p:cNvPr>
          <p:cNvSpPr>
            <a:spLocks xmlns:a="http://schemas.openxmlformats.org/drawingml/2006/main" noGrp="1"/>
          </p:cNvSpPr>
          <p:nvPr/>
        </p:nvSpPr>
        <p:spPr>
          <a:xfrm xmlns:a="http://schemas.openxmlformats.org/drawingml/2006/main">
            <a:off x="781050" y="2019300"/>
            <a:ext cx="781050" cy="257175"/>
          </a:xfrm>
          <a:prstGeom xmlns:a="http://schemas.openxmlformats.org/drawingml/2006/main" prst="roundRect">
            <a:avLst>
              <a:gd name="adj" fmla="val 29630"/>
            </a:avLst>
          </a:prstGeom>
          <a:solidFill xmlns:a="http://schemas.openxmlformats.org/drawingml/2006/main">
            <a:srgbClr val="F3E2E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A4B6298-6B57-4CF0-9EB6-4C7C34B44B43}"/>
              </a:ext>
            </a:extLst>
          </p:cNvPr>
          <p:cNvSpPr>
            <a:spLocks xmlns:a="http://schemas.openxmlformats.org/drawingml/2006/main" noGrp="1"/>
          </p:cNvSpPr>
          <p:nvPr/>
        </p:nvSpPr>
        <p:spPr>
          <a:xfrm xmlns:a="http://schemas.openxmlformats.org/drawingml/2006/main">
            <a:off x="857250" y="2019300"/>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00" b="1">
                <a:solidFill>
                  <a:srgbClr val="8E123B"/>
                </a:solidFill>
              </a:defRPr>
            </a:defPPr>
          </a:lstStyle>
          <a:p xmlns:a="http://schemas.openxmlformats.org/drawingml/2006/main">
            <a:pPr algn="ctr">
              <a:defRPr sz="900" b="1">
                <a:solidFill>
                  <a:srgbClr val="8E123B"/>
                </a:solidFill>
              </a:defRPr>
            </a:pPr>
            <a:r>
              <a:rPr sz="900" b="1">
                <a:solidFill>
                  <a:srgbClr val="8E123B"/>
                </a:solidFill>
              </a:rPr>
              <a:t>HOLD</a:t>
            </a:r>
          </a:p>
        </p:txBody>
      </p:sp>
      <p:sp>
        <p:nvSpPr>
          <p:cNvPr id="9" name="">
            <a:extLst xmlns:a="http://schemas.openxmlformats.org/drawingml/2006/main">
              <a:ext uri="{FF2B5EF4-FFF2-40B4-BE49-F238E27FC236}">
                <a16:creationId xmlns:a16="http://schemas.microsoft.com/office/drawing/2014/main" id="{C6EABEE9-BDF3-4722-9C7C-751DD8DB1C52}"/>
              </a:ext>
            </a:extLst>
          </p:cNvPr>
          <p:cNvSpPr>
            <a:spLocks xmlns:a="http://schemas.openxmlformats.org/drawingml/2006/main" noGrp="1"/>
          </p:cNvSpPr>
          <p:nvPr/>
        </p:nvSpPr>
        <p:spPr>
          <a:xfrm xmlns:a="http://schemas.openxmlformats.org/drawingml/2006/main">
            <a:off x="781050" y="2381250"/>
            <a:ext cx="2114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261D21"/>
                </a:solidFill>
              </a:defRPr>
            </a:defPPr>
          </a:lstStyle>
          <a:p xmlns:a="http://schemas.openxmlformats.org/drawingml/2006/main">
            <a:pPr>
              <a:defRPr sz="1275" b="1">
                <a:solidFill>
                  <a:srgbClr val="261D21"/>
                </a:solidFill>
              </a:defRPr>
            </a:pPr>
            <a:r>
              <a:rPr sz="1275" b="1">
                <a:solidFill>
                  <a:srgbClr val="261D21"/>
                </a:solidFill>
              </a:rPr>
              <a:t>Reserve food + credit</a:t>
            </a:r>
          </a:p>
          <a:p xmlns:a="http://schemas.openxmlformats.org/drawingml/2006/main">
            <a:pPr>
              <a:defRPr sz="1275" b="1">
                <a:solidFill>
                  <a:srgbClr val="261D21"/>
                </a:solidFill>
              </a:defRPr>
            </a:pPr>
            <a:r>
              <a:rPr sz="1275" b="1">
                <a:solidFill>
                  <a:srgbClr val="261D21"/>
                </a:solidFill>
              </a:rPr>
              <a:t>commit local transaction</a:t>
            </a:r>
          </a:p>
        </p:txBody>
      </p:sp>
      <p:sp>
        <p:nvSpPr>
          <p:cNvPr id="10" name="">
            <a:extLst xmlns:a="http://schemas.openxmlformats.org/drawingml/2006/main">
              <a:ext uri="{FF2B5EF4-FFF2-40B4-BE49-F238E27FC236}">
                <a16:creationId xmlns:a16="http://schemas.microsoft.com/office/drawing/2014/main" id="{24ACCF0D-0DF1-4250-930F-B4DC3ECC55C4}"/>
              </a:ext>
            </a:extLst>
          </p:cNvPr>
          <p:cNvSpPr>
            <a:spLocks xmlns:a="http://schemas.openxmlformats.org/drawingml/2006/main" noGrp="1"/>
          </p:cNvSpPr>
          <p:nvPr/>
        </p:nvSpPr>
        <p:spPr>
          <a:xfrm xmlns:a="http://schemas.openxmlformats.org/drawingml/2006/main">
            <a:off x="3105150" y="2533650"/>
            <a:ext cx="247650" cy="9525"/>
          </a:xfrm>
          <a:prstGeom xmlns:a="http://schemas.openxmlformats.org/drawingml/2006/main" prst="line">
            <a:avLst/>
          </a:prstGeom>
          <a:noFill xmlns:a="http://schemas.openxmlformats.org/drawingml/2006/main"/>
          <a:ln xmlns:a="http://schemas.openxmlformats.org/drawingml/2006/main" w="28575">
            <a:solidFill>
              <a:srgbClr val="D65C73"/>
            </a:solidFill>
            <a:prstDash val="solid"/>
          </a:ln>
        </p:spPr>
      </p:sp>
      <p:sp>
        <p:nvSpPr>
          <p:cNvPr id="11" name="">
            <a:extLst xmlns:a="http://schemas.openxmlformats.org/drawingml/2006/main">
              <a:ext uri="{FF2B5EF4-FFF2-40B4-BE49-F238E27FC236}">
                <a16:creationId xmlns:a16="http://schemas.microsoft.com/office/drawing/2014/main" id="{C6623C45-4169-4BD5-9D2C-2CDE6FE26BF9}"/>
              </a:ext>
            </a:extLst>
          </p:cNvPr>
          <p:cNvSpPr>
            <a:spLocks xmlns:a="http://schemas.openxmlformats.org/drawingml/2006/main" noGrp="1"/>
          </p:cNvSpPr>
          <p:nvPr/>
        </p:nvSpPr>
        <p:spPr>
          <a:xfrm xmlns:a="http://schemas.openxmlformats.org/drawingml/2006/main">
            <a:off x="3390900" y="1866900"/>
            <a:ext cx="2476500"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9525">
            <a:solidFill>
              <a:srgbClr val="E8DDE0"/>
            </a:solidFill>
            <a:prstDash val="solid"/>
          </a:ln>
        </p:spPr>
      </p:sp>
      <p:sp>
        <p:nvSpPr>
          <p:cNvPr id="12" name="">
            <a:extLst xmlns:a="http://schemas.openxmlformats.org/drawingml/2006/main">
              <a:ext uri="{FF2B5EF4-FFF2-40B4-BE49-F238E27FC236}">
                <a16:creationId xmlns:a16="http://schemas.microsoft.com/office/drawing/2014/main" id="{E6A63098-F177-434A-93E7-4E2E440A4280}"/>
              </a:ext>
            </a:extLst>
          </p:cNvPr>
          <p:cNvSpPr>
            <a:spLocks xmlns:a="http://schemas.openxmlformats.org/drawingml/2006/main" noGrp="1"/>
          </p:cNvSpPr>
          <p:nvPr/>
        </p:nvSpPr>
        <p:spPr>
          <a:xfrm xmlns:a="http://schemas.openxmlformats.org/drawingml/2006/main">
            <a:off x="3562350" y="2019300"/>
            <a:ext cx="781050" cy="257175"/>
          </a:xfrm>
          <a:prstGeom xmlns:a="http://schemas.openxmlformats.org/drawingml/2006/main" prst="roundRect">
            <a:avLst>
              <a:gd name="adj" fmla="val 29630"/>
            </a:avLst>
          </a:prstGeom>
          <a:solidFill xmlns:a="http://schemas.openxmlformats.org/drawingml/2006/main">
            <a:srgbClr val="F3E2E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00C1ED4-9800-4E84-B884-1EE5ECCF2622}"/>
              </a:ext>
            </a:extLst>
          </p:cNvPr>
          <p:cNvSpPr>
            <a:spLocks xmlns:a="http://schemas.openxmlformats.org/drawingml/2006/main" noGrp="1"/>
          </p:cNvSpPr>
          <p:nvPr/>
        </p:nvSpPr>
        <p:spPr>
          <a:xfrm xmlns:a="http://schemas.openxmlformats.org/drawingml/2006/main">
            <a:off x="3638550" y="2019300"/>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00" b="1">
                <a:solidFill>
                  <a:srgbClr val="8E123B"/>
                </a:solidFill>
              </a:defRPr>
            </a:defPPr>
          </a:lstStyle>
          <a:p xmlns:a="http://schemas.openxmlformats.org/drawingml/2006/main">
            <a:pPr algn="ctr">
              <a:defRPr sz="900" b="1">
                <a:solidFill>
                  <a:srgbClr val="8E123B"/>
                </a:solidFill>
              </a:defRPr>
            </a:pPr>
            <a:r>
              <a:rPr sz="900" b="1">
                <a:solidFill>
                  <a:srgbClr val="8E123B"/>
                </a:solidFill>
              </a:rPr>
              <a:t>CREATE</a:t>
            </a:r>
          </a:p>
        </p:txBody>
      </p:sp>
      <p:sp>
        <p:nvSpPr>
          <p:cNvPr id="14" name="">
            <a:extLst xmlns:a="http://schemas.openxmlformats.org/drawingml/2006/main">
              <a:ext uri="{FF2B5EF4-FFF2-40B4-BE49-F238E27FC236}">
                <a16:creationId xmlns:a16="http://schemas.microsoft.com/office/drawing/2014/main" id="{7C86C169-32A2-4ED1-B6A7-785A2D004CA9}"/>
              </a:ext>
            </a:extLst>
          </p:cNvPr>
          <p:cNvSpPr>
            <a:spLocks xmlns:a="http://schemas.openxmlformats.org/drawingml/2006/main" noGrp="1"/>
          </p:cNvSpPr>
          <p:nvPr/>
        </p:nvSpPr>
        <p:spPr>
          <a:xfrm xmlns:a="http://schemas.openxmlformats.org/drawingml/2006/main">
            <a:off x="3562350" y="2381250"/>
            <a:ext cx="2114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261D21"/>
                </a:solidFill>
              </a:defRPr>
            </a:defPPr>
          </a:lstStyle>
          <a:p xmlns:a="http://schemas.openxmlformats.org/drawingml/2006/main">
            <a:pPr>
              <a:defRPr sz="1275" b="1">
                <a:solidFill>
                  <a:srgbClr val="261D21"/>
                </a:solidFill>
              </a:defRPr>
            </a:pPr>
            <a:r>
              <a:rPr sz="1275" b="1">
                <a:solidFill>
                  <a:srgbClr val="261D21"/>
                </a:solidFill>
              </a:rPr>
              <a:t>Create provider order</a:t>
            </a:r>
          </a:p>
          <a:p xmlns:a="http://schemas.openxmlformats.org/drawingml/2006/main">
            <a:pPr>
              <a:defRPr sz="1275" b="1">
                <a:solidFill>
                  <a:srgbClr val="261D21"/>
                </a:solidFill>
              </a:defRPr>
            </a:pPr>
            <a:r>
              <a:rPr sz="1275" b="1">
                <a:solidFill>
                  <a:srgbClr val="261D21"/>
                </a:solidFill>
              </a:rPr>
              <a:t>outside DB transaction</a:t>
            </a:r>
          </a:p>
        </p:txBody>
      </p:sp>
      <p:sp>
        <p:nvSpPr>
          <p:cNvPr id="15" name="">
            <a:extLst xmlns:a="http://schemas.openxmlformats.org/drawingml/2006/main">
              <a:ext uri="{FF2B5EF4-FFF2-40B4-BE49-F238E27FC236}">
                <a16:creationId xmlns:a16="http://schemas.microsoft.com/office/drawing/2014/main" id="{A6E85823-A614-47B6-9472-B2CD9B46772F}"/>
              </a:ext>
            </a:extLst>
          </p:cNvPr>
          <p:cNvSpPr>
            <a:spLocks xmlns:a="http://schemas.openxmlformats.org/drawingml/2006/main" noGrp="1"/>
          </p:cNvSpPr>
          <p:nvPr/>
        </p:nvSpPr>
        <p:spPr>
          <a:xfrm xmlns:a="http://schemas.openxmlformats.org/drawingml/2006/main">
            <a:off x="5886450" y="2533650"/>
            <a:ext cx="247650" cy="9525"/>
          </a:xfrm>
          <a:prstGeom xmlns:a="http://schemas.openxmlformats.org/drawingml/2006/main" prst="line">
            <a:avLst/>
          </a:prstGeom>
          <a:noFill xmlns:a="http://schemas.openxmlformats.org/drawingml/2006/main"/>
          <a:ln xmlns:a="http://schemas.openxmlformats.org/drawingml/2006/main" w="28575">
            <a:solidFill>
              <a:srgbClr val="D65C73"/>
            </a:solidFill>
            <a:prstDash val="solid"/>
          </a:ln>
        </p:spPr>
      </p:sp>
      <p:sp>
        <p:nvSpPr>
          <p:cNvPr id="16" name="">
            <a:extLst xmlns:a="http://schemas.openxmlformats.org/drawingml/2006/main">
              <a:ext uri="{FF2B5EF4-FFF2-40B4-BE49-F238E27FC236}">
                <a16:creationId xmlns:a16="http://schemas.microsoft.com/office/drawing/2014/main" id="{1EFBBE62-3071-40E8-A839-A56A30E23E66}"/>
              </a:ext>
            </a:extLst>
          </p:cNvPr>
          <p:cNvSpPr>
            <a:spLocks xmlns:a="http://schemas.openxmlformats.org/drawingml/2006/main" noGrp="1"/>
          </p:cNvSpPr>
          <p:nvPr/>
        </p:nvSpPr>
        <p:spPr>
          <a:xfrm xmlns:a="http://schemas.openxmlformats.org/drawingml/2006/main">
            <a:off x="6172200" y="1866900"/>
            <a:ext cx="2476500"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9525">
            <a:solidFill>
              <a:srgbClr val="E8DDE0"/>
            </a:solidFill>
            <a:prstDash val="solid"/>
          </a:ln>
        </p:spPr>
      </p:sp>
      <p:sp>
        <p:nvSpPr>
          <p:cNvPr id="17" name="">
            <a:extLst xmlns:a="http://schemas.openxmlformats.org/drawingml/2006/main">
              <a:ext uri="{FF2B5EF4-FFF2-40B4-BE49-F238E27FC236}">
                <a16:creationId xmlns:a16="http://schemas.microsoft.com/office/drawing/2014/main" id="{3CBDC2F4-A3F4-4FEE-9241-0AE1F5C87FA4}"/>
              </a:ext>
            </a:extLst>
          </p:cNvPr>
          <p:cNvSpPr>
            <a:spLocks xmlns:a="http://schemas.openxmlformats.org/drawingml/2006/main" noGrp="1"/>
          </p:cNvSpPr>
          <p:nvPr/>
        </p:nvSpPr>
        <p:spPr>
          <a:xfrm xmlns:a="http://schemas.openxmlformats.org/drawingml/2006/main">
            <a:off x="6343650" y="2019300"/>
            <a:ext cx="781050" cy="257175"/>
          </a:xfrm>
          <a:prstGeom xmlns:a="http://schemas.openxmlformats.org/drawingml/2006/main" prst="roundRect">
            <a:avLst>
              <a:gd name="adj" fmla="val 29630"/>
            </a:avLst>
          </a:prstGeom>
          <a:solidFill xmlns:a="http://schemas.openxmlformats.org/drawingml/2006/main">
            <a:srgbClr val="F3E2E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8B45D96-92A5-42EB-9E04-421D915B4994}"/>
              </a:ext>
            </a:extLst>
          </p:cNvPr>
          <p:cNvSpPr>
            <a:spLocks xmlns:a="http://schemas.openxmlformats.org/drawingml/2006/main" noGrp="1"/>
          </p:cNvSpPr>
          <p:nvPr/>
        </p:nvSpPr>
        <p:spPr>
          <a:xfrm xmlns:a="http://schemas.openxmlformats.org/drawingml/2006/main">
            <a:off x="6419850" y="2019300"/>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00" b="1">
                <a:solidFill>
                  <a:srgbClr val="8E123B"/>
                </a:solidFill>
              </a:defRPr>
            </a:defPPr>
          </a:lstStyle>
          <a:p xmlns:a="http://schemas.openxmlformats.org/drawingml/2006/main">
            <a:pPr algn="ctr">
              <a:defRPr sz="900" b="1">
                <a:solidFill>
                  <a:srgbClr val="8E123B"/>
                </a:solidFill>
              </a:defRPr>
            </a:pPr>
            <a:r>
              <a:rPr sz="900" b="1">
                <a:solidFill>
                  <a:srgbClr val="8E123B"/>
                </a:solidFill>
              </a:rPr>
              <a:t>CAPTURE</a:t>
            </a:r>
          </a:p>
        </p:txBody>
      </p:sp>
      <p:sp>
        <p:nvSpPr>
          <p:cNvPr id="19" name="">
            <a:extLst xmlns:a="http://schemas.openxmlformats.org/drawingml/2006/main">
              <a:ext uri="{FF2B5EF4-FFF2-40B4-BE49-F238E27FC236}">
                <a16:creationId xmlns:a16="http://schemas.microsoft.com/office/drawing/2014/main" id="{62AE9699-9D2B-4E93-BE22-BD5B7C1B4065}"/>
              </a:ext>
            </a:extLst>
          </p:cNvPr>
          <p:cNvSpPr>
            <a:spLocks xmlns:a="http://schemas.openxmlformats.org/drawingml/2006/main" noGrp="1"/>
          </p:cNvSpPr>
          <p:nvPr/>
        </p:nvSpPr>
        <p:spPr>
          <a:xfrm xmlns:a="http://schemas.openxmlformats.org/drawingml/2006/main">
            <a:off x="6343650" y="2381250"/>
            <a:ext cx="2114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261D21"/>
                </a:solidFill>
              </a:defRPr>
            </a:defPPr>
          </a:lstStyle>
          <a:p xmlns:a="http://schemas.openxmlformats.org/drawingml/2006/main">
            <a:pPr>
              <a:defRPr sz="1275" b="1">
                <a:solidFill>
                  <a:srgbClr val="261D21"/>
                </a:solidFill>
              </a:defRPr>
            </a:pPr>
            <a:r>
              <a:rPr sz="1275" b="1">
                <a:solidFill>
                  <a:srgbClr val="261D21"/>
                </a:solidFill>
              </a:rPr>
              <a:t>Verify signature +</a:t>
            </a:r>
          </a:p>
          <a:p xmlns:a="http://schemas.openxmlformats.org/drawingml/2006/main">
            <a:pPr>
              <a:defRPr sz="1275" b="1">
                <a:solidFill>
                  <a:srgbClr val="261D21"/>
                </a:solidFill>
              </a:defRPr>
            </a:pPr>
            <a:r>
              <a:rPr sz="1275" b="1">
                <a:solidFill>
                  <a:srgbClr val="261D21"/>
                </a:solidFill>
              </a:rPr>
              <a:t>exact amount / currency</a:t>
            </a:r>
          </a:p>
        </p:txBody>
      </p:sp>
      <p:sp>
        <p:nvSpPr>
          <p:cNvPr id="20" name="">
            <a:extLst xmlns:a="http://schemas.openxmlformats.org/drawingml/2006/main">
              <a:ext uri="{FF2B5EF4-FFF2-40B4-BE49-F238E27FC236}">
                <a16:creationId xmlns:a16="http://schemas.microsoft.com/office/drawing/2014/main" id="{81458ECB-DA77-433F-B469-82DA5CA36E49}"/>
              </a:ext>
            </a:extLst>
          </p:cNvPr>
          <p:cNvSpPr>
            <a:spLocks xmlns:a="http://schemas.openxmlformats.org/drawingml/2006/main" noGrp="1"/>
          </p:cNvSpPr>
          <p:nvPr/>
        </p:nvSpPr>
        <p:spPr>
          <a:xfrm xmlns:a="http://schemas.openxmlformats.org/drawingml/2006/main">
            <a:off x="8667750" y="2533650"/>
            <a:ext cx="247650" cy="9525"/>
          </a:xfrm>
          <a:prstGeom xmlns:a="http://schemas.openxmlformats.org/drawingml/2006/main" prst="line">
            <a:avLst/>
          </a:prstGeom>
          <a:noFill xmlns:a="http://schemas.openxmlformats.org/drawingml/2006/main"/>
          <a:ln xmlns:a="http://schemas.openxmlformats.org/drawingml/2006/main" w="28575">
            <a:solidFill>
              <a:srgbClr val="D65C73"/>
            </a:solidFill>
            <a:prstDash val="solid"/>
          </a:ln>
        </p:spPr>
      </p:sp>
      <p:sp>
        <p:nvSpPr>
          <p:cNvPr id="21" name="">
            <a:extLst xmlns:a="http://schemas.openxmlformats.org/drawingml/2006/main">
              <a:ext uri="{FF2B5EF4-FFF2-40B4-BE49-F238E27FC236}">
                <a16:creationId xmlns:a16="http://schemas.microsoft.com/office/drawing/2014/main" id="{F89890B1-3C64-4E3C-B8D8-56BD8EDEA732}"/>
              </a:ext>
            </a:extLst>
          </p:cNvPr>
          <p:cNvSpPr>
            <a:spLocks xmlns:a="http://schemas.openxmlformats.org/drawingml/2006/main" noGrp="1"/>
          </p:cNvSpPr>
          <p:nvPr/>
        </p:nvSpPr>
        <p:spPr>
          <a:xfrm xmlns:a="http://schemas.openxmlformats.org/drawingml/2006/main">
            <a:off x="8953500" y="1866900"/>
            <a:ext cx="2476500" cy="1352550"/>
          </a:xfrm>
          <a:prstGeom xmlns:a="http://schemas.openxmlformats.org/drawingml/2006/main" prst="roundRect">
            <a:avLst>
              <a:gd name="adj" fmla="val 5634"/>
            </a:avLst>
          </a:prstGeom>
          <a:solidFill xmlns:a="http://schemas.openxmlformats.org/drawingml/2006/main">
            <a:srgbClr val="DCEDE7"/>
          </a:solidFill>
          <a:ln xmlns:a="http://schemas.openxmlformats.org/drawingml/2006/main" w="9525">
            <a:solidFill>
              <a:srgbClr val="E8DDE0"/>
            </a:solidFill>
            <a:prstDash val="solid"/>
          </a:ln>
        </p:spPr>
      </p:sp>
      <p:sp>
        <p:nvSpPr>
          <p:cNvPr id="22" name="">
            <a:extLst xmlns:a="http://schemas.openxmlformats.org/drawingml/2006/main">
              <a:ext uri="{FF2B5EF4-FFF2-40B4-BE49-F238E27FC236}">
                <a16:creationId xmlns:a16="http://schemas.microsoft.com/office/drawing/2014/main" id="{2A2CA4C4-68EB-49B6-9142-B5E24B3DCFC7}"/>
              </a:ext>
            </a:extLst>
          </p:cNvPr>
          <p:cNvSpPr>
            <a:spLocks xmlns:a="http://schemas.openxmlformats.org/drawingml/2006/main" noGrp="1"/>
          </p:cNvSpPr>
          <p:nvPr/>
        </p:nvSpPr>
        <p:spPr>
          <a:xfrm xmlns:a="http://schemas.openxmlformats.org/drawingml/2006/main">
            <a:off x="9124950" y="2019300"/>
            <a:ext cx="781050" cy="257175"/>
          </a:xfrm>
          <a:prstGeom xmlns:a="http://schemas.openxmlformats.org/drawingml/2006/main" prst="roundRect">
            <a:avLst>
              <a:gd name="adj" fmla="val 29630"/>
            </a:avLst>
          </a:prstGeom>
          <a:solidFill xmlns:a="http://schemas.openxmlformats.org/drawingml/2006/main">
            <a:srgbClr val="DCEDE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9EFACDC-8550-4164-944B-828B0F765485}"/>
              </a:ext>
            </a:extLst>
          </p:cNvPr>
          <p:cNvSpPr>
            <a:spLocks xmlns:a="http://schemas.openxmlformats.org/drawingml/2006/main" noGrp="1"/>
          </p:cNvSpPr>
          <p:nvPr/>
        </p:nvSpPr>
        <p:spPr>
          <a:xfrm xmlns:a="http://schemas.openxmlformats.org/drawingml/2006/main">
            <a:off x="9201150" y="2019300"/>
            <a:ext cx="628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00" b="1">
                <a:solidFill>
                  <a:srgbClr val="236D5A"/>
                </a:solidFill>
              </a:defRPr>
            </a:defPPr>
          </a:lstStyle>
          <a:p xmlns:a="http://schemas.openxmlformats.org/drawingml/2006/main">
            <a:pPr algn="ctr">
              <a:defRPr sz="900" b="1">
                <a:solidFill>
                  <a:srgbClr val="236D5A"/>
                </a:solidFill>
              </a:defRPr>
            </a:pPr>
            <a:r>
              <a:rPr sz="900" b="1">
                <a:solidFill>
                  <a:srgbClr val="236D5A"/>
                </a:solidFill>
              </a:rPr>
              <a:t>CONFIRM</a:t>
            </a:r>
          </a:p>
        </p:txBody>
      </p:sp>
      <p:sp>
        <p:nvSpPr>
          <p:cNvPr id="24" name="">
            <a:extLst xmlns:a="http://schemas.openxmlformats.org/drawingml/2006/main">
              <a:ext uri="{FF2B5EF4-FFF2-40B4-BE49-F238E27FC236}">
                <a16:creationId xmlns:a16="http://schemas.microsoft.com/office/drawing/2014/main" id="{2989B411-FC12-4B27-9267-C1FE93B3D7AA}"/>
              </a:ext>
            </a:extLst>
          </p:cNvPr>
          <p:cNvSpPr>
            <a:spLocks xmlns:a="http://schemas.openxmlformats.org/drawingml/2006/main" noGrp="1"/>
          </p:cNvSpPr>
          <p:nvPr/>
        </p:nvSpPr>
        <p:spPr>
          <a:xfrm xmlns:a="http://schemas.openxmlformats.org/drawingml/2006/main">
            <a:off x="9124950" y="2381250"/>
            <a:ext cx="2114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261D21"/>
                </a:solidFill>
              </a:defRPr>
            </a:defPPr>
          </a:lstStyle>
          <a:p xmlns:a="http://schemas.openxmlformats.org/drawingml/2006/main">
            <a:pPr>
              <a:defRPr sz="1275" b="1">
                <a:solidFill>
                  <a:srgbClr val="261D21"/>
                </a:solidFill>
              </a:defRPr>
            </a:pPr>
            <a:r>
              <a:rPr sz="1275" b="1">
                <a:solidFill>
                  <a:srgbClr val="261D21"/>
                </a:solidFill>
              </a:rPr>
              <a:t>Commit payment +</a:t>
            </a:r>
          </a:p>
          <a:p xmlns:a="http://schemas.openxmlformats.org/drawingml/2006/main">
            <a:pPr>
              <a:defRPr sz="1275" b="1">
                <a:solidFill>
                  <a:srgbClr val="261D21"/>
                </a:solidFill>
              </a:defRPr>
            </a:pPr>
            <a:r>
              <a:rPr sz="1275" b="1">
                <a:solidFill>
                  <a:srgbClr val="261D21"/>
                </a:solidFill>
              </a:rPr>
              <a:t>fulfillment state</a:t>
            </a:r>
          </a:p>
        </p:txBody>
      </p:sp>
      <p:sp>
        <p:nvSpPr>
          <p:cNvPr id="25" name="">
            <a:extLst xmlns:a="http://schemas.openxmlformats.org/drawingml/2006/main">
              <a:ext uri="{FF2B5EF4-FFF2-40B4-BE49-F238E27FC236}">
                <a16:creationId xmlns:a16="http://schemas.microsoft.com/office/drawing/2014/main" id="{C49F09AD-0449-4FAF-9268-C6EB70E53869}"/>
              </a:ext>
            </a:extLst>
          </p:cNvPr>
          <p:cNvSpPr>
            <a:spLocks xmlns:a="http://schemas.openxmlformats.org/drawingml/2006/main" noGrp="1"/>
          </p:cNvSpPr>
          <p:nvPr/>
        </p:nvSpPr>
        <p:spPr>
          <a:xfrm xmlns:a="http://schemas.openxmlformats.org/drawingml/2006/main">
            <a:off x="609600" y="3695700"/>
            <a:ext cx="10972800" cy="1952625"/>
          </a:xfrm>
          <a:prstGeom xmlns:a="http://schemas.openxmlformats.org/drawingml/2006/main" prst="roundRect">
            <a:avLst>
              <a:gd name="adj" fmla="val 3902"/>
            </a:avLst>
          </a:prstGeom>
          <a:solidFill xmlns:a="http://schemas.openxmlformats.org/drawingml/2006/main">
            <a:srgbClr val="32101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E5CBFE2-289C-4073-B6CF-2C3AC01E0DE8}"/>
              </a:ext>
            </a:extLst>
          </p:cNvPr>
          <p:cNvSpPr>
            <a:spLocks xmlns:a="http://schemas.openxmlformats.org/drawingml/2006/main" noGrp="1"/>
          </p:cNvSpPr>
          <p:nvPr/>
        </p:nvSpPr>
        <p:spPr>
          <a:xfrm xmlns:a="http://schemas.openxmlformats.org/drawingml/2006/main">
            <a:off x="838200" y="3914775"/>
            <a:ext cx="1019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FFFFFF"/>
                </a:solidFill>
              </a:defRPr>
            </a:defPPr>
          </a:lstStyle>
          <a:p xmlns:a="http://schemas.openxmlformats.org/drawingml/2006/main">
            <a:pPr>
              <a:defRPr sz="1500" b="1">
                <a:solidFill>
                  <a:srgbClr val="FFFFFF"/>
                </a:solidFill>
              </a:defRPr>
            </a:pPr>
            <a:r>
              <a:rPr sz="1500" b="1">
                <a:solidFill>
                  <a:srgbClr val="FFFFFF"/>
                </a:solidFill>
              </a:rPr>
              <a:t>When messages are late, repeated, or contradictory</a:t>
            </a:r>
          </a:p>
        </p:txBody>
      </p:sp>
      <p:sp>
        <p:nvSpPr>
          <p:cNvPr id="27" name="">
            <a:extLst xmlns:a="http://schemas.openxmlformats.org/drawingml/2006/main">
              <a:ext uri="{FF2B5EF4-FFF2-40B4-BE49-F238E27FC236}">
                <a16:creationId xmlns:a16="http://schemas.microsoft.com/office/drawing/2014/main" id="{5B13F38D-A227-4516-A147-978FCDFD574E}"/>
              </a:ext>
            </a:extLst>
          </p:cNvPr>
          <p:cNvSpPr>
            <a:spLocks xmlns:a="http://schemas.openxmlformats.org/drawingml/2006/main" noGrp="1"/>
          </p:cNvSpPr>
          <p:nvPr/>
        </p:nvSpPr>
        <p:spPr>
          <a:xfrm xmlns:a="http://schemas.openxmlformats.org/drawingml/2006/main">
            <a:off x="838200" y="4429125"/>
            <a:ext cx="66675" cy="438150"/>
          </a:xfrm>
          <a:prstGeom xmlns:a="http://schemas.openxmlformats.org/drawingml/2006/main" prst="roundRect">
            <a:avLst>
              <a:gd name="adj" fmla="val 50000"/>
            </a:avLst>
          </a:prstGeom>
          <a:solidFill xmlns:a="http://schemas.openxmlformats.org/drawingml/2006/main">
            <a:srgbClr val="F5B6C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031B15E-92C6-4E83-B0FA-0E277E4FBBD1}"/>
              </a:ext>
            </a:extLst>
          </p:cNvPr>
          <p:cNvSpPr>
            <a:spLocks xmlns:a="http://schemas.openxmlformats.org/drawingml/2006/main" noGrp="1"/>
          </p:cNvSpPr>
          <p:nvPr/>
        </p:nvSpPr>
        <p:spPr>
          <a:xfrm xmlns:a="http://schemas.openxmlformats.org/drawingml/2006/main">
            <a:off x="1047750" y="4381500"/>
            <a:ext cx="2743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Idempotency keys</a:t>
            </a:r>
          </a:p>
        </p:txBody>
      </p:sp>
      <p:sp>
        <p:nvSpPr>
          <p:cNvPr id="29" name="">
            <a:extLst xmlns:a="http://schemas.openxmlformats.org/drawingml/2006/main">
              <a:ext uri="{FF2B5EF4-FFF2-40B4-BE49-F238E27FC236}">
                <a16:creationId xmlns:a16="http://schemas.microsoft.com/office/drawing/2014/main" id="{775F1620-EEA8-4E17-9F28-4C68F88FB934}"/>
              </a:ext>
            </a:extLst>
          </p:cNvPr>
          <p:cNvSpPr>
            <a:spLocks xmlns:a="http://schemas.openxmlformats.org/drawingml/2006/main" noGrp="1"/>
          </p:cNvSpPr>
          <p:nvPr/>
        </p:nvSpPr>
        <p:spPr>
          <a:xfrm xmlns:a="http://schemas.openxmlformats.org/drawingml/2006/main">
            <a:off x="1047750" y="4676775"/>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Deduplicate retried requests and provider events.</a:t>
            </a:r>
          </a:p>
        </p:txBody>
      </p:sp>
      <p:sp>
        <p:nvSpPr>
          <p:cNvPr id="30" name="">
            <a:extLst xmlns:a="http://schemas.openxmlformats.org/drawingml/2006/main">
              <a:ext uri="{FF2B5EF4-FFF2-40B4-BE49-F238E27FC236}">
                <a16:creationId xmlns:a16="http://schemas.microsoft.com/office/drawing/2014/main" id="{01F6033B-DD35-40AF-9C57-010434548D90}"/>
              </a:ext>
            </a:extLst>
          </p:cNvPr>
          <p:cNvSpPr>
            <a:spLocks xmlns:a="http://schemas.openxmlformats.org/drawingml/2006/main" noGrp="1"/>
          </p:cNvSpPr>
          <p:nvPr/>
        </p:nvSpPr>
        <p:spPr>
          <a:xfrm xmlns:a="http://schemas.openxmlformats.org/drawingml/2006/main">
            <a:off x="4191000" y="4429125"/>
            <a:ext cx="66675" cy="438150"/>
          </a:xfrm>
          <a:prstGeom xmlns:a="http://schemas.openxmlformats.org/drawingml/2006/main" prst="roundRect">
            <a:avLst>
              <a:gd name="adj" fmla="val 50000"/>
            </a:avLst>
          </a:prstGeom>
          <a:solidFill xmlns:a="http://schemas.openxmlformats.org/drawingml/2006/main">
            <a:srgbClr val="E5B765"/>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553D97DA-BF09-4FAC-B127-FFF39388A3A6}"/>
              </a:ext>
            </a:extLst>
          </p:cNvPr>
          <p:cNvSpPr>
            <a:spLocks xmlns:a="http://schemas.openxmlformats.org/drawingml/2006/main" noGrp="1"/>
          </p:cNvSpPr>
          <p:nvPr/>
        </p:nvSpPr>
        <p:spPr>
          <a:xfrm xmlns:a="http://schemas.openxmlformats.org/drawingml/2006/main">
            <a:off x="4400550" y="4381500"/>
            <a:ext cx="2743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Signed webhook</a:t>
            </a:r>
          </a:p>
        </p:txBody>
      </p:sp>
      <p:sp>
        <p:nvSpPr>
          <p:cNvPr id="32" name="">
            <a:extLst xmlns:a="http://schemas.openxmlformats.org/drawingml/2006/main">
              <a:ext uri="{FF2B5EF4-FFF2-40B4-BE49-F238E27FC236}">
                <a16:creationId xmlns:a16="http://schemas.microsoft.com/office/drawing/2014/main" id="{725EFD20-51F2-4D1B-890C-8532342D54DF}"/>
              </a:ext>
            </a:extLst>
          </p:cNvPr>
          <p:cNvSpPr>
            <a:spLocks xmlns:a="http://schemas.openxmlformats.org/drawingml/2006/main" noGrp="1"/>
          </p:cNvSpPr>
          <p:nvPr/>
        </p:nvSpPr>
        <p:spPr>
          <a:xfrm xmlns:a="http://schemas.openxmlformats.org/drawingml/2006/main">
            <a:off x="4400550" y="4676775"/>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Verify provider authenticity before applying state.</a:t>
            </a:r>
          </a:p>
        </p:txBody>
      </p:sp>
      <p:sp>
        <p:nvSpPr>
          <p:cNvPr id="33" name="">
            <a:extLst xmlns:a="http://schemas.openxmlformats.org/drawingml/2006/main">
              <a:ext uri="{FF2B5EF4-FFF2-40B4-BE49-F238E27FC236}">
                <a16:creationId xmlns:a16="http://schemas.microsoft.com/office/drawing/2014/main" id="{747673CE-9AAE-4704-BBD1-F127A6FA9299}"/>
              </a:ext>
            </a:extLst>
          </p:cNvPr>
          <p:cNvSpPr>
            <a:spLocks xmlns:a="http://schemas.openxmlformats.org/drawingml/2006/main" noGrp="1"/>
          </p:cNvSpPr>
          <p:nvPr/>
        </p:nvSpPr>
        <p:spPr>
          <a:xfrm xmlns:a="http://schemas.openxmlformats.org/drawingml/2006/main">
            <a:off x="7543800" y="4429125"/>
            <a:ext cx="66675" cy="438150"/>
          </a:xfrm>
          <a:prstGeom xmlns:a="http://schemas.openxmlformats.org/drawingml/2006/main" prst="roundRect">
            <a:avLst>
              <a:gd name="adj" fmla="val 50000"/>
            </a:avLst>
          </a:prstGeom>
          <a:solidFill xmlns:a="http://schemas.openxmlformats.org/drawingml/2006/main">
            <a:srgbClr val="8DD2BC"/>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C5D1B8C-C7B7-45E4-8840-8045A266E07E}"/>
              </a:ext>
            </a:extLst>
          </p:cNvPr>
          <p:cNvSpPr>
            <a:spLocks xmlns:a="http://schemas.openxmlformats.org/drawingml/2006/main" noGrp="1"/>
          </p:cNvSpPr>
          <p:nvPr/>
        </p:nvSpPr>
        <p:spPr>
          <a:xfrm xmlns:a="http://schemas.openxmlformats.org/drawingml/2006/main">
            <a:off x="7753350" y="4381500"/>
            <a:ext cx="3314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Reconciliation</a:t>
            </a:r>
          </a:p>
        </p:txBody>
      </p:sp>
      <p:sp>
        <p:nvSpPr>
          <p:cNvPr id="35" name="">
            <a:extLst xmlns:a="http://schemas.openxmlformats.org/drawingml/2006/main">
              <a:ext uri="{FF2B5EF4-FFF2-40B4-BE49-F238E27FC236}">
                <a16:creationId xmlns:a16="http://schemas.microsoft.com/office/drawing/2014/main" id="{EC00F3E1-FF94-43FB-ADB8-8281DC19F59B}"/>
              </a:ext>
            </a:extLst>
          </p:cNvPr>
          <p:cNvSpPr>
            <a:spLocks xmlns:a="http://schemas.openxmlformats.org/drawingml/2006/main" noGrp="1"/>
          </p:cNvSpPr>
          <p:nvPr/>
        </p:nvSpPr>
        <p:spPr>
          <a:xfrm xmlns:a="http://schemas.openxmlformats.org/drawingml/2006/main">
            <a:off x="7753350" y="4676775"/>
            <a:ext cx="3314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Compare local pending records with provider state.</a:t>
            </a:r>
          </a:p>
        </p:txBody>
      </p:sp>
      <p:sp>
        <p:nvSpPr>
          <p:cNvPr id="36" name="">
            <a:extLst xmlns:a="http://schemas.openxmlformats.org/drawingml/2006/main">
              <a:ext uri="{FF2B5EF4-FFF2-40B4-BE49-F238E27FC236}">
                <a16:creationId xmlns:a16="http://schemas.microsoft.com/office/drawing/2014/main" id="{048FF38E-EFE6-46DC-8DF3-3D74F4C2B62D}"/>
              </a:ext>
            </a:extLst>
          </p:cNvPr>
          <p:cNvSpPr>
            <a:spLocks xmlns:a="http://schemas.openxmlformats.org/drawingml/2006/main" noGrp="1"/>
          </p:cNvSpPr>
          <p:nvPr/>
        </p:nvSpPr>
        <p:spPr>
          <a:xfrm xmlns:a="http://schemas.openxmlformats.org/drawingml/2006/main">
            <a:off x="838200" y="5219700"/>
            <a:ext cx="10287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F7DDE5"/>
                </a:solidFill>
              </a:defRPr>
            </a:defPPr>
          </a:lstStyle>
          <a:p xmlns:a="http://schemas.openxmlformats.org/drawingml/2006/main">
            <a:pPr>
              <a:defRPr sz="1125" b="0">
                <a:solidFill>
                  <a:srgbClr val="F7DDE5"/>
                </a:solidFill>
              </a:defRPr>
            </a:pPr>
            <a:r>
              <a:rPr sz="1125" b="0">
                <a:solidFill>
                  <a:srgbClr val="F7DDE5"/>
                </a:solidFill>
              </a:rPr>
              <a:t>Provider calls cannot join a PostgreSQL transaction; persisted intermediate states let the system recover across that boundary.</a:t>
            </a:r>
          </a:p>
        </p:txBody>
      </p:sp>
    </p:spTree>
    <p:extLst>
      <p:ext uri="{BB962C8B-B14F-4D97-AF65-F5344CB8AC3E}">
        <p14:creationId xmlns:p14="http://schemas.microsoft.com/office/powerpoint/2010/main" val="871610220"/>
      </p:ext>
    </p:extLst>
  </p:cSld>
</p:sld>
</file>

<file path=ppt/slides/slide10.xml><?xml version="1.0" encoding="utf-8"?>
<p:sld xmlns:p="http://schemas.openxmlformats.org/presentationml/2006/main">
  <p:cSld>
    <p:bg>
      <p:bgPr>
        <a:solidFill xmlns:a="http://schemas.openxmlformats.org/drawingml/2006/main">
          <a:srgbClr val="FBF7F4"/>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F5E07B6-98A9-4BF0-ADAF-BFAFDCBC93B9}"/>
              </a:ext>
            </a:extLst>
          </p:cNvPr>
          <p:cNvSpPr>
            <a:spLocks xmlns:a="http://schemas.openxmlformats.org/drawingml/2006/main" noGrp="1"/>
          </p:cNvSpPr>
          <p:nvPr/>
        </p:nvSpPr>
        <p:spPr>
          <a:xfrm xmlns:a="http://schemas.openxmlformats.org/drawingml/2006/main">
            <a:off x="6096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8E123B"/>
                </a:solidFill>
              </a:defRPr>
            </a:defPPr>
          </a:lstStyle>
          <a:p xmlns:a="http://schemas.openxmlformats.org/drawingml/2006/main">
            <a:pPr>
              <a:defRPr sz="900" b="1">
                <a:solidFill>
                  <a:srgbClr val="8E123B"/>
                </a:solidFill>
              </a:defRPr>
            </a:pPr>
            <a:r>
              <a:rPr sz="900" b="1">
                <a:solidFill>
                  <a:srgbClr val="8E123B"/>
                </a:solidFill>
              </a:rPr>
              <a:t>09 • CREDIT + MISSED PICKUP</a:t>
            </a:r>
          </a:p>
        </p:txBody>
      </p:sp>
      <p:sp>
        <p:nvSpPr>
          <p:cNvPr id="2" name="">
            <a:extLst xmlns:a="http://schemas.openxmlformats.org/drawingml/2006/main">
              <a:ext uri="{FF2B5EF4-FFF2-40B4-BE49-F238E27FC236}">
                <a16:creationId xmlns:a16="http://schemas.microsoft.com/office/drawing/2014/main" id="{31D768B5-FB6F-4831-904C-ED52F7A0BE41}"/>
              </a:ext>
            </a:extLst>
          </p:cNvPr>
          <p:cNvSpPr>
            <a:spLocks xmlns:a="http://schemas.openxmlformats.org/drawingml/2006/main" noGrp="1"/>
          </p:cNvSpPr>
          <p:nvPr/>
        </p:nvSpPr>
        <p:spPr>
          <a:xfrm xmlns:a="http://schemas.openxmlformats.org/drawingml/2006/main">
            <a:off x="609600" y="657225"/>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261D21"/>
                </a:solidFill>
              </a:defRPr>
            </a:defPPr>
          </a:lstStyle>
          <a:p xmlns:a="http://schemas.openxmlformats.org/drawingml/2006/main">
            <a:pPr>
              <a:defRPr sz="2550" b="1">
                <a:solidFill>
                  <a:srgbClr val="261D21"/>
                </a:solidFill>
              </a:defRPr>
            </a:pPr>
            <a:r>
              <a:rPr sz="2550" b="1">
                <a:solidFill>
                  <a:srgbClr val="261D21"/>
                </a:solidFill>
              </a:rPr>
              <a:t>Wallet credit has a lifetime and an explicit policy</a:t>
            </a:r>
          </a:p>
        </p:txBody>
      </p:sp>
      <p:sp>
        <p:nvSpPr>
          <p:cNvPr id="3" name="">
            <a:extLst xmlns:a="http://schemas.openxmlformats.org/drawingml/2006/main">
              <a:ext uri="{FF2B5EF4-FFF2-40B4-BE49-F238E27FC236}">
                <a16:creationId xmlns:a16="http://schemas.microsoft.com/office/drawing/2014/main" id="{8D04320B-443C-43B2-AFD7-156B852C827A}"/>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line">
            <a:avLst/>
          </a:prstGeom>
          <a:noFill xmlns:a="http://schemas.openxmlformats.org/drawingml/2006/main"/>
          <a:ln xmlns:a="http://schemas.openxmlformats.org/drawingml/2006/main" w="9525">
            <a:solidFill>
              <a:srgbClr val="E8DDE0"/>
            </a:solidFill>
            <a:prstDash val="solid"/>
          </a:ln>
        </p:spPr>
      </p:sp>
      <p:sp>
        <p:nvSpPr>
          <p:cNvPr id="4" name="">
            <a:extLst xmlns:a="http://schemas.openxmlformats.org/drawingml/2006/main">
              <a:ext uri="{FF2B5EF4-FFF2-40B4-BE49-F238E27FC236}">
                <a16:creationId xmlns:a16="http://schemas.microsoft.com/office/drawing/2014/main" id="{BDCC0622-5C2B-4ADC-9355-EF60946EA08A}"/>
              </a:ext>
            </a:extLst>
          </p:cNvPr>
          <p:cNvSpPr>
            <a:spLocks xmlns:a="http://schemas.openxmlformats.org/drawingml/2006/main" noGrp="1"/>
          </p:cNvSpPr>
          <p:nvPr/>
        </p:nvSpPr>
        <p:spPr>
          <a:xfrm xmlns:a="http://schemas.openxmlformats.org/drawingml/2006/main">
            <a:off x="609600" y="64579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71656A"/>
                </a:solidFill>
              </a:defRPr>
            </a:defPPr>
          </a:lstStyle>
          <a:p xmlns:a="http://schemas.openxmlformats.org/drawingml/2006/main">
            <a:pPr>
              <a:defRPr sz="825" b="1">
                <a:solidFill>
                  <a:srgbClr val="71656A"/>
                </a:solidFill>
              </a:defRPr>
            </a:pPr>
            <a:r>
              <a:rPr sz="825" b="1">
                <a:solidFill>
                  <a:srgbClr val="71656A"/>
                </a:solidFill>
              </a:rPr>
              <a:t>MINT  /  CAMPUS CANTEEN PICKUP</a:t>
            </a:r>
          </a:p>
        </p:txBody>
      </p:sp>
      <p:sp>
        <p:nvSpPr>
          <p:cNvPr id="5" name="">
            <a:extLst xmlns:a="http://schemas.openxmlformats.org/drawingml/2006/main">
              <a:ext uri="{FF2B5EF4-FFF2-40B4-BE49-F238E27FC236}">
                <a16:creationId xmlns:a16="http://schemas.microsoft.com/office/drawing/2014/main" id="{3B9075C1-350A-4ADC-A576-BEF33D70EEF0}"/>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71656A"/>
                </a:solidFill>
              </a:defRPr>
            </a:defPPr>
          </a:lstStyle>
          <a:p xmlns:a="http://schemas.openxmlformats.org/drawingml/2006/main">
            <a:pPr algn="r">
              <a:defRPr sz="900" b="1">
                <a:solidFill>
                  <a:srgbClr val="71656A"/>
                </a:solidFill>
              </a:defRPr>
            </a:pPr>
            <a:r>
              <a:rPr sz="900" b="1">
                <a:solidFill>
                  <a:srgbClr val="71656A"/>
                </a:solidFill>
              </a:rPr>
              <a:t>10</a:t>
            </a:r>
          </a:p>
        </p:txBody>
      </p:sp>
      <p:sp>
        <p:nvSpPr>
          <p:cNvPr id="6" name="">
            <a:extLst xmlns:a="http://schemas.openxmlformats.org/drawingml/2006/main">
              <a:ext uri="{FF2B5EF4-FFF2-40B4-BE49-F238E27FC236}">
                <a16:creationId xmlns:a16="http://schemas.microsoft.com/office/drawing/2014/main" id="{3CF06196-47B9-4F56-9325-96C58C6127F0}"/>
              </a:ext>
            </a:extLst>
          </p:cNvPr>
          <p:cNvSpPr>
            <a:spLocks xmlns:a="http://schemas.openxmlformats.org/drawingml/2006/main" noGrp="1"/>
          </p:cNvSpPr>
          <p:nvPr/>
        </p:nvSpPr>
        <p:spPr>
          <a:xfrm xmlns:a="http://schemas.openxmlformats.org/drawingml/2006/main">
            <a:off x="609600" y="1714500"/>
            <a:ext cx="4762500" cy="3695700"/>
          </a:xfrm>
          <a:prstGeom xmlns:a="http://schemas.openxmlformats.org/drawingml/2006/main" prst="roundRect">
            <a:avLst>
              <a:gd name="adj" fmla="val 2062"/>
            </a:avLst>
          </a:prstGeom>
          <a:solidFill xmlns:a="http://schemas.openxmlformats.org/drawingml/2006/main">
            <a:srgbClr val="FFFFFF"/>
          </a:solidFill>
          <a:ln xmlns:a="http://schemas.openxmlformats.org/drawingml/2006/main" w="9525">
            <a:solidFill>
              <a:srgbClr val="E8DDE0"/>
            </a:solidFill>
            <a:prstDash val="solid"/>
          </a:ln>
        </p:spPr>
      </p:sp>
      <p:sp>
        <p:nvSpPr>
          <p:cNvPr id="7" name="">
            <a:extLst xmlns:a="http://schemas.openxmlformats.org/drawingml/2006/main">
              <a:ext uri="{FF2B5EF4-FFF2-40B4-BE49-F238E27FC236}">
                <a16:creationId xmlns:a16="http://schemas.microsoft.com/office/drawing/2014/main" id="{D4C842B4-1D4D-4109-8EDB-2A0402A1D757}"/>
              </a:ext>
            </a:extLst>
          </p:cNvPr>
          <p:cNvSpPr>
            <a:spLocks xmlns:a="http://schemas.openxmlformats.org/drawingml/2006/main" noGrp="1"/>
          </p:cNvSpPr>
          <p:nvPr/>
        </p:nvSpPr>
        <p:spPr>
          <a:xfrm xmlns:a="http://schemas.openxmlformats.org/drawingml/2006/main">
            <a:off x="838200" y="19240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261D21"/>
                </a:solidFill>
              </a:defRPr>
            </a:defPPr>
          </a:lstStyle>
          <a:p xmlns:a="http://schemas.openxmlformats.org/drawingml/2006/main">
            <a:pPr>
              <a:defRPr sz="1575" b="1">
                <a:solidFill>
                  <a:srgbClr val="261D21"/>
                </a:solidFill>
              </a:defRPr>
            </a:pPr>
            <a:r>
              <a:rPr sz="1575" b="1">
                <a:solidFill>
                  <a:srgbClr val="261D21"/>
                </a:solidFill>
              </a:rPr>
              <a:t>Credit allocation</a:t>
            </a:r>
          </a:p>
        </p:txBody>
      </p:sp>
      <p:sp>
        <p:nvSpPr>
          <p:cNvPr id="8" name="">
            <a:extLst xmlns:a="http://schemas.openxmlformats.org/drawingml/2006/main">
              <a:ext uri="{FF2B5EF4-FFF2-40B4-BE49-F238E27FC236}">
                <a16:creationId xmlns:a16="http://schemas.microsoft.com/office/drawing/2014/main" id="{EAB2F7F1-7EA3-4FDC-9CD1-225220F60AC4}"/>
              </a:ext>
            </a:extLst>
          </p:cNvPr>
          <p:cNvSpPr>
            <a:spLocks xmlns:a="http://schemas.openxmlformats.org/drawingml/2006/main" noGrp="1"/>
          </p:cNvSpPr>
          <p:nvPr/>
        </p:nvSpPr>
        <p:spPr>
          <a:xfrm xmlns:a="http://schemas.openxmlformats.org/drawingml/2006/main">
            <a:off x="838200" y="2505075"/>
            <a:ext cx="66675" cy="438150"/>
          </a:xfrm>
          <a:prstGeom xmlns:a="http://schemas.openxmlformats.org/drawingml/2006/main" prst="roundRect">
            <a:avLst>
              <a:gd name="adj" fmla="val 50000"/>
            </a:avLst>
          </a:prstGeom>
          <a:solidFill xmlns:a="http://schemas.openxmlformats.org/drawingml/2006/main">
            <a:srgbClr val="8E123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1B384AB-397E-4355-8FE4-97A79865533C}"/>
              </a:ext>
            </a:extLst>
          </p:cNvPr>
          <p:cNvSpPr>
            <a:spLocks xmlns:a="http://schemas.openxmlformats.org/drawingml/2006/main" noGrp="1"/>
          </p:cNvSpPr>
          <p:nvPr/>
        </p:nvSpPr>
        <p:spPr>
          <a:xfrm xmlns:a="http://schemas.openxmlformats.org/drawingml/2006/main">
            <a:off x="1047750" y="2457450"/>
            <a:ext cx="3829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Canteen-scoped account</a:t>
            </a:r>
          </a:p>
        </p:txBody>
      </p:sp>
      <p:sp>
        <p:nvSpPr>
          <p:cNvPr id="10" name="">
            <a:extLst xmlns:a="http://schemas.openxmlformats.org/drawingml/2006/main">
              <a:ext uri="{FF2B5EF4-FFF2-40B4-BE49-F238E27FC236}">
                <a16:creationId xmlns:a16="http://schemas.microsoft.com/office/drawing/2014/main" id="{BDF9A452-8045-49D6-9E5D-7B8A9DE0C148}"/>
              </a:ext>
            </a:extLst>
          </p:cNvPr>
          <p:cNvSpPr>
            <a:spLocks xmlns:a="http://schemas.openxmlformats.org/drawingml/2006/main" noGrp="1"/>
          </p:cNvSpPr>
          <p:nvPr/>
        </p:nvSpPr>
        <p:spPr>
          <a:xfrm xmlns:a="http://schemas.openxmlformats.org/drawingml/2006/main">
            <a:off x="1047750" y="2752725"/>
            <a:ext cx="3829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Credit can only pay at its issuing canteen.</a:t>
            </a:r>
          </a:p>
        </p:txBody>
      </p:sp>
      <p:sp>
        <p:nvSpPr>
          <p:cNvPr id="11" name="">
            <a:extLst xmlns:a="http://schemas.openxmlformats.org/drawingml/2006/main">
              <a:ext uri="{FF2B5EF4-FFF2-40B4-BE49-F238E27FC236}">
                <a16:creationId xmlns:a16="http://schemas.microsoft.com/office/drawing/2014/main" id="{F2C91DD3-F73F-46FA-9349-593EBA93A310}"/>
              </a:ext>
            </a:extLst>
          </p:cNvPr>
          <p:cNvSpPr>
            <a:spLocks xmlns:a="http://schemas.openxmlformats.org/drawingml/2006/main" noGrp="1"/>
          </p:cNvSpPr>
          <p:nvPr/>
        </p:nvSpPr>
        <p:spPr>
          <a:xfrm xmlns:a="http://schemas.openxmlformats.org/drawingml/2006/main">
            <a:off x="838200" y="3381375"/>
            <a:ext cx="66675" cy="438150"/>
          </a:xfrm>
          <a:prstGeom xmlns:a="http://schemas.openxmlformats.org/drawingml/2006/main" prst="roundRect">
            <a:avLst>
              <a:gd name="adj" fmla="val 50000"/>
            </a:avLst>
          </a:prstGeom>
          <a:solidFill xmlns:a="http://schemas.openxmlformats.org/drawingml/2006/main">
            <a:srgbClr val="8E123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193FE2B-99AF-48A6-A4C4-1986EDCB23F2}"/>
              </a:ext>
            </a:extLst>
          </p:cNvPr>
          <p:cNvSpPr>
            <a:spLocks xmlns:a="http://schemas.openxmlformats.org/drawingml/2006/main" noGrp="1"/>
          </p:cNvSpPr>
          <p:nvPr/>
        </p:nvSpPr>
        <p:spPr>
          <a:xfrm xmlns:a="http://schemas.openxmlformats.org/drawingml/2006/main">
            <a:off x="1047750" y="3333750"/>
            <a:ext cx="3829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Expiring lots</a:t>
            </a:r>
          </a:p>
        </p:txBody>
      </p:sp>
      <p:sp>
        <p:nvSpPr>
          <p:cNvPr id="13" name="">
            <a:extLst xmlns:a="http://schemas.openxmlformats.org/drawingml/2006/main">
              <a:ext uri="{FF2B5EF4-FFF2-40B4-BE49-F238E27FC236}">
                <a16:creationId xmlns:a16="http://schemas.microsoft.com/office/drawing/2014/main" id="{75E852AB-F2D3-4120-94FA-C8940BEA4AB8}"/>
              </a:ext>
            </a:extLst>
          </p:cNvPr>
          <p:cNvSpPr>
            <a:spLocks xmlns:a="http://schemas.openxmlformats.org/drawingml/2006/main" noGrp="1"/>
          </p:cNvSpPr>
          <p:nvPr/>
        </p:nvSpPr>
        <p:spPr>
          <a:xfrm xmlns:a="http://schemas.openxmlformats.org/drawingml/2006/main">
            <a:off x="1047750" y="3629025"/>
            <a:ext cx="3829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Each grant has its own expiry; spend earliest-expiring first.</a:t>
            </a:r>
          </a:p>
        </p:txBody>
      </p:sp>
      <p:sp>
        <p:nvSpPr>
          <p:cNvPr id="14" name="">
            <a:extLst xmlns:a="http://schemas.openxmlformats.org/drawingml/2006/main">
              <a:ext uri="{FF2B5EF4-FFF2-40B4-BE49-F238E27FC236}">
                <a16:creationId xmlns:a16="http://schemas.microsoft.com/office/drawing/2014/main" id="{D37D68E9-3D3E-4411-8E8B-23059995A6BD}"/>
              </a:ext>
            </a:extLst>
          </p:cNvPr>
          <p:cNvSpPr>
            <a:spLocks xmlns:a="http://schemas.openxmlformats.org/drawingml/2006/main" noGrp="1"/>
          </p:cNvSpPr>
          <p:nvPr/>
        </p:nvSpPr>
        <p:spPr>
          <a:xfrm xmlns:a="http://schemas.openxmlformats.org/drawingml/2006/main">
            <a:off x="838200" y="4257675"/>
            <a:ext cx="66675" cy="438150"/>
          </a:xfrm>
          <a:prstGeom xmlns:a="http://schemas.openxmlformats.org/drawingml/2006/main" prst="roundRect">
            <a:avLst>
              <a:gd name="adj" fmla="val 50000"/>
            </a:avLst>
          </a:prstGeom>
          <a:solidFill xmlns:a="http://schemas.openxmlformats.org/drawingml/2006/main">
            <a:srgbClr val="8E123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F413CC0-5FA6-414D-A02B-1AF7DD91B557}"/>
              </a:ext>
            </a:extLst>
          </p:cNvPr>
          <p:cNvSpPr>
            <a:spLocks xmlns:a="http://schemas.openxmlformats.org/drawingml/2006/main" noGrp="1"/>
          </p:cNvSpPr>
          <p:nvPr/>
        </p:nvSpPr>
        <p:spPr>
          <a:xfrm xmlns:a="http://schemas.openxmlformats.org/drawingml/2006/main">
            <a:off x="1047750" y="4210050"/>
            <a:ext cx="3829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Reservations + ledger</a:t>
            </a:r>
          </a:p>
        </p:txBody>
      </p:sp>
      <p:sp>
        <p:nvSpPr>
          <p:cNvPr id="16" name="">
            <a:extLst xmlns:a="http://schemas.openxmlformats.org/drawingml/2006/main">
              <a:ext uri="{FF2B5EF4-FFF2-40B4-BE49-F238E27FC236}">
                <a16:creationId xmlns:a16="http://schemas.microsoft.com/office/drawing/2014/main" id="{A428CA8A-2E1F-4914-B89B-12024EFF8B08}"/>
              </a:ext>
            </a:extLst>
          </p:cNvPr>
          <p:cNvSpPr>
            <a:spLocks xmlns:a="http://schemas.openxmlformats.org/drawingml/2006/main" noGrp="1"/>
          </p:cNvSpPr>
          <p:nvPr/>
        </p:nvSpPr>
        <p:spPr>
          <a:xfrm xmlns:a="http://schemas.openxmlformats.org/drawingml/2006/main">
            <a:off x="1047750" y="4505325"/>
            <a:ext cx="3829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Checkout reserves amounts; events record each change.</a:t>
            </a:r>
          </a:p>
        </p:txBody>
      </p:sp>
      <p:sp>
        <p:nvSpPr>
          <p:cNvPr id="17" name="">
            <a:extLst xmlns:a="http://schemas.openxmlformats.org/drawingml/2006/main">
              <a:ext uri="{FF2B5EF4-FFF2-40B4-BE49-F238E27FC236}">
                <a16:creationId xmlns:a16="http://schemas.microsoft.com/office/drawing/2014/main" id="{6C6CF63E-2573-4E24-8940-2F5191C9938A}"/>
              </a:ext>
            </a:extLst>
          </p:cNvPr>
          <p:cNvSpPr>
            <a:spLocks xmlns:a="http://schemas.openxmlformats.org/drawingml/2006/main" noGrp="1"/>
          </p:cNvSpPr>
          <p:nvPr/>
        </p:nvSpPr>
        <p:spPr>
          <a:xfrm xmlns:a="http://schemas.openxmlformats.org/drawingml/2006/main">
            <a:off x="5810250" y="1714500"/>
            <a:ext cx="5772150" cy="3695700"/>
          </a:xfrm>
          <a:prstGeom xmlns:a="http://schemas.openxmlformats.org/drawingml/2006/main" prst="roundRect">
            <a:avLst>
              <a:gd name="adj" fmla="val 2062"/>
            </a:avLst>
          </a:prstGeom>
          <a:solidFill xmlns:a="http://schemas.openxmlformats.org/drawingml/2006/main">
            <a:srgbClr val="F3E2E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A2FB5A7-09C6-4CDA-8224-F22BACB19406}"/>
              </a:ext>
            </a:extLst>
          </p:cNvPr>
          <p:cNvSpPr>
            <a:spLocks xmlns:a="http://schemas.openxmlformats.org/drawingml/2006/main" noGrp="1"/>
          </p:cNvSpPr>
          <p:nvPr/>
        </p:nvSpPr>
        <p:spPr>
          <a:xfrm xmlns:a="http://schemas.openxmlformats.org/drawingml/2006/main">
            <a:off x="6096000" y="19240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8E123B"/>
                </a:solidFill>
              </a:defRPr>
            </a:defPPr>
          </a:lstStyle>
          <a:p xmlns:a="http://schemas.openxmlformats.org/drawingml/2006/main">
            <a:pPr>
              <a:defRPr sz="1575" b="1">
                <a:solidFill>
                  <a:srgbClr val="8E123B"/>
                </a:solidFill>
              </a:defRPr>
            </a:pPr>
            <a:r>
              <a:rPr sz="1575" b="1">
                <a:solidFill>
                  <a:srgbClr val="8E123B"/>
                </a:solidFill>
              </a:rPr>
              <a:t>Missed paid pickup</a:t>
            </a:r>
          </a:p>
        </p:txBody>
      </p:sp>
      <p:sp>
        <p:nvSpPr>
          <p:cNvPr id="19" name="">
            <a:extLst xmlns:a="http://schemas.openxmlformats.org/drawingml/2006/main">
              <a:ext uri="{FF2B5EF4-FFF2-40B4-BE49-F238E27FC236}">
                <a16:creationId xmlns:a16="http://schemas.microsoft.com/office/drawing/2014/main" id="{2D62D20D-97D2-41DD-B8BD-15CD266DFD26}"/>
              </a:ext>
            </a:extLst>
          </p:cNvPr>
          <p:cNvSpPr>
            <a:spLocks xmlns:a="http://schemas.openxmlformats.org/drawingml/2006/main" noGrp="1"/>
          </p:cNvSpPr>
          <p:nvPr/>
        </p:nvSpPr>
        <p:spPr>
          <a:xfrm xmlns:a="http://schemas.openxmlformats.org/drawingml/2006/main">
            <a:off x="6096000" y="24574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261D21"/>
                </a:solidFill>
              </a:defRPr>
            </a:defPPr>
          </a:lstStyle>
          <a:p xmlns:a="http://schemas.openxmlformats.org/drawingml/2006/main">
            <a:pPr>
              <a:defRPr sz="1275" b="1">
                <a:solidFill>
                  <a:srgbClr val="261D21"/>
                </a:solidFill>
              </a:defRPr>
            </a:pPr>
            <a:r>
              <a:rPr sz="1275" b="1">
                <a:solidFill>
                  <a:srgbClr val="261D21"/>
                </a:solidFill>
              </a:rPr>
              <a:t>No arrival before deadline</a:t>
            </a:r>
          </a:p>
        </p:txBody>
      </p:sp>
      <p:sp>
        <p:nvSpPr>
          <p:cNvPr id="20" name="">
            <a:extLst xmlns:a="http://schemas.openxmlformats.org/drawingml/2006/main">
              <a:ext uri="{FF2B5EF4-FFF2-40B4-BE49-F238E27FC236}">
                <a16:creationId xmlns:a16="http://schemas.microsoft.com/office/drawing/2014/main" id="{97596195-94F1-4CFC-9EBC-1161AAD31DCD}"/>
              </a:ext>
            </a:extLst>
          </p:cNvPr>
          <p:cNvSpPr>
            <a:spLocks xmlns:a="http://schemas.openxmlformats.org/drawingml/2006/main" noGrp="1"/>
          </p:cNvSpPr>
          <p:nvPr/>
        </p:nvSpPr>
        <p:spPr>
          <a:xfrm xmlns:a="http://schemas.openxmlformats.org/drawingml/2006/main">
            <a:off x="6096000" y="2876550"/>
            <a:ext cx="5010150" cy="9525"/>
          </a:xfrm>
          <a:prstGeom xmlns:a="http://schemas.openxmlformats.org/drawingml/2006/main" prst="line">
            <a:avLst/>
          </a:prstGeom>
          <a:noFill xmlns:a="http://schemas.openxmlformats.org/drawingml/2006/main"/>
          <a:ln xmlns:a="http://schemas.openxmlformats.org/drawingml/2006/main" w="28575">
            <a:solidFill>
              <a:srgbClr val="D65C73"/>
            </a:solidFill>
            <a:prstDash val="solid"/>
          </a:ln>
        </p:spPr>
      </p:sp>
      <p:sp>
        <p:nvSpPr>
          <p:cNvPr id="21" name="">
            <a:extLst xmlns:a="http://schemas.openxmlformats.org/drawingml/2006/main">
              <a:ext uri="{FF2B5EF4-FFF2-40B4-BE49-F238E27FC236}">
                <a16:creationId xmlns:a16="http://schemas.microsoft.com/office/drawing/2014/main" id="{1F646BB9-617D-4C88-8388-C4B5FC74B870}"/>
              </a:ext>
            </a:extLst>
          </p:cNvPr>
          <p:cNvSpPr>
            <a:spLocks xmlns:a="http://schemas.openxmlformats.org/drawingml/2006/main" noGrp="1"/>
          </p:cNvSpPr>
          <p:nvPr/>
        </p:nvSpPr>
        <p:spPr>
          <a:xfrm xmlns:a="http://schemas.openxmlformats.org/drawingml/2006/main">
            <a:off x="6096000" y="3162300"/>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4200" b="1">
                <a:solidFill>
                  <a:srgbClr val="236D5A"/>
                </a:solidFill>
              </a:defRPr>
            </a:defPPr>
          </a:lstStyle>
          <a:p xmlns:a="http://schemas.openxmlformats.org/drawingml/2006/main">
            <a:pPr>
              <a:defRPr sz="4200" b="1">
                <a:solidFill>
                  <a:srgbClr val="236D5A"/>
                </a:solidFill>
              </a:defRPr>
            </a:pPr>
            <a:r>
              <a:rPr sz="4200" b="1">
                <a:solidFill>
                  <a:srgbClr val="236D5A"/>
                </a:solidFill>
              </a:rPr>
              <a:t>90%</a:t>
            </a:r>
          </a:p>
        </p:txBody>
      </p:sp>
      <p:sp>
        <p:nvSpPr>
          <p:cNvPr id="22" name="">
            <a:extLst xmlns:a="http://schemas.openxmlformats.org/drawingml/2006/main">
              <a:ext uri="{FF2B5EF4-FFF2-40B4-BE49-F238E27FC236}">
                <a16:creationId xmlns:a16="http://schemas.microsoft.com/office/drawing/2014/main" id="{CFCE968B-A7FB-417E-8A1F-04149946D765}"/>
              </a:ext>
            </a:extLst>
          </p:cNvPr>
          <p:cNvSpPr>
            <a:spLocks xmlns:a="http://schemas.openxmlformats.org/drawingml/2006/main" noGrp="1"/>
          </p:cNvSpPr>
          <p:nvPr/>
        </p:nvSpPr>
        <p:spPr>
          <a:xfrm xmlns:a="http://schemas.openxmlformats.org/drawingml/2006/main">
            <a:off x="6115050" y="39243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261D21"/>
                </a:solidFill>
              </a:defRPr>
            </a:defPPr>
          </a:lstStyle>
          <a:p xmlns:a="http://schemas.openxmlformats.org/drawingml/2006/main">
            <a:pPr>
              <a:defRPr sz="1200" b="1">
                <a:solidFill>
                  <a:srgbClr val="261D21"/>
                </a:solidFill>
              </a:defRPr>
            </a:pPr>
            <a:r>
              <a:rPr sz="1200" b="1">
                <a:solidFill>
                  <a:srgbClr val="261D21"/>
                </a:solidFill>
              </a:rPr>
              <a:t>returned as credit</a:t>
            </a:r>
          </a:p>
        </p:txBody>
      </p:sp>
      <p:sp>
        <p:nvSpPr>
          <p:cNvPr id="23" name="">
            <a:extLst xmlns:a="http://schemas.openxmlformats.org/drawingml/2006/main">
              <a:ext uri="{FF2B5EF4-FFF2-40B4-BE49-F238E27FC236}">
                <a16:creationId xmlns:a16="http://schemas.microsoft.com/office/drawing/2014/main" id="{86476E85-782A-4763-A2CB-CEC0BCCC7804}"/>
              </a:ext>
            </a:extLst>
          </p:cNvPr>
          <p:cNvSpPr>
            <a:spLocks xmlns:a="http://schemas.openxmlformats.org/drawingml/2006/main" noGrp="1"/>
          </p:cNvSpPr>
          <p:nvPr/>
        </p:nvSpPr>
        <p:spPr>
          <a:xfrm xmlns:a="http://schemas.openxmlformats.org/drawingml/2006/main">
            <a:off x="8810625" y="3162300"/>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4200" b="1">
                <a:solidFill>
                  <a:srgbClr val="8E123B"/>
                </a:solidFill>
              </a:defRPr>
            </a:defPPr>
          </a:lstStyle>
          <a:p xmlns:a="http://schemas.openxmlformats.org/drawingml/2006/main">
            <a:pPr>
              <a:defRPr sz="4200" b="1">
                <a:solidFill>
                  <a:srgbClr val="8E123B"/>
                </a:solidFill>
              </a:defRPr>
            </a:pPr>
            <a:r>
              <a:rPr sz="4200" b="1">
                <a:solidFill>
                  <a:srgbClr val="8E123B"/>
                </a:solidFill>
              </a:rPr>
              <a:t>10%</a:t>
            </a:r>
          </a:p>
        </p:txBody>
      </p:sp>
      <p:sp>
        <p:nvSpPr>
          <p:cNvPr id="24" name="">
            <a:extLst xmlns:a="http://schemas.openxmlformats.org/drawingml/2006/main">
              <a:ext uri="{FF2B5EF4-FFF2-40B4-BE49-F238E27FC236}">
                <a16:creationId xmlns:a16="http://schemas.microsoft.com/office/drawing/2014/main" id="{3AE9A356-DA0D-42C7-B5EF-F0729F0CFBA3}"/>
              </a:ext>
            </a:extLst>
          </p:cNvPr>
          <p:cNvSpPr>
            <a:spLocks xmlns:a="http://schemas.openxmlformats.org/drawingml/2006/main" noGrp="1"/>
          </p:cNvSpPr>
          <p:nvPr/>
        </p:nvSpPr>
        <p:spPr>
          <a:xfrm xmlns:a="http://schemas.openxmlformats.org/drawingml/2006/main">
            <a:off x="8829675" y="39243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261D21"/>
                </a:solidFill>
              </a:defRPr>
            </a:defPPr>
          </a:lstStyle>
          <a:p xmlns:a="http://schemas.openxmlformats.org/drawingml/2006/main">
            <a:pPr>
              <a:defRPr sz="1200" b="1">
                <a:solidFill>
                  <a:srgbClr val="261D21"/>
                </a:solidFill>
              </a:defRPr>
            </a:pPr>
            <a:r>
              <a:rPr sz="1200" b="1">
                <a:solidFill>
                  <a:srgbClr val="261D21"/>
                </a:solidFill>
              </a:rPr>
              <a:t>retained as fine</a:t>
            </a:r>
          </a:p>
        </p:txBody>
      </p:sp>
      <p:sp>
        <p:nvSpPr>
          <p:cNvPr id="25" name="">
            <a:extLst xmlns:a="http://schemas.openxmlformats.org/drawingml/2006/main">
              <a:ext uri="{FF2B5EF4-FFF2-40B4-BE49-F238E27FC236}">
                <a16:creationId xmlns:a16="http://schemas.microsoft.com/office/drawing/2014/main" id="{BBF06EA2-0DCE-43BF-8F60-7311C3AD6723}"/>
              </a:ext>
            </a:extLst>
          </p:cNvPr>
          <p:cNvSpPr>
            <a:spLocks xmlns:a="http://schemas.openxmlformats.org/drawingml/2006/main" noGrp="1"/>
          </p:cNvSpPr>
          <p:nvPr/>
        </p:nvSpPr>
        <p:spPr>
          <a:xfrm xmlns:a="http://schemas.openxmlformats.org/drawingml/2006/main">
            <a:off x="6096000" y="4667250"/>
            <a:ext cx="485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0">
                <a:solidFill>
                  <a:srgbClr val="71656A"/>
                </a:solidFill>
              </a:defRPr>
            </a:defPPr>
          </a:lstStyle>
          <a:p xmlns:a="http://schemas.openxmlformats.org/drawingml/2006/main">
            <a:pPr>
              <a:defRPr sz="1050" b="0">
                <a:solidFill>
                  <a:srgbClr val="71656A"/>
                </a:solidFill>
              </a:defRPr>
            </a:pPr>
            <a:r>
              <a:rPr sz="1050" b="0">
                <a:solidFill>
                  <a:srgbClr val="71656A"/>
                </a:solidFill>
              </a:rPr>
              <a:t>Rounded per portion • policy version stored with the order</a:t>
            </a:r>
          </a:p>
        </p:txBody>
      </p:sp>
      <p:sp>
        <p:nvSpPr>
          <p:cNvPr id="26" name="">
            <a:extLst xmlns:a="http://schemas.openxmlformats.org/drawingml/2006/main">
              <a:ext uri="{FF2B5EF4-FFF2-40B4-BE49-F238E27FC236}">
                <a16:creationId xmlns:a16="http://schemas.microsoft.com/office/drawing/2014/main" id="{A40E4A3D-C2E0-4147-80A3-C05091320BC0}"/>
              </a:ext>
            </a:extLst>
          </p:cNvPr>
          <p:cNvSpPr>
            <a:spLocks xmlns:a="http://schemas.openxmlformats.org/drawingml/2006/main" noGrp="1"/>
          </p:cNvSpPr>
          <p:nvPr/>
        </p:nvSpPr>
        <p:spPr>
          <a:xfrm xmlns:a="http://schemas.openxmlformats.org/drawingml/2006/main">
            <a:off x="609600" y="5695950"/>
            <a:ext cx="10972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71656A"/>
                </a:solidFill>
              </a:defRPr>
            </a:defPPr>
          </a:lstStyle>
          <a:p xmlns:a="http://schemas.openxmlformats.org/drawingml/2006/main">
            <a:pPr>
              <a:defRPr sz="1200" b="1">
                <a:solidFill>
                  <a:srgbClr val="71656A"/>
                </a:solidFill>
              </a:defRPr>
            </a:pPr>
            <a:r>
              <a:rPr sz="1200" b="1">
                <a:solidFill>
                  <a:srgbClr val="71656A"/>
                </a:solidFill>
              </a:rPr>
              <a:t>New credit expires after 30 days. Canteen-caused cancellation and ordinary cancellation follow separate refund rules.</a:t>
            </a:r>
          </a:p>
        </p:txBody>
      </p:sp>
    </p:spTree>
    <p:extLst>
      <p:ext uri="{BB962C8B-B14F-4D97-AF65-F5344CB8AC3E}">
        <p14:creationId xmlns:p14="http://schemas.microsoft.com/office/powerpoint/2010/main" val="1480469077"/>
      </p:ext>
    </p:extLst>
  </p:cSld>
</p:sld>
</file>

<file path=ppt/slides/slide11.xml><?xml version="1.0" encoding="utf-8"?>
<p:sld xmlns:p="http://schemas.openxmlformats.org/presentationml/2006/main">
  <p:cSld>
    <p:bg>
      <p:bgPr>
        <a:solidFill xmlns:a="http://schemas.openxmlformats.org/drawingml/2006/main">
          <a:srgbClr val="FBF7F4"/>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FD5D4AF-C774-4BF9-A53C-BBC60A5943CD}"/>
              </a:ext>
            </a:extLst>
          </p:cNvPr>
          <p:cNvSpPr>
            <a:spLocks xmlns:a="http://schemas.openxmlformats.org/drawingml/2006/main" noGrp="1"/>
          </p:cNvSpPr>
          <p:nvPr/>
        </p:nvSpPr>
        <p:spPr>
          <a:xfrm xmlns:a="http://schemas.openxmlformats.org/drawingml/2006/main">
            <a:off x="6096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8E123B"/>
                </a:solidFill>
              </a:defRPr>
            </a:defPPr>
          </a:lstStyle>
          <a:p xmlns:a="http://schemas.openxmlformats.org/drawingml/2006/main">
            <a:pPr>
              <a:defRPr sz="900" b="1">
                <a:solidFill>
                  <a:srgbClr val="8E123B"/>
                </a:solidFill>
              </a:defRPr>
            </a:pPr>
            <a:r>
              <a:rPr sz="900" b="1">
                <a:solidFill>
                  <a:srgbClr val="8E123B"/>
                </a:solidFill>
              </a:rPr>
              <a:t>10 • PICKUP + DELEGATION</a:t>
            </a:r>
          </a:p>
        </p:txBody>
      </p:sp>
      <p:sp>
        <p:nvSpPr>
          <p:cNvPr id="2" name="">
            <a:extLst xmlns:a="http://schemas.openxmlformats.org/drawingml/2006/main">
              <a:ext uri="{FF2B5EF4-FFF2-40B4-BE49-F238E27FC236}">
                <a16:creationId xmlns:a16="http://schemas.microsoft.com/office/drawing/2014/main" id="{1C5DA2EE-9C13-4699-BDA0-975A0ACC05D7}"/>
              </a:ext>
            </a:extLst>
          </p:cNvPr>
          <p:cNvSpPr>
            <a:spLocks xmlns:a="http://schemas.openxmlformats.org/drawingml/2006/main" noGrp="1"/>
          </p:cNvSpPr>
          <p:nvPr/>
        </p:nvSpPr>
        <p:spPr>
          <a:xfrm xmlns:a="http://schemas.openxmlformats.org/drawingml/2006/main">
            <a:off x="609600" y="657225"/>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261D21"/>
                </a:solidFill>
              </a:defRPr>
            </a:defPPr>
          </a:lstStyle>
          <a:p xmlns:a="http://schemas.openxmlformats.org/drawingml/2006/main">
            <a:pPr>
              <a:defRPr sz="2550" b="1">
                <a:solidFill>
                  <a:srgbClr val="261D21"/>
                </a:solidFill>
              </a:defRPr>
            </a:pPr>
            <a:r>
              <a:rPr sz="2550" b="1">
                <a:solidFill>
                  <a:srgbClr val="261D21"/>
                </a:solidFill>
              </a:rPr>
              <a:t>Pickup rights belong to a portion and a collector</a:t>
            </a:r>
          </a:p>
        </p:txBody>
      </p:sp>
      <p:sp>
        <p:nvSpPr>
          <p:cNvPr id="3" name="">
            <a:extLst xmlns:a="http://schemas.openxmlformats.org/drawingml/2006/main">
              <a:ext uri="{FF2B5EF4-FFF2-40B4-BE49-F238E27FC236}">
                <a16:creationId xmlns:a16="http://schemas.microsoft.com/office/drawing/2014/main" id="{C3E07A66-ACB5-4143-9D2C-136FFBAD65BF}"/>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line">
            <a:avLst/>
          </a:prstGeom>
          <a:noFill xmlns:a="http://schemas.openxmlformats.org/drawingml/2006/main"/>
          <a:ln xmlns:a="http://schemas.openxmlformats.org/drawingml/2006/main" w="9525">
            <a:solidFill>
              <a:srgbClr val="E8DDE0"/>
            </a:solidFill>
            <a:prstDash val="solid"/>
          </a:ln>
        </p:spPr>
      </p:sp>
      <p:sp>
        <p:nvSpPr>
          <p:cNvPr id="4" name="">
            <a:extLst xmlns:a="http://schemas.openxmlformats.org/drawingml/2006/main">
              <a:ext uri="{FF2B5EF4-FFF2-40B4-BE49-F238E27FC236}">
                <a16:creationId xmlns:a16="http://schemas.microsoft.com/office/drawing/2014/main" id="{63AA627D-A19D-4729-98F9-A6FB4791936F}"/>
              </a:ext>
            </a:extLst>
          </p:cNvPr>
          <p:cNvSpPr>
            <a:spLocks xmlns:a="http://schemas.openxmlformats.org/drawingml/2006/main" noGrp="1"/>
          </p:cNvSpPr>
          <p:nvPr/>
        </p:nvSpPr>
        <p:spPr>
          <a:xfrm xmlns:a="http://schemas.openxmlformats.org/drawingml/2006/main">
            <a:off x="609600" y="64579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71656A"/>
                </a:solidFill>
              </a:defRPr>
            </a:defPPr>
          </a:lstStyle>
          <a:p xmlns:a="http://schemas.openxmlformats.org/drawingml/2006/main">
            <a:pPr>
              <a:defRPr sz="825" b="1">
                <a:solidFill>
                  <a:srgbClr val="71656A"/>
                </a:solidFill>
              </a:defRPr>
            </a:pPr>
            <a:r>
              <a:rPr sz="825" b="1">
                <a:solidFill>
                  <a:srgbClr val="71656A"/>
                </a:solidFill>
              </a:rPr>
              <a:t>MINT  /  CAMPUS CANTEEN PICKUP</a:t>
            </a:r>
          </a:p>
        </p:txBody>
      </p:sp>
      <p:sp>
        <p:nvSpPr>
          <p:cNvPr id="5" name="">
            <a:extLst xmlns:a="http://schemas.openxmlformats.org/drawingml/2006/main">
              <a:ext uri="{FF2B5EF4-FFF2-40B4-BE49-F238E27FC236}">
                <a16:creationId xmlns:a16="http://schemas.microsoft.com/office/drawing/2014/main" id="{02FEC33D-8710-48B6-9166-56FE15CFFCC3}"/>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71656A"/>
                </a:solidFill>
              </a:defRPr>
            </a:defPPr>
          </a:lstStyle>
          <a:p xmlns:a="http://schemas.openxmlformats.org/drawingml/2006/main">
            <a:pPr algn="r">
              <a:defRPr sz="900" b="1">
                <a:solidFill>
                  <a:srgbClr val="71656A"/>
                </a:solidFill>
              </a:defRPr>
            </a:pPr>
            <a:r>
              <a:rPr sz="900" b="1">
                <a:solidFill>
                  <a:srgbClr val="71656A"/>
                </a:solidFill>
              </a:rPr>
              <a:t>11</a:t>
            </a:r>
          </a:p>
        </p:txBody>
      </p:sp>
      <p:sp>
        <p:nvSpPr>
          <p:cNvPr id="6" name="">
            <a:extLst xmlns:a="http://schemas.openxmlformats.org/drawingml/2006/main">
              <a:ext uri="{FF2B5EF4-FFF2-40B4-BE49-F238E27FC236}">
                <a16:creationId xmlns:a16="http://schemas.microsoft.com/office/drawing/2014/main" id="{A36BCD64-87A5-490A-A9EE-848560630DB0}"/>
              </a:ext>
            </a:extLst>
          </p:cNvPr>
          <p:cNvSpPr>
            <a:spLocks xmlns:a="http://schemas.openxmlformats.org/drawingml/2006/main" noGrp="1"/>
          </p:cNvSpPr>
          <p:nvPr/>
        </p:nvSpPr>
        <p:spPr>
          <a:xfrm xmlns:a="http://schemas.openxmlformats.org/drawingml/2006/main">
            <a:off x="609600" y="169545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D65C73"/>
                </a:solidFill>
              </a:defRPr>
            </a:defPPr>
          </a:lstStyle>
          <a:p xmlns:a="http://schemas.openxmlformats.org/drawingml/2006/main">
            <a:pPr>
              <a:defRPr sz="1575" b="1">
                <a:solidFill>
                  <a:srgbClr val="D65C73"/>
                </a:solidFill>
              </a:defRPr>
            </a:pPr>
            <a:r>
              <a:rPr sz="1575" b="1">
                <a:solidFill>
                  <a:srgbClr val="D65C73"/>
                </a:solidFill>
              </a:rPr>
              <a:t>01</a:t>
            </a:r>
          </a:p>
        </p:txBody>
      </p:sp>
      <p:sp>
        <p:nvSpPr>
          <p:cNvPr id="7" name="">
            <a:extLst xmlns:a="http://schemas.openxmlformats.org/drawingml/2006/main">
              <a:ext uri="{FF2B5EF4-FFF2-40B4-BE49-F238E27FC236}">
                <a16:creationId xmlns:a16="http://schemas.microsoft.com/office/drawing/2014/main" id="{5C130CF6-F8C4-48C6-AC1A-AFC21800E447}"/>
              </a:ext>
            </a:extLst>
          </p:cNvPr>
          <p:cNvSpPr>
            <a:spLocks xmlns:a="http://schemas.openxmlformats.org/drawingml/2006/main" noGrp="1"/>
          </p:cNvSpPr>
          <p:nvPr/>
        </p:nvSpPr>
        <p:spPr>
          <a:xfrm xmlns:a="http://schemas.openxmlformats.org/drawingml/2006/main">
            <a:off x="1219200" y="1695450"/>
            <a:ext cx="1790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8E123B"/>
                </a:solidFill>
              </a:defRPr>
            </a:defPPr>
          </a:lstStyle>
          <a:p xmlns:a="http://schemas.openxmlformats.org/drawingml/2006/main">
            <a:pPr>
              <a:defRPr sz="1425" b="1">
                <a:solidFill>
                  <a:srgbClr val="8E123B"/>
                </a:solidFill>
              </a:defRPr>
            </a:pPr>
            <a:r>
              <a:rPr sz="1425" b="1">
                <a:solidFill>
                  <a:srgbClr val="8E123B"/>
                </a:solidFill>
              </a:rPr>
              <a:t>Arrival</a:t>
            </a:r>
          </a:p>
        </p:txBody>
      </p:sp>
      <p:sp>
        <p:nvSpPr>
          <p:cNvPr id="8" name="">
            <a:extLst xmlns:a="http://schemas.openxmlformats.org/drawingml/2006/main">
              <a:ext uri="{FF2B5EF4-FFF2-40B4-BE49-F238E27FC236}">
                <a16:creationId xmlns:a16="http://schemas.microsoft.com/office/drawing/2014/main" id="{CA16861E-2632-41F6-8F70-594F9BD24066}"/>
              </a:ext>
            </a:extLst>
          </p:cNvPr>
          <p:cNvSpPr>
            <a:spLocks xmlns:a="http://schemas.openxmlformats.org/drawingml/2006/main" noGrp="1"/>
          </p:cNvSpPr>
          <p:nvPr/>
        </p:nvSpPr>
        <p:spPr>
          <a:xfrm xmlns:a="http://schemas.openxmlformats.org/drawingml/2006/main">
            <a:off x="3124200" y="1695450"/>
            <a:ext cx="7858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261D21"/>
                </a:solidFill>
              </a:defRPr>
            </a:defPPr>
          </a:lstStyle>
          <a:p xmlns:a="http://schemas.openxmlformats.org/drawingml/2006/main">
            <a:pPr>
              <a:defRPr sz="1350" b="0">
                <a:solidFill>
                  <a:srgbClr val="261D21"/>
                </a:solidFill>
              </a:defRPr>
            </a:pPr>
            <a:r>
              <a:rPr sz="1350" b="0">
                <a:solidFill>
                  <a:srgbClr val="261D21"/>
                </a:solidFill>
              </a:rPr>
              <a:t>Student geofence check-in or staff QR scan</a:t>
            </a:r>
          </a:p>
        </p:txBody>
      </p:sp>
      <p:sp>
        <p:nvSpPr>
          <p:cNvPr id="9" name="">
            <a:extLst xmlns:a="http://schemas.openxmlformats.org/drawingml/2006/main">
              <a:ext uri="{FF2B5EF4-FFF2-40B4-BE49-F238E27FC236}">
                <a16:creationId xmlns:a16="http://schemas.microsoft.com/office/drawing/2014/main" id="{850910DF-1D6F-446A-BB51-76622F0FBB6B}"/>
              </a:ext>
            </a:extLst>
          </p:cNvPr>
          <p:cNvSpPr>
            <a:spLocks xmlns:a="http://schemas.openxmlformats.org/drawingml/2006/main" noGrp="1"/>
          </p:cNvSpPr>
          <p:nvPr/>
        </p:nvSpPr>
        <p:spPr>
          <a:xfrm xmlns:a="http://schemas.openxmlformats.org/drawingml/2006/main">
            <a:off x="1219200" y="2276475"/>
            <a:ext cx="10172700" cy="9525"/>
          </a:xfrm>
          <a:prstGeom xmlns:a="http://schemas.openxmlformats.org/drawingml/2006/main" prst="line">
            <a:avLst/>
          </a:prstGeom>
          <a:noFill xmlns:a="http://schemas.openxmlformats.org/drawingml/2006/main"/>
          <a:ln xmlns:a="http://schemas.openxmlformats.org/drawingml/2006/main" w="9525">
            <a:solidFill>
              <a:srgbClr val="E8DDE0"/>
            </a:solidFill>
            <a:prstDash val="solid"/>
          </a:ln>
        </p:spPr>
      </p:sp>
      <p:sp>
        <p:nvSpPr>
          <p:cNvPr id="10" name="">
            <a:extLst xmlns:a="http://schemas.openxmlformats.org/drawingml/2006/main">
              <a:ext uri="{FF2B5EF4-FFF2-40B4-BE49-F238E27FC236}">
                <a16:creationId xmlns:a16="http://schemas.microsoft.com/office/drawing/2014/main" id="{091D414E-CCA5-4E40-B168-0A81AAD93E5A}"/>
              </a:ext>
            </a:extLst>
          </p:cNvPr>
          <p:cNvSpPr>
            <a:spLocks xmlns:a="http://schemas.openxmlformats.org/drawingml/2006/main" noGrp="1"/>
          </p:cNvSpPr>
          <p:nvPr/>
        </p:nvSpPr>
        <p:spPr>
          <a:xfrm xmlns:a="http://schemas.openxmlformats.org/drawingml/2006/main">
            <a:off x="609600" y="2562225"/>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D65C73"/>
                </a:solidFill>
              </a:defRPr>
            </a:defPPr>
          </a:lstStyle>
          <a:p xmlns:a="http://schemas.openxmlformats.org/drawingml/2006/main">
            <a:pPr>
              <a:defRPr sz="1575" b="1">
                <a:solidFill>
                  <a:srgbClr val="D65C73"/>
                </a:solidFill>
              </a:defRPr>
            </a:pPr>
            <a:r>
              <a:rPr sz="1575" b="1">
                <a:solidFill>
                  <a:srgbClr val="D65C73"/>
                </a:solidFill>
              </a:rPr>
              <a:t>02</a:t>
            </a:r>
          </a:p>
        </p:txBody>
      </p:sp>
      <p:sp>
        <p:nvSpPr>
          <p:cNvPr id="11" name="">
            <a:extLst xmlns:a="http://schemas.openxmlformats.org/drawingml/2006/main">
              <a:ext uri="{FF2B5EF4-FFF2-40B4-BE49-F238E27FC236}">
                <a16:creationId xmlns:a16="http://schemas.microsoft.com/office/drawing/2014/main" id="{79EBFE2D-80FF-4FF7-9C55-26B89FE42AAE}"/>
              </a:ext>
            </a:extLst>
          </p:cNvPr>
          <p:cNvSpPr>
            <a:spLocks xmlns:a="http://schemas.openxmlformats.org/drawingml/2006/main" noGrp="1"/>
          </p:cNvSpPr>
          <p:nvPr/>
        </p:nvSpPr>
        <p:spPr>
          <a:xfrm xmlns:a="http://schemas.openxmlformats.org/drawingml/2006/main">
            <a:off x="1219200" y="2562225"/>
            <a:ext cx="1790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8E123B"/>
                </a:solidFill>
              </a:defRPr>
            </a:defPPr>
          </a:lstStyle>
          <a:p xmlns:a="http://schemas.openxmlformats.org/drawingml/2006/main">
            <a:pPr>
              <a:defRPr sz="1425" b="1">
                <a:solidFill>
                  <a:srgbClr val="8E123B"/>
                </a:solidFill>
              </a:defRPr>
            </a:pPr>
            <a:r>
              <a:rPr sz="1425" b="1">
                <a:solidFill>
                  <a:srgbClr val="8E123B"/>
                </a:solidFill>
              </a:rPr>
              <a:t>Pass</a:t>
            </a:r>
          </a:p>
        </p:txBody>
      </p:sp>
      <p:sp>
        <p:nvSpPr>
          <p:cNvPr id="12" name="">
            <a:extLst xmlns:a="http://schemas.openxmlformats.org/drawingml/2006/main">
              <a:ext uri="{FF2B5EF4-FFF2-40B4-BE49-F238E27FC236}">
                <a16:creationId xmlns:a16="http://schemas.microsoft.com/office/drawing/2014/main" id="{BBD969C2-DFDE-4B13-BD26-75F5D1A39409}"/>
              </a:ext>
            </a:extLst>
          </p:cNvPr>
          <p:cNvSpPr>
            <a:spLocks xmlns:a="http://schemas.openxmlformats.org/drawingml/2006/main" noGrp="1"/>
          </p:cNvSpPr>
          <p:nvPr/>
        </p:nvSpPr>
        <p:spPr>
          <a:xfrm xmlns:a="http://schemas.openxmlformats.org/drawingml/2006/main">
            <a:off x="3124200" y="2562225"/>
            <a:ext cx="7858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261D21"/>
                </a:solidFill>
              </a:defRPr>
            </a:defPPr>
          </a:lstStyle>
          <a:p xmlns:a="http://schemas.openxmlformats.org/drawingml/2006/main">
            <a:pPr>
              <a:defRPr sz="1350" b="0">
                <a:solidFill>
                  <a:srgbClr val="261D21"/>
                </a:solidFill>
              </a:defRPr>
            </a:pPr>
            <a:r>
              <a:rPr sz="1350" b="0">
                <a:solidFill>
                  <a:srgbClr val="261D21"/>
                </a:solidFill>
              </a:rPr>
              <a:t>Random 32-byte token; only a hash is stored</a:t>
            </a:r>
          </a:p>
        </p:txBody>
      </p:sp>
      <p:sp>
        <p:nvSpPr>
          <p:cNvPr id="13" name="">
            <a:extLst xmlns:a="http://schemas.openxmlformats.org/drawingml/2006/main">
              <a:ext uri="{FF2B5EF4-FFF2-40B4-BE49-F238E27FC236}">
                <a16:creationId xmlns:a16="http://schemas.microsoft.com/office/drawing/2014/main" id="{7E8BD5FD-A803-42D3-8512-4E0BC681205B}"/>
              </a:ext>
            </a:extLst>
          </p:cNvPr>
          <p:cNvSpPr>
            <a:spLocks xmlns:a="http://schemas.openxmlformats.org/drawingml/2006/main" noGrp="1"/>
          </p:cNvSpPr>
          <p:nvPr/>
        </p:nvSpPr>
        <p:spPr>
          <a:xfrm xmlns:a="http://schemas.openxmlformats.org/drawingml/2006/main">
            <a:off x="1219200" y="3143250"/>
            <a:ext cx="10172700" cy="9525"/>
          </a:xfrm>
          <a:prstGeom xmlns:a="http://schemas.openxmlformats.org/drawingml/2006/main" prst="line">
            <a:avLst/>
          </a:prstGeom>
          <a:noFill xmlns:a="http://schemas.openxmlformats.org/drawingml/2006/main"/>
          <a:ln xmlns:a="http://schemas.openxmlformats.org/drawingml/2006/main" w="9525">
            <a:solidFill>
              <a:srgbClr val="E8DDE0"/>
            </a:solidFill>
            <a:prstDash val="solid"/>
          </a:ln>
        </p:spPr>
      </p:sp>
      <p:sp>
        <p:nvSpPr>
          <p:cNvPr id="14" name="">
            <a:extLst xmlns:a="http://schemas.openxmlformats.org/drawingml/2006/main">
              <a:ext uri="{FF2B5EF4-FFF2-40B4-BE49-F238E27FC236}">
                <a16:creationId xmlns:a16="http://schemas.microsoft.com/office/drawing/2014/main" id="{7FF4E1CA-D928-46C1-81C8-C910CCE630E9}"/>
              </a:ext>
            </a:extLst>
          </p:cNvPr>
          <p:cNvSpPr>
            <a:spLocks xmlns:a="http://schemas.openxmlformats.org/drawingml/2006/main" noGrp="1"/>
          </p:cNvSpPr>
          <p:nvPr/>
        </p:nvSpPr>
        <p:spPr>
          <a:xfrm xmlns:a="http://schemas.openxmlformats.org/drawingml/2006/main">
            <a:off x="609600" y="342900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D65C73"/>
                </a:solidFill>
              </a:defRPr>
            </a:defPPr>
          </a:lstStyle>
          <a:p xmlns:a="http://schemas.openxmlformats.org/drawingml/2006/main">
            <a:pPr>
              <a:defRPr sz="1575" b="1">
                <a:solidFill>
                  <a:srgbClr val="D65C73"/>
                </a:solidFill>
              </a:defRPr>
            </a:pPr>
            <a:r>
              <a:rPr sz="1575" b="1">
                <a:solidFill>
                  <a:srgbClr val="D65C73"/>
                </a:solidFill>
              </a:rPr>
              <a:t>03</a:t>
            </a:r>
          </a:p>
        </p:txBody>
      </p:sp>
      <p:sp>
        <p:nvSpPr>
          <p:cNvPr id="15" name="">
            <a:extLst xmlns:a="http://schemas.openxmlformats.org/drawingml/2006/main">
              <a:ext uri="{FF2B5EF4-FFF2-40B4-BE49-F238E27FC236}">
                <a16:creationId xmlns:a16="http://schemas.microsoft.com/office/drawing/2014/main" id="{514E5284-EC5D-480F-B0EF-2442CF31E1CA}"/>
              </a:ext>
            </a:extLst>
          </p:cNvPr>
          <p:cNvSpPr>
            <a:spLocks xmlns:a="http://schemas.openxmlformats.org/drawingml/2006/main" noGrp="1"/>
          </p:cNvSpPr>
          <p:nvPr/>
        </p:nvSpPr>
        <p:spPr>
          <a:xfrm xmlns:a="http://schemas.openxmlformats.org/drawingml/2006/main">
            <a:off x="1219200" y="3429000"/>
            <a:ext cx="1790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8E123B"/>
                </a:solidFill>
              </a:defRPr>
            </a:defPPr>
          </a:lstStyle>
          <a:p xmlns:a="http://schemas.openxmlformats.org/drawingml/2006/main">
            <a:pPr>
              <a:defRPr sz="1425" b="1">
                <a:solidFill>
                  <a:srgbClr val="8E123B"/>
                </a:solidFill>
              </a:defRPr>
            </a:pPr>
            <a:r>
              <a:rPr sz="1425" b="1">
                <a:solidFill>
                  <a:srgbClr val="8E123B"/>
                </a:solidFill>
              </a:rPr>
              <a:t>Scope</a:t>
            </a:r>
          </a:p>
        </p:txBody>
      </p:sp>
      <p:sp>
        <p:nvSpPr>
          <p:cNvPr id="16" name="">
            <a:extLst xmlns:a="http://schemas.openxmlformats.org/drawingml/2006/main">
              <a:ext uri="{FF2B5EF4-FFF2-40B4-BE49-F238E27FC236}">
                <a16:creationId xmlns:a16="http://schemas.microsoft.com/office/drawing/2014/main" id="{6197D6D9-4E7A-42E5-8A6E-F788C05489AE}"/>
              </a:ext>
            </a:extLst>
          </p:cNvPr>
          <p:cNvSpPr>
            <a:spLocks xmlns:a="http://schemas.openxmlformats.org/drawingml/2006/main" noGrp="1"/>
          </p:cNvSpPr>
          <p:nvPr/>
        </p:nvSpPr>
        <p:spPr>
          <a:xfrm xmlns:a="http://schemas.openxmlformats.org/drawingml/2006/main">
            <a:off x="3124200" y="3429000"/>
            <a:ext cx="7858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261D21"/>
                </a:solidFill>
              </a:defRPr>
            </a:defPPr>
          </a:lstStyle>
          <a:p xmlns:a="http://schemas.openxmlformats.org/drawingml/2006/main">
            <a:pPr>
              <a:defRPr sz="1350" b="0">
                <a:solidFill>
                  <a:srgbClr val="261D21"/>
                </a:solidFill>
              </a:defRPr>
            </a:pPr>
            <a:r>
              <a:rPr sz="1350" b="0">
                <a:solidFill>
                  <a:srgbClr val="261D21"/>
                </a:solidFill>
              </a:rPr>
              <a:t>Bound to order, collector, and station</a:t>
            </a:r>
          </a:p>
        </p:txBody>
      </p:sp>
      <p:sp>
        <p:nvSpPr>
          <p:cNvPr id="17" name="">
            <a:extLst xmlns:a="http://schemas.openxmlformats.org/drawingml/2006/main">
              <a:ext uri="{FF2B5EF4-FFF2-40B4-BE49-F238E27FC236}">
                <a16:creationId xmlns:a16="http://schemas.microsoft.com/office/drawing/2014/main" id="{0CADDDDC-E079-4FC2-A084-9289E59DD653}"/>
              </a:ext>
            </a:extLst>
          </p:cNvPr>
          <p:cNvSpPr>
            <a:spLocks xmlns:a="http://schemas.openxmlformats.org/drawingml/2006/main" noGrp="1"/>
          </p:cNvSpPr>
          <p:nvPr/>
        </p:nvSpPr>
        <p:spPr>
          <a:xfrm xmlns:a="http://schemas.openxmlformats.org/drawingml/2006/main">
            <a:off x="1219200" y="4010025"/>
            <a:ext cx="10172700" cy="9525"/>
          </a:xfrm>
          <a:prstGeom xmlns:a="http://schemas.openxmlformats.org/drawingml/2006/main" prst="line">
            <a:avLst/>
          </a:prstGeom>
          <a:noFill xmlns:a="http://schemas.openxmlformats.org/drawingml/2006/main"/>
          <a:ln xmlns:a="http://schemas.openxmlformats.org/drawingml/2006/main" w="9525">
            <a:solidFill>
              <a:srgbClr val="E8DDE0"/>
            </a:solidFill>
            <a:prstDash val="solid"/>
          </a:ln>
        </p:spPr>
      </p:sp>
      <p:sp>
        <p:nvSpPr>
          <p:cNvPr id="18" name="">
            <a:extLst xmlns:a="http://schemas.openxmlformats.org/drawingml/2006/main">
              <a:ext uri="{FF2B5EF4-FFF2-40B4-BE49-F238E27FC236}">
                <a16:creationId xmlns:a16="http://schemas.microsoft.com/office/drawing/2014/main" id="{90B4B307-78B6-461C-BF93-FFD82907AA38}"/>
              </a:ext>
            </a:extLst>
          </p:cNvPr>
          <p:cNvSpPr>
            <a:spLocks xmlns:a="http://schemas.openxmlformats.org/drawingml/2006/main" noGrp="1"/>
          </p:cNvSpPr>
          <p:nvPr/>
        </p:nvSpPr>
        <p:spPr>
          <a:xfrm xmlns:a="http://schemas.openxmlformats.org/drawingml/2006/main">
            <a:off x="609600" y="4295775"/>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D65C73"/>
                </a:solidFill>
              </a:defRPr>
            </a:defPPr>
          </a:lstStyle>
          <a:p xmlns:a="http://schemas.openxmlformats.org/drawingml/2006/main">
            <a:pPr>
              <a:defRPr sz="1575" b="1">
                <a:solidFill>
                  <a:srgbClr val="D65C73"/>
                </a:solidFill>
              </a:defRPr>
            </a:pPr>
            <a:r>
              <a:rPr sz="1575" b="1">
                <a:solidFill>
                  <a:srgbClr val="D65C73"/>
                </a:solidFill>
              </a:rPr>
              <a:t>04</a:t>
            </a:r>
          </a:p>
        </p:txBody>
      </p:sp>
      <p:sp>
        <p:nvSpPr>
          <p:cNvPr id="19" name="">
            <a:extLst xmlns:a="http://schemas.openxmlformats.org/drawingml/2006/main">
              <a:ext uri="{FF2B5EF4-FFF2-40B4-BE49-F238E27FC236}">
                <a16:creationId xmlns:a16="http://schemas.microsoft.com/office/drawing/2014/main" id="{ECA36686-E7FD-4218-9F90-80D36AF64A87}"/>
              </a:ext>
            </a:extLst>
          </p:cNvPr>
          <p:cNvSpPr>
            <a:spLocks xmlns:a="http://schemas.openxmlformats.org/drawingml/2006/main" noGrp="1"/>
          </p:cNvSpPr>
          <p:nvPr/>
        </p:nvSpPr>
        <p:spPr>
          <a:xfrm xmlns:a="http://schemas.openxmlformats.org/drawingml/2006/main">
            <a:off x="1219200" y="4295775"/>
            <a:ext cx="1790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8E123B"/>
                </a:solidFill>
              </a:defRPr>
            </a:defPPr>
          </a:lstStyle>
          <a:p xmlns:a="http://schemas.openxmlformats.org/drawingml/2006/main">
            <a:pPr>
              <a:defRPr sz="1425" b="1">
                <a:solidFill>
                  <a:srgbClr val="8E123B"/>
                </a:solidFill>
              </a:defRPr>
            </a:pPr>
            <a:r>
              <a:rPr sz="1425" b="1">
                <a:solidFill>
                  <a:srgbClr val="8E123B"/>
                </a:solidFill>
              </a:rPr>
              <a:t>Use</a:t>
            </a:r>
          </a:p>
        </p:txBody>
      </p:sp>
      <p:sp>
        <p:nvSpPr>
          <p:cNvPr id="20" name="">
            <a:extLst xmlns:a="http://schemas.openxmlformats.org/drawingml/2006/main">
              <a:ext uri="{FF2B5EF4-FFF2-40B4-BE49-F238E27FC236}">
                <a16:creationId xmlns:a16="http://schemas.microsoft.com/office/drawing/2014/main" id="{5CE94A89-F5F2-4AE3-ABAE-175ADA015C58}"/>
              </a:ext>
            </a:extLst>
          </p:cNvPr>
          <p:cNvSpPr>
            <a:spLocks xmlns:a="http://schemas.openxmlformats.org/drawingml/2006/main" noGrp="1"/>
          </p:cNvSpPr>
          <p:nvPr/>
        </p:nvSpPr>
        <p:spPr>
          <a:xfrm xmlns:a="http://schemas.openxmlformats.org/drawingml/2006/main">
            <a:off x="3124200" y="4295775"/>
            <a:ext cx="7858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261D21"/>
                </a:solidFill>
              </a:defRPr>
            </a:defPPr>
          </a:lstStyle>
          <a:p xmlns:a="http://schemas.openxmlformats.org/drawingml/2006/main">
            <a:pPr>
              <a:defRPr sz="1350" b="0">
                <a:solidFill>
                  <a:srgbClr val="261D21"/>
                </a:solidFill>
              </a:defRPr>
            </a:pPr>
            <a:r>
              <a:rPr sz="1350" b="0">
                <a:solidFill>
                  <a:srgbClr val="261D21"/>
                </a:solidFill>
              </a:rPr>
              <a:t>Staff resolve arrival, prepare, then hand over selected portions</a:t>
            </a:r>
          </a:p>
        </p:txBody>
      </p:sp>
      <p:sp>
        <p:nvSpPr>
          <p:cNvPr id="21" name="">
            <a:extLst xmlns:a="http://schemas.openxmlformats.org/drawingml/2006/main">
              <a:ext uri="{FF2B5EF4-FFF2-40B4-BE49-F238E27FC236}">
                <a16:creationId xmlns:a16="http://schemas.microsoft.com/office/drawing/2014/main" id="{AD3648A8-BA56-42B8-81AB-E40D1E11970A}"/>
              </a:ext>
            </a:extLst>
          </p:cNvPr>
          <p:cNvSpPr>
            <a:spLocks xmlns:a="http://schemas.openxmlformats.org/drawingml/2006/main" noGrp="1"/>
          </p:cNvSpPr>
          <p:nvPr/>
        </p:nvSpPr>
        <p:spPr>
          <a:xfrm xmlns:a="http://schemas.openxmlformats.org/drawingml/2006/main">
            <a:off x="1219200" y="4876800"/>
            <a:ext cx="10172700" cy="9525"/>
          </a:xfrm>
          <a:prstGeom xmlns:a="http://schemas.openxmlformats.org/drawingml/2006/main" prst="line">
            <a:avLst/>
          </a:prstGeom>
          <a:noFill xmlns:a="http://schemas.openxmlformats.org/drawingml/2006/main"/>
          <a:ln xmlns:a="http://schemas.openxmlformats.org/drawingml/2006/main" w="9525">
            <a:solidFill>
              <a:srgbClr val="E8DDE0"/>
            </a:solidFill>
            <a:prstDash val="solid"/>
          </a:ln>
        </p:spPr>
      </p:sp>
      <p:sp>
        <p:nvSpPr>
          <p:cNvPr id="22" name="">
            <a:extLst xmlns:a="http://schemas.openxmlformats.org/drawingml/2006/main">
              <a:ext uri="{FF2B5EF4-FFF2-40B4-BE49-F238E27FC236}">
                <a16:creationId xmlns:a16="http://schemas.microsoft.com/office/drawing/2014/main" id="{61761697-D876-4AED-A20D-6BD3DC26C093}"/>
              </a:ext>
            </a:extLst>
          </p:cNvPr>
          <p:cNvSpPr>
            <a:spLocks xmlns:a="http://schemas.openxmlformats.org/drawingml/2006/main" noGrp="1"/>
          </p:cNvSpPr>
          <p:nvPr/>
        </p:nvSpPr>
        <p:spPr>
          <a:xfrm xmlns:a="http://schemas.openxmlformats.org/drawingml/2006/main">
            <a:off x="609600" y="5381625"/>
            <a:ext cx="10972800" cy="581025"/>
          </a:xfrm>
          <a:prstGeom xmlns:a="http://schemas.openxmlformats.org/drawingml/2006/main" prst="roundRect">
            <a:avLst>
              <a:gd name="adj" fmla="val 13115"/>
            </a:avLst>
          </a:prstGeom>
          <a:solidFill xmlns:a="http://schemas.openxmlformats.org/drawingml/2006/main">
            <a:srgbClr val="32101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9A0AA8F-96D2-40C3-AAB1-20215A7F13A3}"/>
              </a:ext>
            </a:extLst>
          </p:cNvPr>
          <p:cNvSpPr>
            <a:spLocks xmlns:a="http://schemas.openxmlformats.org/drawingml/2006/main" noGrp="1"/>
          </p:cNvSpPr>
          <p:nvPr/>
        </p:nvSpPr>
        <p:spPr>
          <a:xfrm xmlns:a="http://schemas.openxmlformats.org/drawingml/2006/main">
            <a:off x="800100" y="547687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FFFFFF"/>
                </a:solidFill>
              </a:defRPr>
            </a:defPPr>
          </a:lstStyle>
          <a:p xmlns:a="http://schemas.openxmlformats.org/drawingml/2006/main">
            <a:pPr>
              <a:defRPr sz="1125" b="1">
                <a:solidFill>
                  <a:srgbClr val="FFFFFF"/>
                </a:solidFill>
              </a:defRPr>
            </a:pPr>
            <a:r>
              <a:rPr sz="1125" b="1">
                <a:solidFill>
                  <a:srgbClr val="FFFFFF"/>
                </a:solidFill>
              </a:rPr>
              <a:t>Delegation grants selected unit rights; a version change invalidates prior passes. Location is a convenience signal, not proof against GPS spoofing.</a:t>
            </a:r>
          </a:p>
        </p:txBody>
      </p:sp>
    </p:spTree>
    <p:extLst>
      <p:ext uri="{BB962C8B-B14F-4D97-AF65-F5344CB8AC3E}">
        <p14:creationId xmlns:p14="http://schemas.microsoft.com/office/powerpoint/2010/main" val="1780147202"/>
      </p:ext>
    </p:extLst>
  </p:cSld>
</p:sld>
</file>

<file path=ppt/slides/slide12.xml><?xml version="1.0" encoding="utf-8"?>
<p:sld xmlns:p="http://schemas.openxmlformats.org/presentationml/2006/main">
  <p:cSld>
    <p:bg>
      <p:bgPr>
        <a:solidFill xmlns:a="http://schemas.openxmlformats.org/drawingml/2006/main">
          <a:srgbClr val="FBF7F4"/>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F2FACB7-DDE0-4055-8E39-6343E1BAFEBA}"/>
              </a:ext>
            </a:extLst>
          </p:cNvPr>
          <p:cNvSpPr>
            <a:spLocks xmlns:a="http://schemas.openxmlformats.org/drawingml/2006/main" noGrp="1"/>
          </p:cNvSpPr>
          <p:nvPr/>
        </p:nvSpPr>
        <p:spPr>
          <a:xfrm xmlns:a="http://schemas.openxmlformats.org/drawingml/2006/main">
            <a:off x="6096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8E123B"/>
                </a:solidFill>
              </a:defRPr>
            </a:defPPr>
          </a:lstStyle>
          <a:p xmlns:a="http://schemas.openxmlformats.org/drawingml/2006/main">
            <a:pPr>
              <a:defRPr sz="900" b="1">
                <a:solidFill>
                  <a:srgbClr val="8E123B"/>
                </a:solidFill>
              </a:defRPr>
            </a:pPr>
            <a:r>
              <a:rPr sz="900" b="1">
                <a:solidFill>
                  <a:srgbClr val="8E123B"/>
                </a:solidFill>
              </a:rPr>
              <a:t>11 • SECURITY</a:t>
            </a:r>
          </a:p>
        </p:txBody>
      </p:sp>
      <p:sp>
        <p:nvSpPr>
          <p:cNvPr id="2" name="">
            <a:extLst xmlns:a="http://schemas.openxmlformats.org/drawingml/2006/main">
              <a:ext uri="{FF2B5EF4-FFF2-40B4-BE49-F238E27FC236}">
                <a16:creationId xmlns:a16="http://schemas.microsoft.com/office/drawing/2014/main" id="{9F6FC98F-DEED-46AA-B354-0E552537C7BD}"/>
              </a:ext>
            </a:extLst>
          </p:cNvPr>
          <p:cNvSpPr>
            <a:spLocks xmlns:a="http://schemas.openxmlformats.org/drawingml/2006/main" noGrp="1"/>
          </p:cNvSpPr>
          <p:nvPr/>
        </p:nvSpPr>
        <p:spPr>
          <a:xfrm xmlns:a="http://schemas.openxmlformats.org/drawingml/2006/main">
            <a:off x="609600" y="657225"/>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261D21"/>
                </a:solidFill>
              </a:defRPr>
            </a:defPPr>
          </a:lstStyle>
          <a:p xmlns:a="http://schemas.openxmlformats.org/drawingml/2006/main">
            <a:pPr>
              <a:defRPr sz="2550" b="1">
                <a:solidFill>
                  <a:srgbClr val="261D21"/>
                </a:solidFill>
              </a:defRPr>
            </a:pPr>
            <a:r>
              <a:rPr sz="2550" b="1">
                <a:solidFill>
                  <a:srgbClr val="261D21"/>
                </a:solidFill>
              </a:rPr>
              <a:t>The browser is outside the trust boundary</a:t>
            </a:r>
          </a:p>
        </p:txBody>
      </p:sp>
      <p:sp>
        <p:nvSpPr>
          <p:cNvPr id="3" name="">
            <a:extLst xmlns:a="http://schemas.openxmlformats.org/drawingml/2006/main">
              <a:ext uri="{FF2B5EF4-FFF2-40B4-BE49-F238E27FC236}">
                <a16:creationId xmlns:a16="http://schemas.microsoft.com/office/drawing/2014/main" id="{44E47489-0E07-40F3-8CE3-2739683852BE}"/>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line">
            <a:avLst/>
          </a:prstGeom>
          <a:noFill xmlns:a="http://schemas.openxmlformats.org/drawingml/2006/main"/>
          <a:ln xmlns:a="http://schemas.openxmlformats.org/drawingml/2006/main" w="9525">
            <a:solidFill>
              <a:srgbClr val="E8DDE0"/>
            </a:solidFill>
            <a:prstDash val="solid"/>
          </a:ln>
        </p:spPr>
      </p:sp>
      <p:sp>
        <p:nvSpPr>
          <p:cNvPr id="4" name="">
            <a:extLst xmlns:a="http://schemas.openxmlformats.org/drawingml/2006/main">
              <a:ext uri="{FF2B5EF4-FFF2-40B4-BE49-F238E27FC236}">
                <a16:creationId xmlns:a16="http://schemas.microsoft.com/office/drawing/2014/main" id="{0B867B75-BC4E-4A09-BF6B-4625FF94BD9A}"/>
              </a:ext>
            </a:extLst>
          </p:cNvPr>
          <p:cNvSpPr>
            <a:spLocks xmlns:a="http://schemas.openxmlformats.org/drawingml/2006/main" noGrp="1"/>
          </p:cNvSpPr>
          <p:nvPr/>
        </p:nvSpPr>
        <p:spPr>
          <a:xfrm xmlns:a="http://schemas.openxmlformats.org/drawingml/2006/main">
            <a:off x="609600" y="64579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71656A"/>
                </a:solidFill>
              </a:defRPr>
            </a:defPPr>
          </a:lstStyle>
          <a:p xmlns:a="http://schemas.openxmlformats.org/drawingml/2006/main">
            <a:pPr>
              <a:defRPr sz="825" b="1">
                <a:solidFill>
                  <a:srgbClr val="71656A"/>
                </a:solidFill>
              </a:defRPr>
            </a:pPr>
            <a:r>
              <a:rPr sz="825" b="1">
                <a:solidFill>
                  <a:srgbClr val="71656A"/>
                </a:solidFill>
              </a:rPr>
              <a:t>MINT  /  CAMPUS CANTEEN PICKUP</a:t>
            </a:r>
          </a:p>
        </p:txBody>
      </p:sp>
      <p:sp>
        <p:nvSpPr>
          <p:cNvPr id="5" name="">
            <a:extLst xmlns:a="http://schemas.openxmlformats.org/drawingml/2006/main">
              <a:ext uri="{FF2B5EF4-FFF2-40B4-BE49-F238E27FC236}">
                <a16:creationId xmlns:a16="http://schemas.microsoft.com/office/drawing/2014/main" id="{0A1716D3-237C-425C-B674-F6586DC94159}"/>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71656A"/>
                </a:solidFill>
              </a:defRPr>
            </a:defPPr>
          </a:lstStyle>
          <a:p xmlns:a="http://schemas.openxmlformats.org/drawingml/2006/main">
            <a:pPr algn="r">
              <a:defRPr sz="900" b="1">
                <a:solidFill>
                  <a:srgbClr val="71656A"/>
                </a:solidFill>
              </a:defRPr>
            </a:pPr>
            <a:r>
              <a:rPr sz="900" b="1">
                <a:solidFill>
                  <a:srgbClr val="71656A"/>
                </a:solidFill>
              </a:rPr>
              <a:t>12</a:t>
            </a:r>
          </a:p>
        </p:txBody>
      </p:sp>
      <p:sp>
        <p:nvSpPr>
          <p:cNvPr id="6" name="">
            <a:extLst xmlns:a="http://schemas.openxmlformats.org/drawingml/2006/main">
              <a:ext uri="{FF2B5EF4-FFF2-40B4-BE49-F238E27FC236}">
                <a16:creationId xmlns:a16="http://schemas.microsoft.com/office/drawing/2014/main" id="{4BA6435C-809B-4796-8BFD-609CA4EB549D}"/>
              </a:ext>
            </a:extLst>
          </p:cNvPr>
          <p:cNvSpPr>
            <a:spLocks xmlns:a="http://schemas.openxmlformats.org/drawingml/2006/main" noGrp="1"/>
          </p:cNvSpPr>
          <p:nvPr/>
        </p:nvSpPr>
        <p:spPr>
          <a:xfrm xmlns:a="http://schemas.openxmlformats.org/drawingml/2006/main">
            <a:off x="609600" y="16573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236D5A"/>
                </a:solidFill>
              </a:defRPr>
            </a:defPPr>
          </a:lstStyle>
          <a:p xmlns:a="http://schemas.openxmlformats.org/drawingml/2006/main">
            <a:pPr>
              <a:defRPr sz="1350" b="1">
                <a:solidFill>
                  <a:srgbClr val="236D5A"/>
                </a:solidFill>
              </a:defRPr>
            </a:pPr>
            <a:r>
              <a:rPr sz="1350" b="1">
                <a:solidFill>
                  <a:srgbClr val="236D5A"/>
                </a:solidFill>
              </a:rPr>
              <a:t>Trusted path</a:t>
            </a:r>
          </a:p>
        </p:txBody>
      </p:sp>
      <p:sp>
        <p:nvSpPr>
          <p:cNvPr id="7" name="">
            <a:extLst xmlns:a="http://schemas.openxmlformats.org/drawingml/2006/main">
              <a:ext uri="{FF2B5EF4-FFF2-40B4-BE49-F238E27FC236}">
                <a16:creationId xmlns:a16="http://schemas.microsoft.com/office/drawing/2014/main" id="{5B49EB3F-AE64-4407-A1F8-63C9AA83B99B}"/>
              </a:ext>
            </a:extLst>
          </p:cNvPr>
          <p:cNvSpPr>
            <a:spLocks xmlns:a="http://schemas.openxmlformats.org/drawingml/2006/main" noGrp="1"/>
          </p:cNvSpPr>
          <p:nvPr/>
        </p:nvSpPr>
        <p:spPr>
          <a:xfrm xmlns:a="http://schemas.openxmlformats.org/drawingml/2006/main">
            <a:off x="6353175" y="16573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8E123B"/>
                </a:solidFill>
              </a:defRPr>
            </a:defPPr>
          </a:lstStyle>
          <a:p xmlns:a="http://schemas.openxmlformats.org/drawingml/2006/main">
            <a:pPr>
              <a:defRPr sz="1350" b="1">
                <a:solidFill>
                  <a:srgbClr val="8E123B"/>
                </a:solidFill>
              </a:defRPr>
            </a:pPr>
            <a:r>
              <a:rPr sz="1350" b="1">
                <a:solidFill>
                  <a:srgbClr val="8E123B"/>
                </a:solidFill>
              </a:rPr>
              <a:t>Untrusted input</a:t>
            </a:r>
          </a:p>
        </p:txBody>
      </p:sp>
      <p:sp>
        <p:nvSpPr>
          <p:cNvPr id="8" name="">
            <a:extLst xmlns:a="http://schemas.openxmlformats.org/drawingml/2006/main">
              <a:ext uri="{FF2B5EF4-FFF2-40B4-BE49-F238E27FC236}">
                <a16:creationId xmlns:a16="http://schemas.microsoft.com/office/drawing/2014/main" id="{EEB05F27-5111-4649-8DAD-1431286F4C9D}"/>
              </a:ext>
            </a:extLst>
          </p:cNvPr>
          <p:cNvSpPr>
            <a:spLocks xmlns:a="http://schemas.openxmlformats.org/drawingml/2006/main" noGrp="1"/>
          </p:cNvSpPr>
          <p:nvPr/>
        </p:nvSpPr>
        <p:spPr>
          <a:xfrm xmlns:a="http://schemas.openxmlformats.org/drawingml/2006/main">
            <a:off x="609600" y="2114550"/>
            <a:ext cx="4857750" cy="590550"/>
          </a:xfrm>
          <a:prstGeom xmlns:a="http://schemas.openxmlformats.org/drawingml/2006/main" prst="roundRect">
            <a:avLst>
              <a:gd name="adj" fmla="val 12903"/>
            </a:avLst>
          </a:prstGeom>
          <a:solidFill xmlns:a="http://schemas.openxmlformats.org/drawingml/2006/main">
            <a:srgbClr val="DCEDE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258CBB8-98C5-4671-9BD1-CF716A0B7120}"/>
              </a:ext>
            </a:extLst>
          </p:cNvPr>
          <p:cNvSpPr>
            <a:spLocks xmlns:a="http://schemas.openxmlformats.org/drawingml/2006/main" noGrp="1"/>
          </p:cNvSpPr>
          <p:nvPr/>
        </p:nvSpPr>
        <p:spPr>
          <a:xfrm xmlns:a="http://schemas.openxmlformats.org/drawingml/2006/main">
            <a:off x="781050" y="219075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236D5A"/>
                </a:solidFill>
              </a:defRPr>
            </a:defPPr>
          </a:lstStyle>
          <a:p xmlns:a="http://schemas.openxmlformats.org/drawingml/2006/main">
            <a:pPr>
              <a:defRPr sz="1200" b="1">
                <a:solidFill>
                  <a:srgbClr val="236D5A"/>
                </a:solidFill>
              </a:defRPr>
            </a:pPr>
            <a:r>
              <a:rPr sz="1200" b="1">
                <a:solidFill>
                  <a:srgbClr val="236D5A"/>
                </a:solidFill>
              </a:rPr>
              <a:t>Identity</a:t>
            </a:r>
          </a:p>
        </p:txBody>
      </p:sp>
      <p:sp>
        <p:nvSpPr>
          <p:cNvPr id="10" name="">
            <a:extLst xmlns:a="http://schemas.openxmlformats.org/drawingml/2006/main">
              <a:ext uri="{FF2B5EF4-FFF2-40B4-BE49-F238E27FC236}">
                <a16:creationId xmlns:a16="http://schemas.microsoft.com/office/drawing/2014/main" id="{EB1FDC70-51A7-4B1A-A465-A34955E48EAB}"/>
              </a:ext>
            </a:extLst>
          </p:cNvPr>
          <p:cNvSpPr>
            <a:spLocks xmlns:a="http://schemas.openxmlformats.org/drawingml/2006/main" noGrp="1"/>
          </p:cNvSpPr>
          <p:nvPr/>
        </p:nvSpPr>
        <p:spPr>
          <a:xfrm xmlns:a="http://schemas.openxmlformats.org/drawingml/2006/main">
            <a:off x="2209800" y="21907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Supabase verified user</a:t>
            </a:r>
          </a:p>
        </p:txBody>
      </p:sp>
      <p:sp>
        <p:nvSpPr>
          <p:cNvPr id="11" name="">
            <a:extLst xmlns:a="http://schemas.openxmlformats.org/drawingml/2006/main">
              <a:ext uri="{FF2B5EF4-FFF2-40B4-BE49-F238E27FC236}">
                <a16:creationId xmlns:a16="http://schemas.microsoft.com/office/drawing/2014/main" id="{3D87CA50-982F-4015-BBC2-E0031BCB7937}"/>
              </a:ext>
            </a:extLst>
          </p:cNvPr>
          <p:cNvSpPr>
            <a:spLocks xmlns:a="http://schemas.openxmlformats.org/drawingml/2006/main" noGrp="1"/>
          </p:cNvSpPr>
          <p:nvPr/>
        </p:nvSpPr>
        <p:spPr>
          <a:xfrm xmlns:a="http://schemas.openxmlformats.org/drawingml/2006/main">
            <a:off x="609600" y="2895600"/>
            <a:ext cx="4857750" cy="590550"/>
          </a:xfrm>
          <a:prstGeom xmlns:a="http://schemas.openxmlformats.org/drawingml/2006/main" prst="roundRect">
            <a:avLst>
              <a:gd name="adj" fmla="val 12903"/>
            </a:avLst>
          </a:prstGeom>
          <a:solidFill xmlns:a="http://schemas.openxmlformats.org/drawingml/2006/main">
            <a:srgbClr val="DCEDE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7FCD886-2549-42F7-A926-4BC13FC512E1}"/>
              </a:ext>
            </a:extLst>
          </p:cNvPr>
          <p:cNvSpPr>
            <a:spLocks xmlns:a="http://schemas.openxmlformats.org/drawingml/2006/main" noGrp="1"/>
          </p:cNvSpPr>
          <p:nvPr/>
        </p:nvSpPr>
        <p:spPr>
          <a:xfrm xmlns:a="http://schemas.openxmlformats.org/drawingml/2006/main">
            <a:off x="781050" y="297180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236D5A"/>
                </a:solidFill>
              </a:defRPr>
            </a:defPPr>
          </a:lstStyle>
          <a:p xmlns:a="http://schemas.openxmlformats.org/drawingml/2006/main">
            <a:pPr>
              <a:defRPr sz="1200" b="1">
                <a:solidFill>
                  <a:srgbClr val="236D5A"/>
                </a:solidFill>
              </a:defRPr>
            </a:pPr>
            <a:r>
              <a:rPr sz="1200" b="1">
                <a:solidFill>
                  <a:srgbClr val="236D5A"/>
                </a:solidFill>
              </a:rPr>
              <a:t>Authorization</a:t>
            </a:r>
          </a:p>
        </p:txBody>
      </p:sp>
      <p:sp>
        <p:nvSpPr>
          <p:cNvPr id="13" name="">
            <a:extLst xmlns:a="http://schemas.openxmlformats.org/drawingml/2006/main">
              <a:ext uri="{FF2B5EF4-FFF2-40B4-BE49-F238E27FC236}">
                <a16:creationId xmlns:a16="http://schemas.microsoft.com/office/drawing/2014/main" id="{A93DD9B0-B12A-4E55-9F03-175D96B75A90}"/>
              </a:ext>
            </a:extLst>
          </p:cNvPr>
          <p:cNvSpPr>
            <a:spLocks xmlns:a="http://schemas.openxmlformats.org/drawingml/2006/main" noGrp="1"/>
          </p:cNvSpPr>
          <p:nvPr/>
        </p:nvSpPr>
        <p:spPr>
          <a:xfrm xmlns:a="http://schemas.openxmlformats.org/drawingml/2006/main">
            <a:off x="2209800" y="29718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role + canteen/station scope</a:t>
            </a:r>
          </a:p>
        </p:txBody>
      </p:sp>
      <p:sp>
        <p:nvSpPr>
          <p:cNvPr id="14" name="">
            <a:extLst xmlns:a="http://schemas.openxmlformats.org/drawingml/2006/main">
              <a:ext uri="{FF2B5EF4-FFF2-40B4-BE49-F238E27FC236}">
                <a16:creationId xmlns:a16="http://schemas.microsoft.com/office/drawing/2014/main" id="{531ECAC0-C59D-4F19-9114-8C662F960950}"/>
              </a:ext>
            </a:extLst>
          </p:cNvPr>
          <p:cNvSpPr>
            <a:spLocks xmlns:a="http://schemas.openxmlformats.org/drawingml/2006/main" noGrp="1"/>
          </p:cNvSpPr>
          <p:nvPr/>
        </p:nvSpPr>
        <p:spPr>
          <a:xfrm xmlns:a="http://schemas.openxmlformats.org/drawingml/2006/main">
            <a:off x="609600" y="3676650"/>
            <a:ext cx="4857750" cy="590550"/>
          </a:xfrm>
          <a:prstGeom xmlns:a="http://schemas.openxmlformats.org/drawingml/2006/main" prst="roundRect">
            <a:avLst>
              <a:gd name="adj" fmla="val 12903"/>
            </a:avLst>
          </a:prstGeom>
          <a:solidFill xmlns:a="http://schemas.openxmlformats.org/drawingml/2006/main">
            <a:srgbClr val="DCEDE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DBCE2C3-7E89-4933-8C94-3CA3F8D0A265}"/>
              </a:ext>
            </a:extLst>
          </p:cNvPr>
          <p:cNvSpPr>
            <a:spLocks xmlns:a="http://schemas.openxmlformats.org/drawingml/2006/main" noGrp="1"/>
          </p:cNvSpPr>
          <p:nvPr/>
        </p:nvSpPr>
        <p:spPr>
          <a:xfrm xmlns:a="http://schemas.openxmlformats.org/drawingml/2006/main">
            <a:off x="781050" y="375285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236D5A"/>
                </a:solidFill>
              </a:defRPr>
            </a:defPPr>
          </a:lstStyle>
          <a:p xmlns:a="http://schemas.openxmlformats.org/drawingml/2006/main">
            <a:pPr>
              <a:defRPr sz="1200" b="1">
                <a:solidFill>
                  <a:srgbClr val="236D5A"/>
                </a:solidFill>
              </a:defRPr>
            </a:pPr>
            <a:r>
              <a:rPr sz="1200" b="1">
                <a:solidFill>
                  <a:srgbClr val="236D5A"/>
                </a:solidFill>
              </a:rPr>
              <a:t>Data</a:t>
            </a:r>
          </a:p>
        </p:txBody>
      </p:sp>
      <p:sp>
        <p:nvSpPr>
          <p:cNvPr id="16" name="">
            <a:extLst xmlns:a="http://schemas.openxmlformats.org/drawingml/2006/main">
              <a:ext uri="{FF2B5EF4-FFF2-40B4-BE49-F238E27FC236}">
                <a16:creationId xmlns:a16="http://schemas.microsoft.com/office/drawing/2014/main" id="{69E6E4DC-C91F-45E4-8686-19B972596DC6}"/>
              </a:ext>
            </a:extLst>
          </p:cNvPr>
          <p:cNvSpPr>
            <a:spLocks xmlns:a="http://schemas.openxmlformats.org/drawingml/2006/main" noGrp="1"/>
          </p:cNvSpPr>
          <p:nvPr/>
        </p:nvSpPr>
        <p:spPr>
          <a:xfrm xmlns:a="http://schemas.openxmlformats.org/drawingml/2006/main">
            <a:off x="2209800" y="37528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private schema + restricted runtime role</a:t>
            </a:r>
          </a:p>
        </p:txBody>
      </p:sp>
      <p:sp>
        <p:nvSpPr>
          <p:cNvPr id="17" name="">
            <a:extLst xmlns:a="http://schemas.openxmlformats.org/drawingml/2006/main">
              <a:ext uri="{FF2B5EF4-FFF2-40B4-BE49-F238E27FC236}">
                <a16:creationId xmlns:a16="http://schemas.microsoft.com/office/drawing/2014/main" id="{F3BCDB67-088C-4DE5-9DD3-B69E54DFF0F7}"/>
              </a:ext>
            </a:extLst>
          </p:cNvPr>
          <p:cNvSpPr>
            <a:spLocks xmlns:a="http://schemas.openxmlformats.org/drawingml/2006/main" noGrp="1"/>
          </p:cNvSpPr>
          <p:nvPr/>
        </p:nvSpPr>
        <p:spPr>
          <a:xfrm xmlns:a="http://schemas.openxmlformats.org/drawingml/2006/main">
            <a:off x="609600" y="4457700"/>
            <a:ext cx="4857750" cy="590550"/>
          </a:xfrm>
          <a:prstGeom xmlns:a="http://schemas.openxmlformats.org/drawingml/2006/main" prst="roundRect">
            <a:avLst>
              <a:gd name="adj" fmla="val 12903"/>
            </a:avLst>
          </a:prstGeom>
          <a:solidFill xmlns:a="http://schemas.openxmlformats.org/drawingml/2006/main">
            <a:srgbClr val="DCEDE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7FA33F6-B9BE-4F90-9F46-A861526B9480}"/>
              </a:ext>
            </a:extLst>
          </p:cNvPr>
          <p:cNvSpPr>
            <a:spLocks xmlns:a="http://schemas.openxmlformats.org/drawingml/2006/main" noGrp="1"/>
          </p:cNvSpPr>
          <p:nvPr/>
        </p:nvSpPr>
        <p:spPr>
          <a:xfrm xmlns:a="http://schemas.openxmlformats.org/drawingml/2006/main">
            <a:off x="781050" y="453390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236D5A"/>
                </a:solidFill>
              </a:defRPr>
            </a:defPPr>
          </a:lstStyle>
          <a:p xmlns:a="http://schemas.openxmlformats.org/drawingml/2006/main">
            <a:pPr>
              <a:defRPr sz="1200" b="1">
                <a:solidFill>
                  <a:srgbClr val="236D5A"/>
                </a:solidFill>
              </a:defRPr>
            </a:pPr>
            <a:r>
              <a:rPr sz="1200" b="1">
                <a:solidFill>
                  <a:srgbClr val="236D5A"/>
                </a:solidFill>
              </a:rPr>
              <a:t>Audit</a:t>
            </a:r>
          </a:p>
        </p:txBody>
      </p:sp>
      <p:sp>
        <p:nvSpPr>
          <p:cNvPr id="19" name="">
            <a:extLst xmlns:a="http://schemas.openxmlformats.org/drawingml/2006/main">
              <a:ext uri="{FF2B5EF4-FFF2-40B4-BE49-F238E27FC236}">
                <a16:creationId xmlns:a16="http://schemas.microsoft.com/office/drawing/2014/main" id="{934A1158-5BE7-45AA-B79D-E7752DE40CE5}"/>
              </a:ext>
            </a:extLst>
          </p:cNvPr>
          <p:cNvSpPr>
            <a:spLocks xmlns:a="http://schemas.openxmlformats.org/drawingml/2006/main" noGrp="1"/>
          </p:cNvSpPr>
          <p:nvPr/>
        </p:nvSpPr>
        <p:spPr>
          <a:xfrm xmlns:a="http://schemas.openxmlformats.org/drawingml/2006/main">
            <a:off x="2209800" y="45339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manager actions and financial events</a:t>
            </a:r>
          </a:p>
        </p:txBody>
      </p:sp>
      <p:sp>
        <p:nvSpPr>
          <p:cNvPr id="20" name="">
            <a:extLst xmlns:a="http://schemas.openxmlformats.org/drawingml/2006/main">
              <a:ext uri="{FF2B5EF4-FFF2-40B4-BE49-F238E27FC236}">
                <a16:creationId xmlns:a16="http://schemas.microsoft.com/office/drawing/2014/main" id="{0C4A6D99-0DD1-4357-A0DA-439EB38DE1A5}"/>
              </a:ext>
            </a:extLst>
          </p:cNvPr>
          <p:cNvSpPr>
            <a:spLocks xmlns:a="http://schemas.openxmlformats.org/drawingml/2006/main" noGrp="1"/>
          </p:cNvSpPr>
          <p:nvPr/>
        </p:nvSpPr>
        <p:spPr>
          <a:xfrm xmlns:a="http://schemas.openxmlformats.org/drawingml/2006/main">
            <a:off x="6353175" y="2114550"/>
            <a:ext cx="5229225"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E8DDE0"/>
            </a:solidFill>
            <a:prstDash val="solid"/>
          </a:ln>
        </p:spPr>
      </p:sp>
      <p:sp>
        <p:nvSpPr>
          <p:cNvPr id="21" name="">
            <a:extLst xmlns:a="http://schemas.openxmlformats.org/drawingml/2006/main">
              <a:ext uri="{FF2B5EF4-FFF2-40B4-BE49-F238E27FC236}">
                <a16:creationId xmlns:a16="http://schemas.microsoft.com/office/drawing/2014/main" id="{B0615456-8459-4E08-8689-A15933E8DADA}"/>
              </a:ext>
            </a:extLst>
          </p:cNvPr>
          <p:cNvSpPr>
            <a:spLocks xmlns:a="http://schemas.openxmlformats.org/drawingml/2006/main" noGrp="1"/>
          </p:cNvSpPr>
          <p:nvPr/>
        </p:nvSpPr>
        <p:spPr>
          <a:xfrm xmlns:a="http://schemas.openxmlformats.org/drawingml/2006/main">
            <a:off x="6524625" y="2190750"/>
            <a:ext cx="15525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8E123B"/>
                </a:solidFill>
              </a:defRPr>
            </a:defPPr>
          </a:lstStyle>
          <a:p xmlns:a="http://schemas.openxmlformats.org/drawingml/2006/main">
            <a:pPr>
              <a:defRPr sz="1200" b="1">
                <a:solidFill>
                  <a:srgbClr val="8E123B"/>
                </a:solidFill>
              </a:defRPr>
            </a:pPr>
            <a:r>
              <a:rPr sz="1200" b="1">
                <a:solidFill>
                  <a:srgbClr val="8E123B"/>
                </a:solidFill>
              </a:rPr>
              <a:t>Request body</a:t>
            </a:r>
          </a:p>
        </p:txBody>
      </p:sp>
      <p:sp>
        <p:nvSpPr>
          <p:cNvPr id="22" name="">
            <a:extLst xmlns:a="http://schemas.openxmlformats.org/drawingml/2006/main">
              <a:ext uri="{FF2B5EF4-FFF2-40B4-BE49-F238E27FC236}">
                <a16:creationId xmlns:a16="http://schemas.microsoft.com/office/drawing/2014/main" id="{3ADC7E7B-E1AD-4085-81BC-914BACCC2B9B}"/>
              </a:ext>
            </a:extLst>
          </p:cNvPr>
          <p:cNvSpPr>
            <a:spLocks xmlns:a="http://schemas.openxmlformats.org/drawingml/2006/main" noGrp="1"/>
          </p:cNvSpPr>
          <p:nvPr/>
        </p:nvSpPr>
        <p:spPr>
          <a:xfrm xmlns:a="http://schemas.openxmlformats.org/drawingml/2006/main">
            <a:off x="8096250" y="21907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Zod validation + size limit</a:t>
            </a:r>
          </a:p>
        </p:txBody>
      </p:sp>
      <p:sp>
        <p:nvSpPr>
          <p:cNvPr id="23" name="">
            <a:extLst xmlns:a="http://schemas.openxmlformats.org/drawingml/2006/main">
              <a:ext uri="{FF2B5EF4-FFF2-40B4-BE49-F238E27FC236}">
                <a16:creationId xmlns:a16="http://schemas.microsoft.com/office/drawing/2014/main" id="{35F090FC-0DB5-4A47-8BD4-782ECE3291F5}"/>
              </a:ext>
            </a:extLst>
          </p:cNvPr>
          <p:cNvSpPr>
            <a:spLocks xmlns:a="http://schemas.openxmlformats.org/drawingml/2006/main" noGrp="1"/>
          </p:cNvSpPr>
          <p:nvPr/>
        </p:nvSpPr>
        <p:spPr>
          <a:xfrm xmlns:a="http://schemas.openxmlformats.org/drawingml/2006/main">
            <a:off x="6353175" y="2895600"/>
            <a:ext cx="5229225"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E8DDE0"/>
            </a:solidFill>
            <a:prstDash val="solid"/>
          </a:ln>
        </p:spPr>
      </p:sp>
      <p:sp>
        <p:nvSpPr>
          <p:cNvPr id="24" name="">
            <a:extLst xmlns:a="http://schemas.openxmlformats.org/drawingml/2006/main">
              <a:ext uri="{FF2B5EF4-FFF2-40B4-BE49-F238E27FC236}">
                <a16:creationId xmlns:a16="http://schemas.microsoft.com/office/drawing/2014/main" id="{AFD8BE24-623C-49F6-889E-9E9A2FC81DEC}"/>
              </a:ext>
            </a:extLst>
          </p:cNvPr>
          <p:cNvSpPr>
            <a:spLocks xmlns:a="http://schemas.openxmlformats.org/drawingml/2006/main" noGrp="1"/>
          </p:cNvSpPr>
          <p:nvPr/>
        </p:nvSpPr>
        <p:spPr>
          <a:xfrm xmlns:a="http://schemas.openxmlformats.org/drawingml/2006/main">
            <a:off x="6524625" y="2971800"/>
            <a:ext cx="15525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8E123B"/>
                </a:solidFill>
              </a:defRPr>
            </a:defPPr>
          </a:lstStyle>
          <a:p xmlns:a="http://schemas.openxmlformats.org/drawingml/2006/main">
            <a:pPr>
              <a:defRPr sz="1200" b="1">
                <a:solidFill>
                  <a:srgbClr val="8E123B"/>
                </a:solidFill>
              </a:defRPr>
            </a:pPr>
            <a:r>
              <a:rPr sz="1200" b="1">
                <a:solidFill>
                  <a:srgbClr val="8E123B"/>
                </a:solidFill>
              </a:rPr>
              <a:t>Browser origin</a:t>
            </a:r>
          </a:p>
        </p:txBody>
      </p:sp>
      <p:sp>
        <p:nvSpPr>
          <p:cNvPr id="25" name="">
            <a:extLst xmlns:a="http://schemas.openxmlformats.org/drawingml/2006/main">
              <a:ext uri="{FF2B5EF4-FFF2-40B4-BE49-F238E27FC236}">
                <a16:creationId xmlns:a16="http://schemas.microsoft.com/office/drawing/2014/main" id="{8DD724EB-5F9D-4B16-9F86-98A7328C0E4F}"/>
              </a:ext>
            </a:extLst>
          </p:cNvPr>
          <p:cNvSpPr>
            <a:spLocks xmlns:a="http://schemas.openxmlformats.org/drawingml/2006/main" noGrp="1"/>
          </p:cNvSpPr>
          <p:nvPr/>
        </p:nvSpPr>
        <p:spPr>
          <a:xfrm xmlns:a="http://schemas.openxmlformats.org/drawingml/2006/main">
            <a:off x="8096250" y="29718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exact-origin CSRF check</a:t>
            </a:r>
          </a:p>
        </p:txBody>
      </p:sp>
      <p:sp>
        <p:nvSpPr>
          <p:cNvPr id="26" name="">
            <a:extLst xmlns:a="http://schemas.openxmlformats.org/drawingml/2006/main">
              <a:ext uri="{FF2B5EF4-FFF2-40B4-BE49-F238E27FC236}">
                <a16:creationId xmlns:a16="http://schemas.microsoft.com/office/drawing/2014/main" id="{66587413-3C28-4016-9DFC-0FB6BE989B02}"/>
              </a:ext>
            </a:extLst>
          </p:cNvPr>
          <p:cNvSpPr>
            <a:spLocks xmlns:a="http://schemas.openxmlformats.org/drawingml/2006/main" noGrp="1"/>
          </p:cNvSpPr>
          <p:nvPr/>
        </p:nvSpPr>
        <p:spPr>
          <a:xfrm xmlns:a="http://schemas.openxmlformats.org/drawingml/2006/main">
            <a:off x="6353175" y="3676650"/>
            <a:ext cx="5229225"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E8DDE0"/>
            </a:solidFill>
            <a:prstDash val="solid"/>
          </a:ln>
        </p:spPr>
      </p:sp>
      <p:sp>
        <p:nvSpPr>
          <p:cNvPr id="27" name="">
            <a:extLst xmlns:a="http://schemas.openxmlformats.org/drawingml/2006/main">
              <a:ext uri="{FF2B5EF4-FFF2-40B4-BE49-F238E27FC236}">
                <a16:creationId xmlns:a16="http://schemas.microsoft.com/office/drawing/2014/main" id="{EE00CC25-2D1D-4411-99E7-728BE7067C36}"/>
              </a:ext>
            </a:extLst>
          </p:cNvPr>
          <p:cNvSpPr>
            <a:spLocks xmlns:a="http://schemas.openxmlformats.org/drawingml/2006/main" noGrp="1"/>
          </p:cNvSpPr>
          <p:nvPr/>
        </p:nvSpPr>
        <p:spPr>
          <a:xfrm xmlns:a="http://schemas.openxmlformats.org/drawingml/2006/main">
            <a:off x="6524625" y="3752850"/>
            <a:ext cx="15525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8E123B"/>
                </a:solidFill>
              </a:defRPr>
            </a:defPPr>
          </a:lstStyle>
          <a:p xmlns:a="http://schemas.openxmlformats.org/drawingml/2006/main">
            <a:pPr>
              <a:defRPr sz="1200" b="1">
                <a:solidFill>
                  <a:srgbClr val="8E123B"/>
                </a:solidFill>
              </a:defRPr>
            </a:pPr>
            <a:r>
              <a:rPr sz="1200" b="1">
                <a:solidFill>
                  <a:srgbClr val="8E123B"/>
                </a:solidFill>
              </a:rPr>
              <a:t>Payment callback</a:t>
            </a:r>
          </a:p>
        </p:txBody>
      </p:sp>
      <p:sp>
        <p:nvSpPr>
          <p:cNvPr id="28" name="">
            <a:extLst xmlns:a="http://schemas.openxmlformats.org/drawingml/2006/main">
              <a:ext uri="{FF2B5EF4-FFF2-40B4-BE49-F238E27FC236}">
                <a16:creationId xmlns:a16="http://schemas.microsoft.com/office/drawing/2014/main" id="{732593FD-6F82-4D01-BDBB-0D2732AAC44B}"/>
              </a:ext>
            </a:extLst>
          </p:cNvPr>
          <p:cNvSpPr>
            <a:spLocks xmlns:a="http://schemas.openxmlformats.org/drawingml/2006/main" noGrp="1"/>
          </p:cNvSpPr>
          <p:nvPr/>
        </p:nvSpPr>
        <p:spPr>
          <a:xfrm xmlns:a="http://schemas.openxmlformats.org/drawingml/2006/main">
            <a:off x="8096250" y="37528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provider signature validation</a:t>
            </a:r>
          </a:p>
        </p:txBody>
      </p:sp>
      <p:sp>
        <p:nvSpPr>
          <p:cNvPr id="29" name="">
            <a:extLst xmlns:a="http://schemas.openxmlformats.org/drawingml/2006/main">
              <a:ext uri="{FF2B5EF4-FFF2-40B4-BE49-F238E27FC236}">
                <a16:creationId xmlns:a16="http://schemas.microsoft.com/office/drawing/2014/main" id="{293C1262-9D3D-4977-B399-8A61404E5ECF}"/>
              </a:ext>
            </a:extLst>
          </p:cNvPr>
          <p:cNvSpPr>
            <a:spLocks xmlns:a="http://schemas.openxmlformats.org/drawingml/2006/main" noGrp="1"/>
          </p:cNvSpPr>
          <p:nvPr/>
        </p:nvSpPr>
        <p:spPr>
          <a:xfrm xmlns:a="http://schemas.openxmlformats.org/drawingml/2006/main">
            <a:off x="6353175" y="4457700"/>
            <a:ext cx="5229225"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E8DDE0"/>
            </a:solidFill>
            <a:prstDash val="solid"/>
          </a:ln>
        </p:spPr>
      </p:sp>
      <p:sp>
        <p:nvSpPr>
          <p:cNvPr id="30" name="">
            <a:extLst xmlns:a="http://schemas.openxmlformats.org/drawingml/2006/main">
              <a:ext uri="{FF2B5EF4-FFF2-40B4-BE49-F238E27FC236}">
                <a16:creationId xmlns:a16="http://schemas.microsoft.com/office/drawing/2014/main" id="{3938B611-3684-4F6F-A1FE-2226BCCB1C0C}"/>
              </a:ext>
            </a:extLst>
          </p:cNvPr>
          <p:cNvSpPr>
            <a:spLocks xmlns:a="http://schemas.openxmlformats.org/drawingml/2006/main" noGrp="1"/>
          </p:cNvSpPr>
          <p:nvPr/>
        </p:nvSpPr>
        <p:spPr>
          <a:xfrm xmlns:a="http://schemas.openxmlformats.org/drawingml/2006/main">
            <a:off x="6524625" y="4533900"/>
            <a:ext cx="15525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8E123B"/>
                </a:solidFill>
              </a:defRPr>
            </a:defPPr>
          </a:lstStyle>
          <a:p xmlns:a="http://schemas.openxmlformats.org/drawingml/2006/main">
            <a:pPr>
              <a:defRPr sz="1200" b="1">
                <a:solidFill>
                  <a:srgbClr val="8E123B"/>
                </a:solidFill>
              </a:defRPr>
            </a:pPr>
            <a:r>
              <a:rPr sz="1200" b="1">
                <a:solidFill>
                  <a:srgbClr val="8E123B"/>
                </a:solidFill>
              </a:rPr>
              <a:t>Pickup QR</a:t>
            </a:r>
          </a:p>
        </p:txBody>
      </p:sp>
      <p:sp>
        <p:nvSpPr>
          <p:cNvPr id="31" name="">
            <a:extLst xmlns:a="http://schemas.openxmlformats.org/drawingml/2006/main">
              <a:ext uri="{FF2B5EF4-FFF2-40B4-BE49-F238E27FC236}">
                <a16:creationId xmlns:a16="http://schemas.microsoft.com/office/drawing/2014/main" id="{0FE828EB-4821-46BB-98A0-0E30F3838EDE}"/>
              </a:ext>
            </a:extLst>
          </p:cNvPr>
          <p:cNvSpPr>
            <a:spLocks xmlns:a="http://schemas.openxmlformats.org/drawingml/2006/main" noGrp="1"/>
          </p:cNvSpPr>
          <p:nvPr/>
        </p:nvSpPr>
        <p:spPr>
          <a:xfrm xmlns:a="http://schemas.openxmlformats.org/drawingml/2006/main">
            <a:off x="8096250" y="45339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random token hash + scoped lookup</a:t>
            </a:r>
          </a:p>
        </p:txBody>
      </p:sp>
      <p:sp>
        <p:nvSpPr>
          <p:cNvPr id="32" name="">
            <a:extLst xmlns:a="http://schemas.openxmlformats.org/drawingml/2006/main">
              <a:ext uri="{FF2B5EF4-FFF2-40B4-BE49-F238E27FC236}">
                <a16:creationId xmlns:a16="http://schemas.microsoft.com/office/drawing/2014/main" id="{55893D77-1F2D-4702-B642-6EE9F41C0988}"/>
              </a:ext>
            </a:extLst>
          </p:cNvPr>
          <p:cNvSpPr>
            <a:spLocks xmlns:a="http://schemas.openxmlformats.org/drawingml/2006/main" noGrp="1"/>
          </p:cNvSpPr>
          <p:nvPr/>
        </p:nvSpPr>
        <p:spPr>
          <a:xfrm xmlns:a="http://schemas.openxmlformats.org/drawingml/2006/main">
            <a:off x="609600" y="5448300"/>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71656A"/>
                </a:solidFill>
              </a:defRPr>
            </a:defPPr>
          </a:lstStyle>
          <a:p xmlns:a="http://schemas.openxmlformats.org/drawingml/2006/main">
            <a:pPr>
              <a:defRPr sz="1200" b="1">
                <a:solidFill>
                  <a:srgbClr val="71656A"/>
                </a:solidFill>
              </a:defRPr>
            </a:pPr>
            <a:r>
              <a:rPr sz="1200" b="1">
                <a:solidFill>
                  <a:srgbClr val="71656A"/>
                </a:solidFill>
              </a:rPr>
              <a:t>Browser does not connect directly to business tables. RLS and SQL grants limit access; backend code remains responsible for workflow authorization.</a:t>
            </a:r>
          </a:p>
        </p:txBody>
      </p:sp>
    </p:spTree>
    <p:extLst>
      <p:ext uri="{BB962C8B-B14F-4D97-AF65-F5344CB8AC3E}">
        <p14:creationId xmlns:p14="http://schemas.microsoft.com/office/powerpoint/2010/main" val="327306051"/>
      </p:ext>
    </p:extLst>
  </p:cSld>
</p:sld>
</file>

<file path=ppt/slides/slide13.xml><?xml version="1.0" encoding="utf-8"?>
<p:sld xmlns:p="http://schemas.openxmlformats.org/presentationml/2006/main">
  <p:cSld>
    <p:bg>
      <p:bgPr>
        <a:solidFill xmlns:a="http://schemas.openxmlformats.org/drawingml/2006/main">
          <a:srgbClr val="FBF7F4"/>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48AD7EA8-0B2D-4748-9CFC-29E0F41FBE44}"/>
              </a:ext>
            </a:extLst>
          </p:cNvPr>
          <p:cNvSpPr>
            <a:spLocks xmlns:a="http://schemas.openxmlformats.org/drawingml/2006/main" noGrp="1"/>
          </p:cNvSpPr>
          <p:nvPr/>
        </p:nvSpPr>
        <p:spPr>
          <a:xfrm xmlns:a="http://schemas.openxmlformats.org/drawingml/2006/main">
            <a:off x="6096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8E123B"/>
                </a:solidFill>
              </a:defRPr>
            </a:defPPr>
          </a:lstStyle>
          <a:p xmlns:a="http://schemas.openxmlformats.org/drawingml/2006/main">
            <a:pPr>
              <a:defRPr sz="900" b="1">
                <a:solidFill>
                  <a:srgbClr val="8E123B"/>
                </a:solidFill>
              </a:defRPr>
            </a:pPr>
            <a:r>
              <a:rPr sz="900" b="1">
                <a:solidFill>
                  <a:srgbClr val="8E123B"/>
                </a:solidFill>
              </a:rPr>
              <a:t>12 • ALGORITHMS + FAIR USE</a:t>
            </a:r>
          </a:p>
        </p:txBody>
      </p:sp>
      <p:sp>
        <p:nvSpPr>
          <p:cNvPr id="2" name="">
            <a:extLst xmlns:a="http://schemas.openxmlformats.org/drawingml/2006/main">
              <a:ext uri="{FF2B5EF4-FFF2-40B4-BE49-F238E27FC236}">
                <a16:creationId xmlns:a16="http://schemas.microsoft.com/office/drawing/2014/main" id="{D0D96D42-E40A-4D5D-9B61-996B40D4D395}"/>
              </a:ext>
            </a:extLst>
          </p:cNvPr>
          <p:cNvSpPr>
            <a:spLocks xmlns:a="http://schemas.openxmlformats.org/drawingml/2006/main" noGrp="1"/>
          </p:cNvSpPr>
          <p:nvPr/>
        </p:nvSpPr>
        <p:spPr>
          <a:xfrm xmlns:a="http://schemas.openxmlformats.org/drawingml/2006/main">
            <a:off x="609600" y="657225"/>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261D21"/>
                </a:solidFill>
              </a:defRPr>
            </a:defPPr>
          </a:lstStyle>
          <a:p xmlns:a="http://schemas.openxmlformats.org/drawingml/2006/main">
            <a:pPr>
              <a:defRPr sz="2550" b="1">
                <a:solidFill>
                  <a:srgbClr val="261D21"/>
                </a:solidFill>
              </a:defRPr>
            </a:pPr>
            <a:r>
              <a:rPr sz="2550" b="1">
                <a:solidFill>
                  <a:srgbClr val="261D21"/>
                </a:solidFill>
              </a:rPr>
              <a:t>Limits are deterministic policy, not machine learning</a:t>
            </a:r>
          </a:p>
        </p:txBody>
      </p:sp>
      <p:sp>
        <p:nvSpPr>
          <p:cNvPr id="3" name="">
            <a:extLst xmlns:a="http://schemas.openxmlformats.org/drawingml/2006/main">
              <a:ext uri="{FF2B5EF4-FFF2-40B4-BE49-F238E27FC236}">
                <a16:creationId xmlns:a16="http://schemas.microsoft.com/office/drawing/2014/main" id="{7C9E1266-DA96-46B4-BE42-AC80AF46C242}"/>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line">
            <a:avLst/>
          </a:prstGeom>
          <a:noFill xmlns:a="http://schemas.openxmlformats.org/drawingml/2006/main"/>
          <a:ln xmlns:a="http://schemas.openxmlformats.org/drawingml/2006/main" w="9525">
            <a:solidFill>
              <a:srgbClr val="E8DDE0"/>
            </a:solidFill>
            <a:prstDash val="solid"/>
          </a:ln>
        </p:spPr>
      </p:sp>
      <p:sp>
        <p:nvSpPr>
          <p:cNvPr id="4" name="">
            <a:extLst xmlns:a="http://schemas.openxmlformats.org/drawingml/2006/main">
              <a:ext uri="{FF2B5EF4-FFF2-40B4-BE49-F238E27FC236}">
                <a16:creationId xmlns:a16="http://schemas.microsoft.com/office/drawing/2014/main" id="{BB8D21EA-7FFB-45B7-873D-1F22475A9738}"/>
              </a:ext>
            </a:extLst>
          </p:cNvPr>
          <p:cNvSpPr>
            <a:spLocks xmlns:a="http://schemas.openxmlformats.org/drawingml/2006/main" noGrp="1"/>
          </p:cNvSpPr>
          <p:nvPr/>
        </p:nvSpPr>
        <p:spPr>
          <a:xfrm xmlns:a="http://schemas.openxmlformats.org/drawingml/2006/main">
            <a:off x="609600" y="64579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71656A"/>
                </a:solidFill>
              </a:defRPr>
            </a:defPPr>
          </a:lstStyle>
          <a:p xmlns:a="http://schemas.openxmlformats.org/drawingml/2006/main">
            <a:pPr>
              <a:defRPr sz="825" b="1">
                <a:solidFill>
                  <a:srgbClr val="71656A"/>
                </a:solidFill>
              </a:defRPr>
            </a:pPr>
            <a:r>
              <a:rPr sz="825" b="1">
                <a:solidFill>
                  <a:srgbClr val="71656A"/>
                </a:solidFill>
              </a:rPr>
              <a:t>MINT  /  CAMPUS CANTEEN PICKUP</a:t>
            </a:r>
          </a:p>
        </p:txBody>
      </p:sp>
      <p:sp>
        <p:nvSpPr>
          <p:cNvPr id="5" name="">
            <a:extLst xmlns:a="http://schemas.openxmlformats.org/drawingml/2006/main">
              <a:ext uri="{FF2B5EF4-FFF2-40B4-BE49-F238E27FC236}">
                <a16:creationId xmlns:a16="http://schemas.microsoft.com/office/drawing/2014/main" id="{662C8A3F-78BD-41D6-B94E-1F00039A20BF}"/>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71656A"/>
                </a:solidFill>
              </a:defRPr>
            </a:defPPr>
          </a:lstStyle>
          <a:p xmlns:a="http://schemas.openxmlformats.org/drawingml/2006/main">
            <a:pPr algn="r">
              <a:defRPr sz="900" b="1">
                <a:solidFill>
                  <a:srgbClr val="71656A"/>
                </a:solidFill>
              </a:defRPr>
            </a:pPr>
            <a:r>
              <a:rPr sz="900" b="1">
                <a:solidFill>
                  <a:srgbClr val="71656A"/>
                </a:solidFill>
              </a:rPr>
              <a:t>13</a:t>
            </a:r>
          </a:p>
        </p:txBody>
      </p:sp>
      <p:sp>
        <p:nvSpPr>
          <p:cNvPr id="6" name="">
            <a:extLst xmlns:a="http://schemas.openxmlformats.org/drawingml/2006/main">
              <a:ext uri="{FF2B5EF4-FFF2-40B4-BE49-F238E27FC236}">
                <a16:creationId xmlns:a16="http://schemas.microsoft.com/office/drawing/2014/main" id="{EA554E13-BF76-40FD-A73A-944386D52120}"/>
              </a:ext>
            </a:extLst>
          </p:cNvPr>
          <p:cNvSpPr>
            <a:spLocks xmlns:a="http://schemas.openxmlformats.org/drawingml/2006/main" noGrp="1"/>
          </p:cNvSpPr>
          <p:nvPr/>
        </p:nvSpPr>
        <p:spPr>
          <a:xfrm xmlns:a="http://schemas.openxmlformats.org/drawingml/2006/main">
            <a:off x="609600" y="1657350"/>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71656A"/>
                </a:solidFill>
              </a:defRPr>
            </a:defPPr>
          </a:lstStyle>
          <a:p xmlns:a="http://schemas.openxmlformats.org/drawingml/2006/main">
            <a:pPr>
              <a:defRPr sz="975" b="1">
                <a:solidFill>
                  <a:srgbClr val="71656A"/>
                </a:solidFill>
              </a:defRPr>
            </a:pPr>
            <a:r>
              <a:rPr sz="975" b="1">
                <a:solidFill>
                  <a:srgbClr val="71656A"/>
                </a:solidFill>
              </a:rPr>
              <a:t>Tier</a:t>
            </a:r>
          </a:p>
        </p:txBody>
      </p:sp>
      <p:sp>
        <p:nvSpPr>
          <p:cNvPr id="7" name="">
            <a:extLst xmlns:a="http://schemas.openxmlformats.org/drawingml/2006/main">
              <a:ext uri="{FF2B5EF4-FFF2-40B4-BE49-F238E27FC236}">
                <a16:creationId xmlns:a16="http://schemas.microsoft.com/office/drawing/2014/main" id="{1D316480-BA3A-47C5-A4CE-39AF5778AC1C}"/>
              </a:ext>
            </a:extLst>
          </p:cNvPr>
          <p:cNvSpPr>
            <a:spLocks xmlns:a="http://schemas.openxmlformats.org/drawingml/2006/main" noGrp="1"/>
          </p:cNvSpPr>
          <p:nvPr/>
        </p:nvSpPr>
        <p:spPr>
          <a:xfrm xmlns:a="http://schemas.openxmlformats.org/drawingml/2006/main">
            <a:off x="3276600" y="165735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71656A"/>
                </a:solidFill>
              </a:defRPr>
            </a:defPPr>
          </a:lstStyle>
          <a:p xmlns:a="http://schemas.openxmlformats.org/drawingml/2006/main">
            <a:pPr>
              <a:defRPr sz="975" b="1">
                <a:solidFill>
                  <a:srgbClr val="71656A"/>
                </a:solidFill>
              </a:defRPr>
            </a:pPr>
            <a:r>
              <a:rPr sz="975" b="1">
                <a:solidFill>
                  <a:srgbClr val="71656A"/>
                </a:solidFill>
              </a:rPr>
              <a:t>Active orders</a:t>
            </a:r>
          </a:p>
        </p:txBody>
      </p:sp>
      <p:sp>
        <p:nvSpPr>
          <p:cNvPr id="8" name="">
            <a:extLst xmlns:a="http://schemas.openxmlformats.org/drawingml/2006/main">
              <a:ext uri="{FF2B5EF4-FFF2-40B4-BE49-F238E27FC236}">
                <a16:creationId xmlns:a16="http://schemas.microsoft.com/office/drawing/2014/main" id="{D9C61A38-8148-43C8-A1C1-F5199B4D081A}"/>
              </a:ext>
            </a:extLst>
          </p:cNvPr>
          <p:cNvSpPr>
            <a:spLocks xmlns:a="http://schemas.openxmlformats.org/drawingml/2006/main" noGrp="1"/>
          </p:cNvSpPr>
          <p:nvPr/>
        </p:nvSpPr>
        <p:spPr>
          <a:xfrm xmlns:a="http://schemas.openxmlformats.org/drawingml/2006/main">
            <a:off x="6038850" y="165735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71656A"/>
                </a:solidFill>
              </a:defRPr>
            </a:defPPr>
          </a:lstStyle>
          <a:p xmlns:a="http://schemas.openxmlformats.org/drawingml/2006/main">
            <a:pPr>
              <a:defRPr sz="975" b="1">
                <a:solidFill>
                  <a:srgbClr val="71656A"/>
                </a:solidFill>
              </a:defRPr>
            </a:pPr>
            <a:r>
              <a:rPr sz="975" b="1">
                <a:solidFill>
                  <a:srgbClr val="71656A"/>
                </a:solidFill>
              </a:rPr>
              <a:t>Per order</a:t>
            </a:r>
          </a:p>
        </p:txBody>
      </p:sp>
      <p:sp>
        <p:nvSpPr>
          <p:cNvPr id="9" name="">
            <a:extLst xmlns:a="http://schemas.openxmlformats.org/drawingml/2006/main">
              <a:ext uri="{FF2B5EF4-FFF2-40B4-BE49-F238E27FC236}">
                <a16:creationId xmlns:a16="http://schemas.microsoft.com/office/drawing/2014/main" id="{B3DE3035-E624-4DA6-96FD-326879C2CC3E}"/>
              </a:ext>
            </a:extLst>
          </p:cNvPr>
          <p:cNvSpPr>
            <a:spLocks xmlns:a="http://schemas.openxmlformats.org/drawingml/2006/main" noGrp="1"/>
          </p:cNvSpPr>
          <p:nvPr/>
        </p:nvSpPr>
        <p:spPr>
          <a:xfrm xmlns:a="http://schemas.openxmlformats.org/drawingml/2006/main">
            <a:off x="8572500" y="1657350"/>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71656A"/>
                </a:solidFill>
              </a:defRPr>
            </a:defPPr>
          </a:lstStyle>
          <a:p xmlns:a="http://schemas.openxmlformats.org/drawingml/2006/main">
            <a:pPr>
              <a:defRPr sz="975" b="1">
                <a:solidFill>
                  <a:srgbClr val="71656A"/>
                </a:solidFill>
              </a:defRPr>
            </a:pPr>
            <a:r>
              <a:rPr sz="975" b="1">
                <a:solidFill>
                  <a:srgbClr val="71656A"/>
                </a:solidFill>
              </a:rPr>
              <a:t>Outstanding portions</a:t>
            </a:r>
          </a:p>
        </p:txBody>
      </p:sp>
      <p:sp>
        <p:nvSpPr>
          <p:cNvPr id="10" name="">
            <a:extLst xmlns:a="http://schemas.openxmlformats.org/drawingml/2006/main">
              <a:ext uri="{FF2B5EF4-FFF2-40B4-BE49-F238E27FC236}">
                <a16:creationId xmlns:a16="http://schemas.microsoft.com/office/drawing/2014/main" id="{7A67CE9D-78DE-4472-9247-52D46EC3D16B}"/>
              </a:ext>
            </a:extLst>
          </p:cNvPr>
          <p:cNvSpPr>
            <a:spLocks xmlns:a="http://schemas.openxmlformats.org/drawingml/2006/main" noGrp="1"/>
          </p:cNvSpPr>
          <p:nvPr/>
        </p:nvSpPr>
        <p:spPr>
          <a:xfrm xmlns:a="http://schemas.openxmlformats.org/drawingml/2006/main">
            <a:off x="609600" y="2009775"/>
            <a:ext cx="10972800" cy="466725"/>
          </a:xfrm>
          <a:prstGeom xmlns:a="http://schemas.openxmlformats.org/drawingml/2006/main" prst="roundRect">
            <a:avLst>
              <a:gd name="adj" fmla="val 16327"/>
            </a:avLst>
          </a:prstGeom>
          <a:solidFill xmlns:a="http://schemas.openxmlformats.org/drawingml/2006/main">
            <a:srgbClr val="FFFFFF"/>
          </a:solidFill>
          <a:ln xmlns:a="http://schemas.openxmlformats.org/drawingml/2006/main" w="9525">
            <a:solidFill>
              <a:srgbClr val="E8DDE0"/>
            </a:solidFill>
            <a:prstDash val="solid"/>
          </a:ln>
        </p:spPr>
      </p:sp>
      <p:sp>
        <p:nvSpPr>
          <p:cNvPr id="11" name="">
            <a:extLst xmlns:a="http://schemas.openxmlformats.org/drawingml/2006/main">
              <a:ext uri="{FF2B5EF4-FFF2-40B4-BE49-F238E27FC236}">
                <a16:creationId xmlns:a16="http://schemas.microsoft.com/office/drawing/2014/main" id="{0796F4A8-2DB2-4484-B46C-6C923575D0C9}"/>
              </a:ext>
            </a:extLst>
          </p:cNvPr>
          <p:cNvSpPr>
            <a:spLocks xmlns:a="http://schemas.openxmlformats.org/drawingml/2006/main" noGrp="1"/>
          </p:cNvSpPr>
          <p:nvPr/>
        </p:nvSpPr>
        <p:spPr>
          <a:xfrm xmlns:a="http://schemas.openxmlformats.org/drawingml/2006/main">
            <a:off x="781050" y="2047875"/>
            <a:ext cx="2143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261D21"/>
                </a:solidFill>
              </a:defRPr>
            </a:defPPr>
          </a:lstStyle>
          <a:p xmlns:a="http://schemas.openxmlformats.org/drawingml/2006/main">
            <a:pPr>
              <a:defRPr sz="1275" b="1">
                <a:solidFill>
                  <a:srgbClr val="261D21"/>
                </a:solidFill>
              </a:defRPr>
            </a:pPr>
            <a:r>
              <a:rPr sz="1275" b="1">
                <a:solidFill>
                  <a:srgbClr val="261D21"/>
                </a:solidFill>
              </a:rPr>
              <a:t>Restricted</a:t>
            </a:r>
          </a:p>
        </p:txBody>
      </p:sp>
      <p:sp>
        <p:nvSpPr>
          <p:cNvPr id="12" name="">
            <a:extLst xmlns:a="http://schemas.openxmlformats.org/drawingml/2006/main">
              <a:ext uri="{FF2B5EF4-FFF2-40B4-BE49-F238E27FC236}">
                <a16:creationId xmlns:a16="http://schemas.microsoft.com/office/drawing/2014/main" id="{FEEDA8FB-9423-4B47-AFD5-6BD99D5FB451}"/>
              </a:ext>
            </a:extLst>
          </p:cNvPr>
          <p:cNvSpPr>
            <a:spLocks xmlns:a="http://schemas.openxmlformats.org/drawingml/2006/main" noGrp="1"/>
          </p:cNvSpPr>
          <p:nvPr/>
        </p:nvSpPr>
        <p:spPr>
          <a:xfrm xmlns:a="http://schemas.openxmlformats.org/drawingml/2006/main">
            <a:off x="3276600" y="2047875"/>
            <a:ext cx="2095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1 active</a:t>
            </a:r>
          </a:p>
        </p:txBody>
      </p:sp>
      <p:sp>
        <p:nvSpPr>
          <p:cNvPr id="13" name="">
            <a:extLst xmlns:a="http://schemas.openxmlformats.org/drawingml/2006/main">
              <a:ext uri="{FF2B5EF4-FFF2-40B4-BE49-F238E27FC236}">
                <a16:creationId xmlns:a16="http://schemas.microsoft.com/office/drawing/2014/main" id="{200E6946-828A-46B9-A5A3-9107B7FD97BC}"/>
              </a:ext>
            </a:extLst>
          </p:cNvPr>
          <p:cNvSpPr>
            <a:spLocks xmlns:a="http://schemas.openxmlformats.org/drawingml/2006/main" noGrp="1"/>
          </p:cNvSpPr>
          <p:nvPr/>
        </p:nvSpPr>
        <p:spPr>
          <a:xfrm xmlns:a="http://schemas.openxmlformats.org/drawingml/2006/main">
            <a:off x="6038850" y="2047875"/>
            <a:ext cx="2095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4 / order</a:t>
            </a:r>
          </a:p>
        </p:txBody>
      </p:sp>
      <p:sp>
        <p:nvSpPr>
          <p:cNvPr id="14" name="">
            <a:extLst xmlns:a="http://schemas.openxmlformats.org/drawingml/2006/main">
              <a:ext uri="{FF2B5EF4-FFF2-40B4-BE49-F238E27FC236}">
                <a16:creationId xmlns:a16="http://schemas.microsoft.com/office/drawing/2014/main" id="{BA970DDA-5253-42BA-A684-5B11CD3451C6}"/>
              </a:ext>
            </a:extLst>
          </p:cNvPr>
          <p:cNvSpPr>
            <a:spLocks xmlns:a="http://schemas.openxmlformats.org/drawingml/2006/main" noGrp="1"/>
          </p:cNvSpPr>
          <p:nvPr/>
        </p:nvSpPr>
        <p:spPr>
          <a:xfrm xmlns:a="http://schemas.openxmlformats.org/drawingml/2006/main">
            <a:off x="8572500" y="2047875"/>
            <a:ext cx="257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4 outstanding</a:t>
            </a:r>
          </a:p>
        </p:txBody>
      </p:sp>
      <p:sp>
        <p:nvSpPr>
          <p:cNvPr id="15" name="">
            <a:extLst xmlns:a="http://schemas.openxmlformats.org/drawingml/2006/main">
              <a:ext uri="{FF2B5EF4-FFF2-40B4-BE49-F238E27FC236}">
                <a16:creationId xmlns:a16="http://schemas.microsoft.com/office/drawing/2014/main" id="{4ADF6EF3-5D9A-49F5-A524-530FC3180979}"/>
              </a:ext>
            </a:extLst>
          </p:cNvPr>
          <p:cNvSpPr>
            <a:spLocks xmlns:a="http://schemas.openxmlformats.org/drawingml/2006/main" noGrp="1"/>
          </p:cNvSpPr>
          <p:nvPr/>
        </p:nvSpPr>
        <p:spPr>
          <a:xfrm xmlns:a="http://schemas.openxmlformats.org/drawingml/2006/main">
            <a:off x="609600" y="2590800"/>
            <a:ext cx="10972800" cy="466725"/>
          </a:xfrm>
          <a:prstGeom xmlns:a="http://schemas.openxmlformats.org/drawingml/2006/main" prst="roundRect">
            <a:avLst>
              <a:gd name="adj" fmla="val 16327"/>
            </a:avLst>
          </a:prstGeom>
          <a:solidFill xmlns:a="http://schemas.openxmlformats.org/drawingml/2006/main">
            <a:srgbClr val="FFFFFF"/>
          </a:solidFill>
          <a:ln xmlns:a="http://schemas.openxmlformats.org/drawingml/2006/main" w="9525">
            <a:solidFill>
              <a:srgbClr val="E8DDE0"/>
            </a:solidFill>
            <a:prstDash val="solid"/>
          </a:ln>
        </p:spPr>
      </p:sp>
      <p:sp>
        <p:nvSpPr>
          <p:cNvPr id="16" name="">
            <a:extLst xmlns:a="http://schemas.openxmlformats.org/drawingml/2006/main">
              <a:ext uri="{FF2B5EF4-FFF2-40B4-BE49-F238E27FC236}">
                <a16:creationId xmlns:a16="http://schemas.microsoft.com/office/drawing/2014/main" id="{38DD2361-42C0-48CE-AD2B-8854BAC75D3A}"/>
              </a:ext>
            </a:extLst>
          </p:cNvPr>
          <p:cNvSpPr>
            <a:spLocks xmlns:a="http://schemas.openxmlformats.org/drawingml/2006/main" noGrp="1"/>
          </p:cNvSpPr>
          <p:nvPr/>
        </p:nvSpPr>
        <p:spPr>
          <a:xfrm xmlns:a="http://schemas.openxmlformats.org/drawingml/2006/main">
            <a:off x="781050" y="2628900"/>
            <a:ext cx="2143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261D21"/>
                </a:solidFill>
              </a:defRPr>
            </a:defPPr>
          </a:lstStyle>
          <a:p xmlns:a="http://schemas.openxmlformats.org/drawingml/2006/main">
            <a:pPr>
              <a:defRPr sz="1275" b="1">
                <a:solidFill>
                  <a:srgbClr val="261D21"/>
                </a:solidFill>
              </a:defRPr>
            </a:pPr>
            <a:r>
              <a:rPr sz="1275" b="1">
                <a:solidFill>
                  <a:srgbClr val="261D21"/>
                </a:solidFill>
              </a:rPr>
              <a:t>Standard</a:t>
            </a:r>
          </a:p>
        </p:txBody>
      </p:sp>
      <p:sp>
        <p:nvSpPr>
          <p:cNvPr id="17" name="">
            <a:extLst xmlns:a="http://schemas.openxmlformats.org/drawingml/2006/main">
              <a:ext uri="{FF2B5EF4-FFF2-40B4-BE49-F238E27FC236}">
                <a16:creationId xmlns:a16="http://schemas.microsoft.com/office/drawing/2014/main" id="{27FEA6E0-A3B6-49C3-9CA4-CD2B4EEC9920}"/>
              </a:ext>
            </a:extLst>
          </p:cNvPr>
          <p:cNvSpPr>
            <a:spLocks xmlns:a="http://schemas.openxmlformats.org/drawingml/2006/main" noGrp="1"/>
          </p:cNvSpPr>
          <p:nvPr/>
        </p:nvSpPr>
        <p:spPr>
          <a:xfrm xmlns:a="http://schemas.openxmlformats.org/drawingml/2006/main">
            <a:off x="3276600" y="2628900"/>
            <a:ext cx="2095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2 active</a:t>
            </a:r>
          </a:p>
        </p:txBody>
      </p:sp>
      <p:sp>
        <p:nvSpPr>
          <p:cNvPr id="18" name="">
            <a:extLst xmlns:a="http://schemas.openxmlformats.org/drawingml/2006/main">
              <a:ext uri="{FF2B5EF4-FFF2-40B4-BE49-F238E27FC236}">
                <a16:creationId xmlns:a16="http://schemas.microsoft.com/office/drawing/2014/main" id="{3D29964B-4CF5-44EB-89A1-D36864721850}"/>
              </a:ext>
            </a:extLst>
          </p:cNvPr>
          <p:cNvSpPr>
            <a:spLocks xmlns:a="http://schemas.openxmlformats.org/drawingml/2006/main" noGrp="1"/>
          </p:cNvSpPr>
          <p:nvPr/>
        </p:nvSpPr>
        <p:spPr>
          <a:xfrm xmlns:a="http://schemas.openxmlformats.org/drawingml/2006/main">
            <a:off x="6038850" y="2628900"/>
            <a:ext cx="2095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6 / order</a:t>
            </a:r>
          </a:p>
        </p:txBody>
      </p:sp>
      <p:sp>
        <p:nvSpPr>
          <p:cNvPr id="19" name="">
            <a:extLst xmlns:a="http://schemas.openxmlformats.org/drawingml/2006/main">
              <a:ext uri="{FF2B5EF4-FFF2-40B4-BE49-F238E27FC236}">
                <a16:creationId xmlns:a16="http://schemas.microsoft.com/office/drawing/2014/main" id="{A681A44A-C712-4293-88FA-DE3694C1F692}"/>
              </a:ext>
            </a:extLst>
          </p:cNvPr>
          <p:cNvSpPr>
            <a:spLocks xmlns:a="http://schemas.openxmlformats.org/drawingml/2006/main" noGrp="1"/>
          </p:cNvSpPr>
          <p:nvPr/>
        </p:nvSpPr>
        <p:spPr>
          <a:xfrm xmlns:a="http://schemas.openxmlformats.org/drawingml/2006/main">
            <a:off x="8572500" y="2628900"/>
            <a:ext cx="257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10 outstanding</a:t>
            </a:r>
          </a:p>
        </p:txBody>
      </p:sp>
      <p:sp>
        <p:nvSpPr>
          <p:cNvPr id="20" name="">
            <a:extLst xmlns:a="http://schemas.openxmlformats.org/drawingml/2006/main">
              <a:ext uri="{FF2B5EF4-FFF2-40B4-BE49-F238E27FC236}">
                <a16:creationId xmlns:a16="http://schemas.microsoft.com/office/drawing/2014/main" id="{FD5B09AC-1413-46C8-BD3C-234FD2ACF81D}"/>
              </a:ext>
            </a:extLst>
          </p:cNvPr>
          <p:cNvSpPr>
            <a:spLocks xmlns:a="http://schemas.openxmlformats.org/drawingml/2006/main" noGrp="1"/>
          </p:cNvSpPr>
          <p:nvPr/>
        </p:nvSpPr>
        <p:spPr>
          <a:xfrm xmlns:a="http://schemas.openxmlformats.org/drawingml/2006/main">
            <a:off x="609600" y="3171825"/>
            <a:ext cx="10972800" cy="466725"/>
          </a:xfrm>
          <a:prstGeom xmlns:a="http://schemas.openxmlformats.org/drawingml/2006/main" prst="roundRect">
            <a:avLst>
              <a:gd name="adj" fmla="val 16327"/>
            </a:avLst>
          </a:prstGeom>
          <a:solidFill xmlns:a="http://schemas.openxmlformats.org/drawingml/2006/main">
            <a:srgbClr val="DCEDE7"/>
          </a:solidFill>
          <a:ln xmlns:a="http://schemas.openxmlformats.org/drawingml/2006/main" w="9525">
            <a:solidFill>
              <a:srgbClr val="E8DDE0"/>
            </a:solidFill>
            <a:prstDash val="solid"/>
          </a:ln>
        </p:spPr>
      </p:sp>
      <p:sp>
        <p:nvSpPr>
          <p:cNvPr id="21" name="">
            <a:extLst xmlns:a="http://schemas.openxmlformats.org/drawingml/2006/main">
              <a:ext uri="{FF2B5EF4-FFF2-40B4-BE49-F238E27FC236}">
                <a16:creationId xmlns:a16="http://schemas.microsoft.com/office/drawing/2014/main" id="{9E7D87ED-3BB3-4E81-8D05-B0A57D140FB8}"/>
              </a:ext>
            </a:extLst>
          </p:cNvPr>
          <p:cNvSpPr>
            <a:spLocks xmlns:a="http://schemas.openxmlformats.org/drawingml/2006/main" noGrp="1"/>
          </p:cNvSpPr>
          <p:nvPr/>
        </p:nvSpPr>
        <p:spPr>
          <a:xfrm xmlns:a="http://schemas.openxmlformats.org/drawingml/2006/main">
            <a:off x="781050" y="3209925"/>
            <a:ext cx="2143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261D21"/>
                </a:solidFill>
              </a:defRPr>
            </a:defPPr>
          </a:lstStyle>
          <a:p xmlns:a="http://schemas.openxmlformats.org/drawingml/2006/main">
            <a:pPr>
              <a:defRPr sz="1275" b="1">
                <a:solidFill>
                  <a:srgbClr val="261D21"/>
                </a:solidFill>
              </a:defRPr>
            </a:pPr>
            <a:r>
              <a:rPr sz="1275" b="1">
                <a:solidFill>
                  <a:srgbClr val="261D21"/>
                </a:solidFill>
              </a:rPr>
              <a:t>Reliable</a:t>
            </a:r>
          </a:p>
        </p:txBody>
      </p:sp>
      <p:sp>
        <p:nvSpPr>
          <p:cNvPr id="22" name="">
            <a:extLst xmlns:a="http://schemas.openxmlformats.org/drawingml/2006/main">
              <a:ext uri="{FF2B5EF4-FFF2-40B4-BE49-F238E27FC236}">
                <a16:creationId xmlns:a16="http://schemas.microsoft.com/office/drawing/2014/main" id="{29BAC5EB-9333-430B-9C85-832E3E385BA8}"/>
              </a:ext>
            </a:extLst>
          </p:cNvPr>
          <p:cNvSpPr>
            <a:spLocks xmlns:a="http://schemas.openxmlformats.org/drawingml/2006/main" noGrp="1"/>
          </p:cNvSpPr>
          <p:nvPr/>
        </p:nvSpPr>
        <p:spPr>
          <a:xfrm xmlns:a="http://schemas.openxmlformats.org/drawingml/2006/main">
            <a:off x="3276600" y="3209925"/>
            <a:ext cx="2095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2 active</a:t>
            </a:r>
          </a:p>
        </p:txBody>
      </p:sp>
      <p:sp>
        <p:nvSpPr>
          <p:cNvPr id="23" name="">
            <a:extLst xmlns:a="http://schemas.openxmlformats.org/drawingml/2006/main">
              <a:ext uri="{FF2B5EF4-FFF2-40B4-BE49-F238E27FC236}">
                <a16:creationId xmlns:a16="http://schemas.microsoft.com/office/drawing/2014/main" id="{4FAA6B18-E35F-420E-933B-C4AFD28C25D3}"/>
              </a:ext>
            </a:extLst>
          </p:cNvPr>
          <p:cNvSpPr>
            <a:spLocks xmlns:a="http://schemas.openxmlformats.org/drawingml/2006/main" noGrp="1"/>
          </p:cNvSpPr>
          <p:nvPr/>
        </p:nvSpPr>
        <p:spPr>
          <a:xfrm xmlns:a="http://schemas.openxmlformats.org/drawingml/2006/main">
            <a:off x="6038850" y="3209925"/>
            <a:ext cx="2095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8 / order</a:t>
            </a:r>
          </a:p>
        </p:txBody>
      </p:sp>
      <p:sp>
        <p:nvSpPr>
          <p:cNvPr id="24" name="">
            <a:extLst xmlns:a="http://schemas.openxmlformats.org/drawingml/2006/main">
              <a:ext uri="{FF2B5EF4-FFF2-40B4-BE49-F238E27FC236}">
                <a16:creationId xmlns:a16="http://schemas.microsoft.com/office/drawing/2014/main" id="{E14003FA-C449-4305-8A2B-D5711E6E5DD3}"/>
              </a:ext>
            </a:extLst>
          </p:cNvPr>
          <p:cNvSpPr>
            <a:spLocks xmlns:a="http://schemas.openxmlformats.org/drawingml/2006/main" noGrp="1"/>
          </p:cNvSpPr>
          <p:nvPr/>
        </p:nvSpPr>
        <p:spPr>
          <a:xfrm xmlns:a="http://schemas.openxmlformats.org/drawingml/2006/main">
            <a:off x="8572500" y="3209925"/>
            <a:ext cx="257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14 outstanding</a:t>
            </a:r>
          </a:p>
        </p:txBody>
      </p:sp>
      <p:sp>
        <p:nvSpPr>
          <p:cNvPr id="25" name="">
            <a:extLst xmlns:a="http://schemas.openxmlformats.org/drawingml/2006/main">
              <a:ext uri="{FF2B5EF4-FFF2-40B4-BE49-F238E27FC236}">
                <a16:creationId xmlns:a16="http://schemas.microsoft.com/office/drawing/2014/main" id="{F70D4585-D35D-481D-9633-F3CFF32FF979}"/>
              </a:ext>
            </a:extLst>
          </p:cNvPr>
          <p:cNvSpPr>
            <a:spLocks xmlns:a="http://schemas.openxmlformats.org/drawingml/2006/main" noGrp="1"/>
          </p:cNvSpPr>
          <p:nvPr/>
        </p:nvSpPr>
        <p:spPr>
          <a:xfrm xmlns:a="http://schemas.openxmlformats.org/drawingml/2006/main">
            <a:off x="609600" y="3752850"/>
            <a:ext cx="10972800" cy="466725"/>
          </a:xfrm>
          <a:prstGeom xmlns:a="http://schemas.openxmlformats.org/drawingml/2006/main" prst="roundRect">
            <a:avLst>
              <a:gd name="adj" fmla="val 16327"/>
            </a:avLst>
          </a:prstGeom>
          <a:solidFill xmlns:a="http://schemas.openxmlformats.org/drawingml/2006/main">
            <a:srgbClr val="FFFFFF"/>
          </a:solidFill>
          <a:ln xmlns:a="http://schemas.openxmlformats.org/drawingml/2006/main" w="9525">
            <a:solidFill>
              <a:srgbClr val="E8DDE0"/>
            </a:solidFill>
            <a:prstDash val="solid"/>
          </a:ln>
        </p:spPr>
      </p:sp>
      <p:sp>
        <p:nvSpPr>
          <p:cNvPr id="26" name="">
            <a:extLst xmlns:a="http://schemas.openxmlformats.org/drawingml/2006/main">
              <a:ext uri="{FF2B5EF4-FFF2-40B4-BE49-F238E27FC236}">
                <a16:creationId xmlns:a16="http://schemas.microsoft.com/office/drawing/2014/main" id="{F64C809B-9C37-4E93-BB59-FDEA137D7567}"/>
              </a:ext>
            </a:extLst>
          </p:cNvPr>
          <p:cNvSpPr>
            <a:spLocks xmlns:a="http://schemas.openxmlformats.org/drawingml/2006/main" noGrp="1"/>
          </p:cNvSpPr>
          <p:nvPr/>
        </p:nvSpPr>
        <p:spPr>
          <a:xfrm xmlns:a="http://schemas.openxmlformats.org/drawingml/2006/main">
            <a:off x="781050" y="3790950"/>
            <a:ext cx="2143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261D21"/>
                </a:solidFill>
              </a:defRPr>
            </a:defPPr>
          </a:lstStyle>
          <a:p xmlns:a="http://schemas.openxmlformats.org/drawingml/2006/main">
            <a:pPr>
              <a:defRPr sz="1275" b="1">
                <a:solidFill>
                  <a:srgbClr val="261D21"/>
                </a:solidFill>
              </a:defRPr>
            </a:pPr>
            <a:r>
              <a:rPr sz="1275" b="1">
                <a:solidFill>
                  <a:srgbClr val="261D21"/>
                </a:solidFill>
              </a:rPr>
              <a:t>Established</a:t>
            </a:r>
          </a:p>
        </p:txBody>
      </p:sp>
      <p:sp>
        <p:nvSpPr>
          <p:cNvPr id="27" name="">
            <a:extLst xmlns:a="http://schemas.openxmlformats.org/drawingml/2006/main">
              <a:ext uri="{FF2B5EF4-FFF2-40B4-BE49-F238E27FC236}">
                <a16:creationId xmlns:a16="http://schemas.microsoft.com/office/drawing/2014/main" id="{7674D5F9-9D0F-4650-9351-006E7536A3BA}"/>
              </a:ext>
            </a:extLst>
          </p:cNvPr>
          <p:cNvSpPr>
            <a:spLocks xmlns:a="http://schemas.openxmlformats.org/drawingml/2006/main" noGrp="1"/>
          </p:cNvSpPr>
          <p:nvPr/>
        </p:nvSpPr>
        <p:spPr>
          <a:xfrm xmlns:a="http://schemas.openxmlformats.org/drawingml/2006/main">
            <a:off x="3276600" y="3790950"/>
            <a:ext cx="2095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3 active</a:t>
            </a:r>
          </a:p>
        </p:txBody>
      </p:sp>
      <p:sp>
        <p:nvSpPr>
          <p:cNvPr id="28" name="">
            <a:extLst xmlns:a="http://schemas.openxmlformats.org/drawingml/2006/main">
              <a:ext uri="{FF2B5EF4-FFF2-40B4-BE49-F238E27FC236}">
                <a16:creationId xmlns:a16="http://schemas.microsoft.com/office/drawing/2014/main" id="{A5155B9D-044D-4C97-9F08-5F85C8A429DD}"/>
              </a:ext>
            </a:extLst>
          </p:cNvPr>
          <p:cNvSpPr>
            <a:spLocks xmlns:a="http://schemas.openxmlformats.org/drawingml/2006/main" noGrp="1"/>
          </p:cNvSpPr>
          <p:nvPr/>
        </p:nvSpPr>
        <p:spPr>
          <a:xfrm xmlns:a="http://schemas.openxmlformats.org/drawingml/2006/main">
            <a:off x="6038850" y="3790950"/>
            <a:ext cx="2095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10 / order</a:t>
            </a:r>
          </a:p>
        </p:txBody>
      </p:sp>
      <p:sp>
        <p:nvSpPr>
          <p:cNvPr id="29" name="">
            <a:extLst xmlns:a="http://schemas.openxmlformats.org/drawingml/2006/main">
              <a:ext uri="{FF2B5EF4-FFF2-40B4-BE49-F238E27FC236}">
                <a16:creationId xmlns:a16="http://schemas.microsoft.com/office/drawing/2014/main" id="{264DD916-8462-481D-8C29-7C85D57C5CE1}"/>
              </a:ext>
            </a:extLst>
          </p:cNvPr>
          <p:cNvSpPr>
            <a:spLocks xmlns:a="http://schemas.openxmlformats.org/drawingml/2006/main" noGrp="1"/>
          </p:cNvSpPr>
          <p:nvPr/>
        </p:nvSpPr>
        <p:spPr>
          <a:xfrm xmlns:a="http://schemas.openxmlformats.org/drawingml/2006/main">
            <a:off x="8572500" y="3790950"/>
            <a:ext cx="257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61D21"/>
                </a:solidFill>
              </a:defRPr>
            </a:defPPr>
          </a:lstStyle>
          <a:p xmlns:a="http://schemas.openxmlformats.org/drawingml/2006/main">
            <a:pPr>
              <a:defRPr sz="1200" b="0">
                <a:solidFill>
                  <a:srgbClr val="261D21"/>
                </a:solidFill>
              </a:defRPr>
            </a:pPr>
            <a:r>
              <a:rPr sz="1200" b="0">
                <a:solidFill>
                  <a:srgbClr val="261D21"/>
                </a:solidFill>
              </a:rPr>
              <a:t>18 outstanding</a:t>
            </a:r>
          </a:p>
        </p:txBody>
      </p:sp>
      <p:sp>
        <p:nvSpPr>
          <p:cNvPr id="30" name="">
            <a:extLst xmlns:a="http://schemas.openxmlformats.org/drawingml/2006/main">
              <a:ext uri="{FF2B5EF4-FFF2-40B4-BE49-F238E27FC236}">
                <a16:creationId xmlns:a16="http://schemas.microsoft.com/office/drawing/2014/main" id="{F604BDE0-6A4E-4638-B4BD-E987B120DDB1}"/>
              </a:ext>
            </a:extLst>
          </p:cNvPr>
          <p:cNvSpPr>
            <a:spLocks xmlns:a="http://schemas.openxmlformats.org/drawingml/2006/main" noGrp="1"/>
          </p:cNvSpPr>
          <p:nvPr/>
        </p:nvSpPr>
        <p:spPr>
          <a:xfrm xmlns:a="http://schemas.openxmlformats.org/drawingml/2006/main">
            <a:off x="609600" y="4733925"/>
            <a:ext cx="66675" cy="438150"/>
          </a:xfrm>
          <a:prstGeom xmlns:a="http://schemas.openxmlformats.org/drawingml/2006/main" prst="roundRect">
            <a:avLst>
              <a:gd name="adj" fmla="val 50000"/>
            </a:avLst>
          </a:prstGeom>
          <a:solidFill xmlns:a="http://schemas.openxmlformats.org/drawingml/2006/main">
            <a:srgbClr val="8E123B"/>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CE834656-7419-4C20-9421-0FF9736B7162}"/>
              </a:ext>
            </a:extLst>
          </p:cNvPr>
          <p:cNvSpPr>
            <a:spLocks xmlns:a="http://schemas.openxmlformats.org/drawingml/2006/main" noGrp="1"/>
          </p:cNvSpPr>
          <p:nvPr/>
        </p:nvSpPr>
        <p:spPr>
          <a:xfrm xmlns:a="http://schemas.openxmlformats.org/drawingml/2006/main">
            <a:off x="819150" y="4686300"/>
            <a:ext cx="464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Scarce item</a:t>
            </a:r>
          </a:p>
        </p:txBody>
      </p:sp>
      <p:sp>
        <p:nvSpPr>
          <p:cNvPr id="32" name="">
            <a:extLst xmlns:a="http://schemas.openxmlformats.org/drawingml/2006/main">
              <a:ext uri="{FF2B5EF4-FFF2-40B4-BE49-F238E27FC236}">
                <a16:creationId xmlns:a16="http://schemas.microsoft.com/office/drawing/2014/main" id="{7B8DA771-7D78-4374-80D7-E39C43C497BC}"/>
              </a:ext>
            </a:extLst>
          </p:cNvPr>
          <p:cNvSpPr>
            <a:spLocks xmlns:a="http://schemas.openxmlformats.org/drawingml/2006/main" noGrp="1"/>
          </p:cNvSpPr>
          <p:nvPr/>
        </p:nvSpPr>
        <p:spPr>
          <a:xfrm xmlns:a="http://schemas.openxmlformats.org/drawingml/2006/main">
            <a:off x="819150" y="4981575"/>
            <a:ext cx="4648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When availability is 10 or less, per-student item quantity is capped at 1.</a:t>
            </a:r>
          </a:p>
        </p:txBody>
      </p:sp>
      <p:sp>
        <p:nvSpPr>
          <p:cNvPr id="33" name="">
            <a:extLst xmlns:a="http://schemas.openxmlformats.org/drawingml/2006/main">
              <a:ext uri="{FF2B5EF4-FFF2-40B4-BE49-F238E27FC236}">
                <a16:creationId xmlns:a16="http://schemas.microsoft.com/office/drawing/2014/main" id="{C2CDD8C0-CACC-41A0-8B91-677636FC7989}"/>
              </a:ext>
            </a:extLst>
          </p:cNvPr>
          <p:cNvSpPr>
            <a:spLocks xmlns:a="http://schemas.openxmlformats.org/drawingml/2006/main" noGrp="1"/>
          </p:cNvSpPr>
          <p:nvPr/>
        </p:nvSpPr>
        <p:spPr>
          <a:xfrm xmlns:a="http://schemas.openxmlformats.org/drawingml/2006/main">
            <a:off x="6353175" y="4733925"/>
            <a:ext cx="66675" cy="438150"/>
          </a:xfrm>
          <a:prstGeom xmlns:a="http://schemas.openxmlformats.org/drawingml/2006/main" prst="roundRect">
            <a:avLst>
              <a:gd name="adj" fmla="val 50000"/>
            </a:avLst>
          </a:prstGeom>
          <a:solidFill xmlns:a="http://schemas.openxmlformats.org/drawingml/2006/main">
            <a:srgbClr val="236D5A"/>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4935926-FD29-4931-B482-AC80ADC87496}"/>
              </a:ext>
            </a:extLst>
          </p:cNvPr>
          <p:cNvSpPr>
            <a:spLocks xmlns:a="http://schemas.openxmlformats.org/drawingml/2006/main" noGrp="1"/>
          </p:cNvSpPr>
          <p:nvPr/>
        </p:nvSpPr>
        <p:spPr>
          <a:xfrm xmlns:a="http://schemas.openxmlformats.org/drawingml/2006/main">
            <a:off x="6562725" y="4686300"/>
            <a:ext cx="46958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Reputation</a:t>
            </a:r>
          </a:p>
        </p:txBody>
      </p:sp>
      <p:sp>
        <p:nvSpPr>
          <p:cNvPr id="35" name="">
            <a:extLst xmlns:a="http://schemas.openxmlformats.org/drawingml/2006/main">
              <a:ext uri="{FF2B5EF4-FFF2-40B4-BE49-F238E27FC236}">
                <a16:creationId xmlns:a16="http://schemas.microsoft.com/office/drawing/2014/main" id="{AE18D1B1-82E3-4F98-B981-A5567C4EF5AE}"/>
              </a:ext>
            </a:extLst>
          </p:cNvPr>
          <p:cNvSpPr>
            <a:spLocks xmlns:a="http://schemas.openxmlformats.org/drawingml/2006/main" noGrp="1"/>
          </p:cNvSpPr>
          <p:nvPr/>
        </p:nvSpPr>
        <p:spPr>
          <a:xfrm xmlns:a="http://schemas.openxmlformats.org/drawingml/2006/main">
            <a:off x="6562725" y="4981575"/>
            <a:ext cx="46958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Successful collection can improve tier; no-shows can restrict ordering.</a:t>
            </a:r>
          </a:p>
        </p:txBody>
      </p:sp>
      <p:sp>
        <p:nvSpPr>
          <p:cNvPr id="36" name="">
            <a:extLst xmlns:a="http://schemas.openxmlformats.org/drawingml/2006/main">
              <a:ext uri="{FF2B5EF4-FFF2-40B4-BE49-F238E27FC236}">
                <a16:creationId xmlns:a16="http://schemas.microsoft.com/office/drawing/2014/main" id="{474B3EA4-A8B6-4909-A3D1-9401B183E00C}"/>
              </a:ext>
            </a:extLst>
          </p:cNvPr>
          <p:cNvSpPr>
            <a:spLocks xmlns:a="http://schemas.openxmlformats.org/drawingml/2006/main" noGrp="1"/>
          </p:cNvSpPr>
          <p:nvPr/>
        </p:nvSpPr>
        <p:spPr>
          <a:xfrm xmlns:a="http://schemas.openxmlformats.org/drawingml/2006/main">
            <a:off x="609600" y="5724525"/>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71656A"/>
                </a:solidFill>
              </a:defRPr>
            </a:defPPr>
          </a:lstStyle>
          <a:p xmlns:a="http://schemas.openxmlformats.org/drawingml/2006/main">
            <a:pPr>
              <a:defRPr sz="1200" b="1">
                <a:solidFill>
                  <a:srgbClr val="71656A"/>
                </a:solidFill>
              </a:defRPr>
            </a:pPr>
            <a:r>
              <a:rPr sz="1200" b="1">
                <a:solidFill>
                  <a:srgbClr val="71656A"/>
                </a:solidFill>
              </a:rPr>
              <a:t>Fixed rules are explainable and testable. No AI model or learned ranking is used.</a:t>
            </a:r>
          </a:p>
        </p:txBody>
      </p:sp>
    </p:spTree>
    <p:extLst>
      <p:ext uri="{BB962C8B-B14F-4D97-AF65-F5344CB8AC3E}">
        <p14:creationId xmlns:p14="http://schemas.microsoft.com/office/powerpoint/2010/main" val="1796687908"/>
      </p:ext>
    </p:extLst>
  </p:cSld>
</p:sld>
</file>

<file path=ppt/slides/slide14.xml><?xml version="1.0" encoding="utf-8"?>
<p:sld xmlns:p="http://schemas.openxmlformats.org/presentationml/2006/main">
  <p:cSld>
    <p:bg>
      <p:bgPr>
        <a:solidFill xmlns:a="http://schemas.openxmlformats.org/drawingml/2006/main">
          <a:srgbClr val="FBF7F4"/>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AC223A7D-6640-4B75-B596-0345AC3B8A18}"/>
              </a:ext>
            </a:extLst>
          </p:cNvPr>
          <p:cNvSpPr>
            <a:spLocks xmlns:a="http://schemas.openxmlformats.org/drawingml/2006/main" noGrp="1"/>
          </p:cNvSpPr>
          <p:nvPr/>
        </p:nvSpPr>
        <p:spPr>
          <a:xfrm xmlns:a="http://schemas.openxmlformats.org/drawingml/2006/main">
            <a:off x="6096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8E123B"/>
                </a:solidFill>
              </a:defRPr>
            </a:defPPr>
          </a:lstStyle>
          <a:p xmlns:a="http://schemas.openxmlformats.org/drawingml/2006/main">
            <a:pPr>
              <a:defRPr sz="900" b="1">
                <a:solidFill>
                  <a:srgbClr val="8E123B"/>
                </a:solidFill>
              </a:defRPr>
            </a:pPr>
            <a:r>
              <a:rPr sz="900" b="1">
                <a:solidFill>
                  <a:srgbClr val="8E123B"/>
                </a:solidFill>
              </a:rPr>
              <a:t>13 • BACKGROUND PROCESSING</a:t>
            </a:r>
          </a:p>
        </p:txBody>
      </p:sp>
      <p:sp>
        <p:nvSpPr>
          <p:cNvPr id="2" name="">
            <a:extLst xmlns:a="http://schemas.openxmlformats.org/drawingml/2006/main">
              <a:ext uri="{FF2B5EF4-FFF2-40B4-BE49-F238E27FC236}">
                <a16:creationId xmlns:a16="http://schemas.microsoft.com/office/drawing/2014/main" id="{57CF1E89-ABFC-43C7-A732-F8BAD443FA6E}"/>
              </a:ext>
            </a:extLst>
          </p:cNvPr>
          <p:cNvSpPr>
            <a:spLocks xmlns:a="http://schemas.openxmlformats.org/drawingml/2006/main" noGrp="1"/>
          </p:cNvSpPr>
          <p:nvPr/>
        </p:nvSpPr>
        <p:spPr>
          <a:xfrm xmlns:a="http://schemas.openxmlformats.org/drawingml/2006/main">
            <a:off x="609600" y="657225"/>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261D21"/>
                </a:solidFill>
              </a:defRPr>
            </a:defPPr>
          </a:lstStyle>
          <a:p xmlns:a="http://schemas.openxmlformats.org/drawingml/2006/main">
            <a:pPr>
              <a:defRPr sz="2550" b="1">
                <a:solidFill>
                  <a:srgbClr val="261D21"/>
                </a:solidFill>
              </a:defRPr>
            </a:pPr>
            <a:r>
              <a:rPr sz="2550" b="1">
                <a:solidFill>
                  <a:srgbClr val="261D21"/>
                </a:solidFill>
              </a:rPr>
              <a:t>A database scheduler recovers work outside user sessions</a:t>
            </a:r>
          </a:p>
        </p:txBody>
      </p:sp>
      <p:sp>
        <p:nvSpPr>
          <p:cNvPr id="3" name="">
            <a:extLst xmlns:a="http://schemas.openxmlformats.org/drawingml/2006/main">
              <a:ext uri="{FF2B5EF4-FFF2-40B4-BE49-F238E27FC236}">
                <a16:creationId xmlns:a16="http://schemas.microsoft.com/office/drawing/2014/main" id="{D2C8CE0F-F4E5-4543-AC42-72C1B0B0EC1C}"/>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line">
            <a:avLst/>
          </a:prstGeom>
          <a:noFill xmlns:a="http://schemas.openxmlformats.org/drawingml/2006/main"/>
          <a:ln xmlns:a="http://schemas.openxmlformats.org/drawingml/2006/main" w="9525">
            <a:solidFill>
              <a:srgbClr val="E8DDE0"/>
            </a:solidFill>
            <a:prstDash val="solid"/>
          </a:ln>
        </p:spPr>
      </p:sp>
      <p:sp>
        <p:nvSpPr>
          <p:cNvPr id="4" name="">
            <a:extLst xmlns:a="http://schemas.openxmlformats.org/drawingml/2006/main">
              <a:ext uri="{FF2B5EF4-FFF2-40B4-BE49-F238E27FC236}">
                <a16:creationId xmlns:a16="http://schemas.microsoft.com/office/drawing/2014/main" id="{8179A505-419B-45A4-A7A3-83ABD64CA610}"/>
              </a:ext>
            </a:extLst>
          </p:cNvPr>
          <p:cNvSpPr>
            <a:spLocks xmlns:a="http://schemas.openxmlformats.org/drawingml/2006/main" noGrp="1"/>
          </p:cNvSpPr>
          <p:nvPr/>
        </p:nvSpPr>
        <p:spPr>
          <a:xfrm xmlns:a="http://schemas.openxmlformats.org/drawingml/2006/main">
            <a:off x="609600" y="64579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71656A"/>
                </a:solidFill>
              </a:defRPr>
            </a:defPPr>
          </a:lstStyle>
          <a:p xmlns:a="http://schemas.openxmlformats.org/drawingml/2006/main">
            <a:pPr>
              <a:defRPr sz="825" b="1">
                <a:solidFill>
                  <a:srgbClr val="71656A"/>
                </a:solidFill>
              </a:defRPr>
            </a:pPr>
            <a:r>
              <a:rPr sz="825" b="1">
                <a:solidFill>
                  <a:srgbClr val="71656A"/>
                </a:solidFill>
              </a:rPr>
              <a:t>MINT  /  CAMPUS CANTEEN PICKUP</a:t>
            </a:r>
          </a:p>
        </p:txBody>
      </p:sp>
      <p:sp>
        <p:nvSpPr>
          <p:cNvPr id="5" name="">
            <a:extLst xmlns:a="http://schemas.openxmlformats.org/drawingml/2006/main">
              <a:ext uri="{FF2B5EF4-FFF2-40B4-BE49-F238E27FC236}">
                <a16:creationId xmlns:a16="http://schemas.microsoft.com/office/drawing/2014/main" id="{9B3C7518-D8E9-4337-9403-CE8038300F30}"/>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71656A"/>
                </a:solidFill>
              </a:defRPr>
            </a:defPPr>
          </a:lstStyle>
          <a:p xmlns:a="http://schemas.openxmlformats.org/drawingml/2006/main">
            <a:pPr algn="r">
              <a:defRPr sz="900" b="1">
                <a:solidFill>
                  <a:srgbClr val="71656A"/>
                </a:solidFill>
              </a:defRPr>
            </a:pPr>
            <a:r>
              <a:rPr sz="900" b="1">
                <a:solidFill>
                  <a:srgbClr val="71656A"/>
                </a:solidFill>
              </a:rPr>
              <a:t>14</a:t>
            </a:r>
          </a:p>
        </p:txBody>
      </p:sp>
      <p:sp>
        <p:nvSpPr>
          <p:cNvPr id="6" name="">
            <a:extLst xmlns:a="http://schemas.openxmlformats.org/drawingml/2006/main">
              <a:ext uri="{FF2B5EF4-FFF2-40B4-BE49-F238E27FC236}">
                <a16:creationId xmlns:a16="http://schemas.microsoft.com/office/drawing/2014/main" id="{4193E336-973E-43B3-986B-7D9DBBB7158E}"/>
              </a:ext>
            </a:extLst>
          </p:cNvPr>
          <p:cNvSpPr>
            <a:spLocks xmlns:a="http://schemas.openxmlformats.org/drawingml/2006/main" noGrp="1"/>
          </p:cNvSpPr>
          <p:nvPr/>
        </p:nvSpPr>
        <p:spPr>
          <a:xfrm xmlns:a="http://schemas.openxmlformats.org/drawingml/2006/main">
            <a:off x="609600" y="2019300"/>
            <a:ext cx="245745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DDE0"/>
            </a:solidFill>
            <a:prstDash val="solid"/>
          </a:ln>
        </p:spPr>
      </p:sp>
      <p:sp>
        <p:nvSpPr>
          <p:cNvPr id="7" name="">
            <a:extLst xmlns:a="http://schemas.openxmlformats.org/drawingml/2006/main">
              <a:ext uri="{FF2B5EF4-FFF2-40B4-BE49-F238E27FC236}">
                <a16:creationId xmlns:a16="http://schemas.microsoft.com/office/drawing/2014/main" id="{C3FFDF1F-EB68-47A0-BC8E-9988D742D1C2}"/>
              </a:ext>
            </a:extLst>
          </p:cNvPr>
          <p:cNvSpPr>
            <a:spLocks xmlns:a="http://schemas.openxmlformats.org/drawingml/2006/main" noGrp="1"/>
          </p:cNvSpPr>
          <p:nvPr/>
        </p:nvSpPr>
        <p:spPr>
          <a:xfrm xmlns:a="http://schemas.openxmlformats.org/drawingml/2006/main">
            <a:off x="771525" y="2171700"/>
            <a:ext cx="1066800" cy="257175"/>
          </a:xfrm>
          <a:prstGeom xmlns:a="http://schemas.openxmlformats.org/drawingml/2006/main" prst="roundRect">
            <a:avLst>
              <a:gd name="adj" fmla="val 29630"/>
            </a:avLst>
          </a:prstGeom>
          <a:solidFill xmlns:a="http://schemas.openxmlformats.org/drawingml/2006/main">
            <a:srgbClr val="F3E2E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69A4A64-B0AA-425F-99F9-DE233689979E}"/>
              </a:ext>
            </a:extLst>
          </p:cNvPr>
          <p:cNvSpPr>
            <a:spLocks xmlns:a="http://schemas.openxmlformats.org/drawingml/2006/main" noGrp="1"/>
          </p:cNvSpPr>
          <p:nvPr/>
        </p:nvSpPr>
        <p:spPr>
          <a:xfrm xmlns:a="http://schemas.openxmlformats.org/drawingml/2006/main">
            <a:off x="847725" y="2171700"/>
            <a:ext cx="914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00" b="1">
                <a:solidFill>
                  <a:srgbClr val="8E123B"/>
                </a:solidFill>
              </a:defRPr>
            </a:defPPr>
          </a:lstStyle>
          <a:p xmlns:a="http://schemas.openxmlformats.org/drawingml/2006/main">
            <a:pPr algn="ctr">
              <a:defRPr sz="900" b="1">
                <a:solidFill>
                  <a:srgbClr val="8E123B"/>
                </a:solidFill>
              </a:defRPr>
            </a:pPr>
            <a:r>
              <a:rPr sz="900" b="1">
                <a:solidFill>
                  <a:srgbClr val="8E123B"/>
                </a:solidFill>
              </a:rPr>
              <a:t>SCHEDULE</a:t>
            </a:r>
          </a:p>
        </p:txBody>
      </p:sp>
      <p:sp>
        <p:nvSpPr>
          <p:cNvPr id="9" name="">
            <a:extLst xmlns:a="http://schemas.openxmlformats.org/drawingml/2006/main">
              <a:ext uri="{FF2B5EF4-FFF2-40B4-BE49-F238E27FC236}">
                <a16:creationId xmlns:a16="http://schemas.microsoft.com/office/drawing/2014/main" id="{A013598C-288B-43A9-B795-F7057D2F8E43}"/>
              </a:ext>
            </a:extLst>
          </p:cNvPr>
          <p:cNvSpPr>
            <a:spLocks xmlns:a="http://schemas.openxmlformats.org/drawingml/2006/main" noGrp="1"/>
          </p:cNvSpPr>
          <p:nvPr/>
        </p:nvSpPr>
        <p:spPr>
          <a:xfrm xmlns:a="http://schemas.openxmlformats.org/drawingml/2006/main">
            <a:off x="771525" y="2590800"/>
            <a:ext cx="21431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261D21"/>
                </a:solidFill>
              </a:defRPr>
            </a:defPPr>
          </a:lstStyle>
          <a:p xmlns:a="http://schemas.openxmlformats.org/drawingml/2006/main">
            <a:pPr>
              <a:defRPr sz="1500" b="1">
                <a:solidFill>
                  <a:srgbClr val="261D21"/>
                </a:solidFill>
              </a:defRPr>
            </a:pPr>
            <a:r>
              <a:rPr sz="1500" b="1">
                <a:solidFill>
                  <a:srgbClr val="261D21"/>
                </a:solidFill>
              </a:rPr>
              <a:t>pg_cron</a:t>
            </a:r>
          </a:p>
          <a:p xmlns:a="http://schemas.openxmlformats.org/drawingml/2006/main">
            <a:pPr>
              <a:defRPr sz="1500" b="1">
                <a:solidFill>
                  <a:srgbClr val="261D21"/>
                </a:solidFill>
              </a:defRPr>
            </a:pPr>
            <a:r>
              <a:rPr sz="1500" b="1">
                <a:solidFill>
                  <a:srgbClr val="261D21"/>
                </a:solidFill>
              </a:rPr>
              <a:t>every 30 seconds</a:t>
            </a:r>
          </a:p>
        </p:txBody>
      </p:sp>
      <p:sp>
        <p:nvSpPr>
          <p:cNvPr id="10" name="">
            <a:extLst xmlns:a="http://schemas.openxmlformats.org/drawingml/2006/main">
              <a:ext uri="{FF2B5EF4-FFF2-40B4-BE49-F238E27FC236}">
                <a16:creationId xmlns:a16="http://schemas.microsoft.com/office/drawing/2014/main" id="{0EAEB32B-E895-441A-AD07-C7714BDEC813}"/>
              </a:ext>
            </a:extLst>
          </p:cNvPr>
          <p:cNvSpPr>
            <a:spLocks xmlns:a="http://schemas.openxmlformats.org/drawingml/2006/main" noGrp="1"/>
          </p:cNvSpPr>
          <p:nvPr/>
        </p:nvSpPr>
        <p:spPr>
          <a:xfrm xmlns:a="http://schemas.openxmlformats.org/drawingml/2006/main">
            <a:off x="3086100" y="2743200"/>
            <a:ext cx="247650" cy="9525"/>
          </a:xfrm>
          <a:prstGeom xmlns:a="http://schemas.openxmlformats.org/drawingml/2006/main" prst="line">
            <a:avLst/>
          </a:prstGeom>
          <a:noFill xmlns:a="http://schemas.openxmlformats.org/drawingml/2006/main"/>
          <a:ln xmlns:a="http://schemas.openxmlformats.org/drawingml/2006/main" w="28575">
            <a:solidFill>
              <a:srgbClr val="D65C73"/>
            </a:solidFill>
            <a:prstDash val="solid"/>
          </a:ln>
        </p:spPr>
      </p:sp>
      <p:sp>
        <p:nvSpPr>
          <p:cNvPr id="11" name="">
            <a:extLst xmlns:a="http://schemas.openxmlformats.org/drawingml/2006/main">
              <a:ext uri="{FF2B5EF4-FFF2-40B4-BE49-F238E27FC236}">
                <a16:creationId xmlns:a16="http://schemas.microsoft.com/office/drawing/2014/main" id="{F76F7AA5-2DF4-4859-9AE4-7466E5BFA68B}"/>
              </a:ext>
            </a:extLst>
          </p:cNvPr>
          <p:cNvSpPr>
            <a:spLocks xmlns:a="http://schemas.openxmlformats.org/drawingml/2006/main" noGrp="1"/>
          </p:cNvSpPr>
          <p:nvPr/>
        </p:nvSpPr>
        <p:spPr>
          <a:xfrm xmlns:a="http://schemas.openxmlformats.org/drawingml/2006/main">
            <a:off x="3390900" y="2019300"/>
            <a:ext cx="245745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DDE0"/>
            </a:solidFill>
            <a:prstDash val="solid"/>
          </a:ln>
        </p:spPr>
      </p:sp>
      <p:sp>
        <p:nvSpPr>
          <p:cNvPr id="12" name="">
            <a:extLst xmlns:a="http://schemas.openxmlformats.org/drawingml/2006/main">
              <a:ext uri="{FF2B5EF4-FFF2-40B4-BE49-F238E27FC236}">
                <a16:creationId xmlns:a16="http://schemas.microsoft.com/office/drawing/2014/main" id="{5677750C-1A7D-4C13-A5E4-47DFFBA0497A}"/>
              </a:ext>
            </a:extLst>
          </p:cNvPr>
          <p:cNvSpPr>
            <a:spLocks xmlns:a="http://schemas.openxmlformats.org/drawingml/2006/main" noGrp="1"/>
          </p:cNvSpPr>
          <p:nvPr/>
        </p:nvSpPr>
        <p:spPr>
          <a:xfrm xmlns:a="http://schemas.openxmlformats.org/drawingml/2006/main">
            <a:off x="3552825" y="2171700"/>
            <a:ext cx="1066800" cy="257175"/>
          </a:xfrm>
          <a:prstGeom xmlns:a="http://schemas.openxmlformats.org/drawingml/2006/main" prst="roundRect">
            <a:avLst>
              <a:gd name="adj" fmla="val 29630"/>
            </a:avLst>
          </a:prstGeom>
          <a:solidFill xmlns:a="http://schemas.openxmlformats.org/drawingml/2006/main">
            <a:srgbClr val="F3E2E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9504EF9-DF6D-407B-BB24-EA47D68C47D4}"/>
              </a:ext>
            </a:extLst>
          </p:cNvPr>
          <p:cNvSpPr>
            <a:spLocks xmlns:a="http://schemas.openxmlformats.org/drawingml/2006/main" noGrp="1"/>
          </p:cNvSpPr>
          <p:nvPr/>
        </p:nvSpPr>
        <p:spPr>
          <a:xfrm xmlns:a="http://schemas.openxmlformats.org/drawingml/2006/main">
            <a:off x="3629025" y="2171700"/>
            <a:ext cx="914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00" b="1">
                <a:solidFill>
                  <a:srgbClr val="8E123B"/>
                </a:solidFill>
              </a:defRPr>
            </a:defPPr>
          </a:lstStyle>
          <a:p xmlns:a="http://schemas.openxmlformats.org/drawingml/2006/main">
            <a:pPr algn="ctr">
              <a:defRPr sz="900" b="1">
                <a:solidFill>
                  <a:srgbClr val="8E123B"/>
                </a:solidFill>
              </a:defRPr>
            </a:pPr>
            <a:r>
              <a:rPr sz="900" b="1">
                <a:solidFill>
                  <a:srgbClr val="8E123B"/>
                </a:solidFill>
              </a:rPr>
              <a:t>DISPATCH</a:t>
            </a:r>
          </a:p>
        </p:txBody>
      </p:sp>
      <p:sp>
        <p:nvSpPr>
          <p:cNvPr id="14" name="">
            <a:extLst xmlns:a="http://schemas.openxmlformats.org/drawingml/2006/main">
              <a:ext uri="{FF2B5EF4-FFF2-40B4-BE49-F238E27FC236}">
                <a16:creationId xmlns:a16="http://schemas.microsoft.com/office/drawing/2014/main" id="{8692C12C-084F-4FD7-A7BE-D453EC54C7A9}"/>
              </a:ext>
            </a:extLst>
          </p:cNvPr>
          <p:cNvSpPr>
            <a:spLocks xmlns:a="http://schemas.openxmlformats.org/drawingml/2006/main" noGrp="1"/>
          </p:cNvSpPr>
          <p:nvPr/>
        </p:nvSpPr>
        <p:spPr>
          <a:xfrm xmlns:a="http://schemas.openxmlformats.org/drawingml/2006/main">
            <a:off x="3552825" y="2590800"/>
            <a:ext cx="21431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261D21"/>
                </a:solidFill>
              </a:defRPr>
            </a:defPPr>
          </a:lstStyle>
          <a:p xmlns:a="http://schemas.openxmlformats.org/drawingml/2006/main">
            <a:pPr>
              <a:defRPr sz="1500" b="1">
                <a:solidFill>
                  <a:srgbClr val="261D21"/>
                </a:solidFill>
              </a:defRPr>
            </a:pPr>
            <a:r>
              <a:rPr sz="1500" b="1">
                <a:solidFill>
                  <a:srgbClr val="261D21"/>
                </a:solidFill>
              </a:rPr>
              <a:t>private function</a:t>
            </a:r>
          </a:p>
          <a:p xmlns:a="http://schemas.openxmlformats.org/drawingml/2006/main">
            <a:pPr>
              <a:defRPr sz="1500" b="1">
                <a:solidFill>
                  <a:srgbClr val="261D21"/>
                </a:solidFill>
              </a:defRPr>
            </a:pPr>
            <a:r>
              <a:rPr sz="1500" b="1">
                <a:solidFill>
                  <a:srgbClr val="261D21"/>
                </a:solidFill>
              </a:rPr>
              <a:t>loads Vault secret</a:t>
            </a:r>
          </a:p>
        </p:txBody>
      </p:sp>
      <p:sp>
        <p:nvSpPr>
          <p:cNvPr id="15" name="">
            <a:extLst xmlns:a="http://schemas.openxmlformats.org/drawingml/2006/main">
              <a:ext uri="{FF2B5EF4-FFF2-40B4-BE49-F238E27FC236}">
                <a16:creationId xmlns:a16="http://schemas.microsoft.com/office/drawing/2014/main" id="{6D0411E9-F364-4A24-8456-A46F410ED7AB}"/>
              </a:ext>
            </a:extLst>
          </p:cNvPr>
          <p:cNvSpPr>
            <a:spLocks xmlns:a="http://schemas.openxmlformats.org/drawingml/2006/main" noGrp="1"/>
          </p:cNvSpPr>
          <p:nvPr/>
        </p:nvSpPr>
        <p:spPr>
          <a:xfrm xmlns:a="http://schemas.openxmlformats.org/drawingml/2006/main">
            <a:off x="5867400" y="2743200"/>
            <a:ext cx="247650" cy="9525"/>
          </a:xfrm>
          <a:prstGeom xmlns:a="http://schemas.openxmlformats.org/drawingml/2006/main" prst="line">
            <a:avLst/>
          </a:prstGeom>
          <a:noFill xmlns:a="http://schemas.openxmlformats.org/drawingml/2006/main"/>
          <a:ln xmlns:a="http://schemas.openxmlformats.org/drawingml/2006/main" w="28575">
            <a:solidFill>
              <a:srgbClr val="D65C73"/>
            </a:solidFill>
            <a:prstDash val="solid"/>
          </a:ln>
        </p:spPr>
      </p:sp>
      <p:sp>
        <p:nvSpPr>
          <p:cNvPr id="16" name="">
            <a:extLst xmlns:a="http://schemas.openxmlformats.org/drawingml/2006/main">
              <a:ext uri="{FF2B5EF4-FFF2-40B4-BE49-F238E27FC236}">
                <a16:creationId xmlns:a16="http://schemas.microsoft.com/office/drawing/2014/main" id="{1AAD0B4C-DC4B-4E29-8E36-54F1BA10C926}"/>
              </a:ext>
            </a:extLst>
          </p:cNvPr>
          <p:cNvSpPr>
            <a:spLocks xmlns:a="http://schemas.openxmlformats.org/drawingml/2006/main" noGrp="1"/>
          </p:cNvSpPr>
          <p:nvPr/>
        </p:nvSpPr>
        <p:spPr>
          <a:xfrm xmlns:a="http://schemas.openxmlformats.org/drawingml/2006/main">
            <a:off x="6172200" y="2019300"/>
            <a:ext cx="245745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DDE0"/>
            </a:solidFill>
            <a:prstDash val="solid"/>
          </a:ln>
        </p:spPr>
      </p:sp>
      <p:sp>
        <p:nvSpPr>
          <p:cNvPr id="17" name="">
            <a:extLst xmlns:a="http://schemas.openxmlformats.org/drawingml/2006/main">
              <a:ext uri="{FF2B5EF4-FFF2-40B4-BE49-F238E27FC236}">
                <a16:creationId xmlns:a16="http://schemas.microsoft.com/office/drawing/2014/main" id="{32FFBC0D-2F8A-43AE-8FA6-1235D765EF2E}"/>
              </a:ext>
            </a:extLst>
          </p:cNvPr>
          <p:cNvSpPr>
            <a:spLocks xmlns:a="http://schemas.openxmlformats.org/drawingml/2006/main" noGrp="1"/>
          </p:cNvSpPr>
          <p:nvPr/>
        </p:nvSpPr>
        <p:spPr>
          <a:xfrm xmlns:a="http://schemas.openxmlformats.org/drawingml/2006/main">
            <a:off x="6334125" y="2171700"/>
            <a:ext cx="1066800" cy="257175"/>
          </a:xfrm>
          <a:prstGeom xmlns:a="http://schemas.openxmlformats.org/drawingml/2006/main" prst="roundRect">
            <a:avLst>
              <a:gd name="adj" fmla="val 29630"/>
            </a:avLst>
          </a:prstGeom>
          <a:solidFill xmlns:a="http://schemas.openxmlformats.org/drawingml/2006/main">
            <a:srgbClr val="F3E2E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74B288A-30C5-4668-A76D-C418803EE06A}"/>
              </a:ext>
            </a:extLst>
          </p:cNvPr>
          <p:cNvSpPr>
            <a:spLocks xmlns:a="http://schemas.openxmlformats.org/drawingml/2006/main" noGrp="1"/>
          </p:cNvSpPr>
          <p:nvPr/>
        </p:nvSpPr>
        <p:spPr>
          <a:xfrm xmlns:a="http://schemas.openxmlformats.org/drawingml/2006/main">
            <a:off x="6410325" y="2171700"/>
            <a:ext cx="914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00" b="1">
                <a:solidFill>
                  <a:srgbClr val="8E123B"/>
                </a:solidFill>
              </a:defRPr>
            </a:defPPr>
          </a:lstStyle>
          <a:p xmlns:a="http://schemas.openxmlformats.org/drawingml/2006/main">
            <a:pPr algn="ctr">
              <a:defRPr sz="900" b="1">
                <a:solidFill>
                  <a:srgbClr val="8E123B"/>
                </a:solidFill>
              </a:defRPr>
            </a:pPr>
            <a:r>
              <a:rPr sz="900" b="1">
                <a:solidFill>
                  <a:srgbClr val="8E123B"/>
                </a:solidFill>
              </a:rPr>
              <a:t>AUTHENTICATE</a:t>
            </a:r>
          </a:p>
        </p:txBody>
      </p:sp>
      <p:sp>
        <p:nvSpPr>
          <p:cNvPr id="19" name="">
            <a:extLst xmlns:a="http://schemas.openxmlformats.org/drawingml/2006/main">
              <a:ext uri="{FF2B5EF4-FFF2-40B4-BE49-F238E27FC236}">
                <a16:creationId xmlns:a16="http://schemas.microsoft.com/office/drawing/2014/main" id="{D4EA6880-7AF1-4237-939B-E84D5BB16541}"/>
              </a:ext>
            </a:extLst>
          </p:cNvPr>
          <p:cNvSpPr>
            <a:spLocks xmlns:a="http://schemas.openxmlformats.org/drawingml/2006/main" noGrp="1"/>
          </p:cNvSpPr>
          <p:nvPr/>
        </p:nvSpPr>
        <p:spPr>
          <a:xfrm xmlns:a="http://schemas.openxmlformats.org/drawingml/2006/main">
            <a:off x="6334125" y="2590800"/>
            <a:ext cx="21431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261D21"/>
                </a:solidFill>
              </a:defRPr>
            </a:defPPr>
          </a:lstStyle>
          <a:p xmlns:a="http://schemas.openxmlformats.org/drawingml/2006/main">
            <a:pPr>
              <a:defRPr sz="1500" b="1">
                <a:solidFill>
                  <a:srgbClr val="261D21"/>
                </a:solidFill>
              </a:defRPr>
            </a:pPr>
            <a:r>
              <a:rPr sz="1500" b="1">
                <a:solidFill>
                  <a:srgbClr val="261D21"/>
                </a:solidFill>
              </a:rPr>
              <a:t>signed POST</a:t>
            </a:r>
          </a:p>
          <a:p xmlns:a="http://schemas.openxmlformats.org/drawingml/2006/main">
            <a:pPr>
              <a:defRPr sz="1500" b="1">
                <a:solidFill>
                  <a:srgbClr val="261D21"/>
                </a:solidFill>
              </a:defRPr>
            </a:pPr>
            <a:r>
              <a:rPr sz="1500" b="1">
                <a:solidFill>
                  <a:srgbClr val="261D21"/>
                </a:solidFill>
              </a:rPr>
              <a:t>short timestamp window</a:t>
            </a:r>
          </a:p>
        </p:txBody>
      </p:sp>
      <p:sp>
        <p:nvSpPr>
          <p:cNvPr id="20" name="">
            <a:extLst xmlns:a="http://schemas.openxmlformats.org/drawingml/2006/main">
              <a:ext uri="{FF2B5EF4-FFF2-40B4-BE49-F238E27FC236}">
                <a16:creationId xmlns:a16="http://schemas.microsoft.com/office/drawing/2014/main" id="{E4D9B69A-9272-4188-B328-D1B35E5C5462}"/>
              </a:ext>
            </a:extLst>
          </p:cNvPr>
          <p:cNvSpPr>
            <a:spLocks xmlns:a="http://schemas.openxmlformats.org/drawingml/2006/main" noGrp="1"/>
          </p:cNvSpPr>
          <p:nvPr/>
        </p:nvSpPr>
        <p:spPr>
          <a:xfrm xmlns:a="http://schemas.openxmlformats.org/drawingml/2006/main">
            <a:off x="8648700" y="2743200"/>
            <a:ext cx="247650" cy="9525"/>
          </a:xfrm>
          <a:prstGeom xmlns:a="http://schemas.openxmlformats.org/drawingml/2006/main" prst="line">
            <a:avLst/>
          </a:prstGeom>
          <a:noFill xmlns:a="http://schemas.openxmlformats.org/drawingml/2006/main"/>
          <a:ln xmlns:a="http://schemas.openxmlformats.org/drawingml/2006/main" w="28575">
            <a:solidFill>
              <a:srgbClr val="D65C73"/>
            </a:solidFill>
            <a:prstDash val="solid"/>
          </a:ln>
        </p:spPr>
      </p:sp>
      <p:sp>
        <p:nvSpPr>
          <p:cNvPr id="21" name="">
            <a:extLst xmlns:a="http://schemas.openxmlformats.org/drawingml/2006/main">
              <a:ext uri="{FF2B5EF4-FFF2-40B4-BE49-F238E27FC236}">
                <a16:creationId xmlns:a16="http://schemas.microsoft.com/office/drawing/2014/main" id="{494F254E-99E1-4C00-B518-06E6C1FB8C8B}"/>
              </a:ext>
            </a:extLst>
          </p:cNvPr>
          <p:cNvSpPr>
            <a:spLocks xmlns:a="http://schemas.openxmlformats.org/drawingml/2006/main" noGrp="1"/>
          </p:cNvSpPr>
          <p:nvPr/>
        </p:nvSpPr>
        <p:spPr>
          <a:xfrm xmlns:a="http://schemas.openxmlformats.org/drawingml/2006/main">
            <a:off x="8953500" y="2019300"/>
            <a:ext cx="245745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DDE0"/>
            </a:solidFill>
            <a:prstDash val="solid"/>
          </a:ln>
        </p:spPr>
      </p:sp>
      <p:sp>
        <p:nvSpPr>
          <p:cNvPr id="22" name="">
            <a:extLst xmlns:a="http://schemas.openxmlformats.org/drawingml/2006/main">
              <a:ext uri="{FF2B5EF4-FFF2-40B4-BE49-F238E27FC236}">
                <a16:creationId xmlns:a16="http://schemas.microsoft.com/office/drawing/2014/main" id="{E1A22A9B-47BB-434F-86B0-AE5CEFEBF4E1}"/>
              </a:ext>
            </a:extLst>
          </p:cNvPr>
          <p:cNvSpPr>
            <a:spLocks xmlns:a="http://schemas.openxmlformats.org/drawingml/2006/main" noGrp="1"/>
          </p:cNvSpPr>
          <p:nvPr/>
        </p:nvSpPr>
        <p:spPr>
          <a:xfrm xmlns:a="http://schemas.openxmlformats.org/drawingml/2006/main">
            <a:off x="9115425" y="2171700"/>
            <a:ext cx="1066800" cy="257175"/>
          </a:xfrm>
          <a:prstGeom xmlns:a="http://schemas.openxmlformats.org/drawingml/2006/main" prst="roundRect">
            <a:avLst>
              <a:gd name="adj" fmla="val 29630"/>
            </a:avLst>
          </a:prstGeom>
          <a:solidFill xmlns:a="http://schemas.openxmlformats.org/drawingml/2006/main">
            <a:srgbClr val="DCEDE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75BA70C-D98E-472C-97A4-D36215B2AAAE}"/>
              </a:ext>
            </a:extLst>
          </p:cNvPr>
          <p:cNvSpPr>
            <a:spLocks xmlns:a="http://schemas.openxmlformats.org/drawingml/2006/main" noGrp="1"/>
          </p:cNvSpPr>
          <p:nvPr/>
        </p:nvSpPr>
        <p:spPr>
          <a:xfrm xmlns:a="http://schemas.openxmlformats.org/drawingml/2006/main">
            <a:off x="9191625" y="2171700"/>
            <a:ext cx="914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00" b="1">
                <a:solidFill>
                  <a:srgbClr val="236D5A"/>
                </a:solidFill>
              </a:defRPr>
            </a:defPPr>
          </a:lstStyle>
          <a:p xmlns:a="http://schemas.openxmlformats.org/drawingml/2006/main">
            <a:pPr algn="ctr">
              <a:defRPr sz="900" b="1">
                <a:solidFill>
                  <a:srgbClr val="236D5A"/>
                </a:solidFill>
              </a:defRPr>
            </a:pPr>
            <a:r>
              <a:rPr sz="900" b="1">
                <a:solidFill>
                  <a:srgbClr val="236D5A"/>
                </a:solidFill>
              </a:rPr>
              <a:t>PROCESS</a:t>
            </a:r>
          </a:p>
        </p:txBody>
      </p:sp>
      <p:sp>
        <p:nvSpPr>
          <p:cNvPr id="24" name="">
            <a:extLst xmlns:a="http://schemas.openxmlformats.org/drawingml/2006/main">
              <a:ext uri="{FF2B5EF4-FFF2-40B4-BE49-F238E27FC236}">
                <a16:creationId xmlns:a16="http://schemas.microsoft.com/office/drawing/2014/main" id="{CCA2BC1A-2E47-4247-825A-FB8FC58E196F}"/>
              </a:ext>
            </a:extLst>
          </p:cNvPr>
          <p:cNvSpPr>
            <a:spLocks xmlns:a="http://schemas.openxmlformats.org/drawingml/2006/main" noGrp="1"/>
          </p:cNvSpPr>
          <p:nvPr/>
        </p:nvSpPr>
        <p:spPr>
          <a:xfrm xmlns:a="http://schemas.openxmlformats.org/drawingml/2006/main">
            <a:off x="9115425" y="2590800"/>
            <a:ext cx="21431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261D21"/>
                </a:solidFill>
              </a:defRPr>
            </a:defPPr>
          </a:lstStyle>
          <a:p xmlns:a="http://schemas.openxmlformats.org/drawingml/2006/main">
            <a:pPr>
              <a:defRPr sz="1500" b="1">
                <a:solidFill>
                  <a:srgbClr val="261D21"/>
                </a:solidFill>
              </a:defRPr>
            </a:pPr>
            <a:r>
              <a:rPr sz="1500" b="1">
                <a:solidFill>
                  <a:srgbClr val="261D21"/>
                </a:solidFill>
              </a:rPr>
              <a:t>Render worker</a:t>
            </a:r>
          </a:p>
          <a:p xmlns:a="http://schemas.openxmlformats.org/drawingml/2006/main">
            <a:pPr>
              <a:defRPr sz="1500" b="1">
                <a:solidFill>
                  <a:srgbClr val="261D21"/>
                </a:solidFill>
              </a:defRPr>
            </a:pPr>
            <a:r>
              <a:rPr sz="1500" b="1">
                <a:solidFill>
                  <a:srgbClr val="261D21"/>
                </a:solidFill>
              </a:rPr>
              <a:t>claims due jobs</a:t>
            </a:r>
          </a:p>
        </p:txBody>
      </p:sp>
      <p:sp>
        <p:nvSpPr>
          <p:cNvPr id="25" name="">
            <a:extLst xmlns:a="http://schemas.openxmlformats.org/drawingml/2006/main">
              <a:ext uri="{FF2B5EF4-FFF2-40B4-BE49-F238E27FC236}">
                <a16:creationId xmlns:a16="http://schemas.microsoft.com/office/drawing/2014/main" id="{2054366D-3628-4A68-82AA-07108B32A272}"/>
              </a:ext>
            </a:extLst>
          </p:cNvPr>
          <p:cNvSpPr>
            <a:spLocks xmlns:a="http://schemas.openxmlformats.org/drawingml/2006/main" noGrp="1"/>
          </p:cNvSpPr>
          <p:nvPr/>
        </p:nvSpPr>
        <p:spPr>
          <a:xfrm xmlns:a="http://schemas.openxmlformats.org/drawingml/2006/main">
            <a:off x="609600" y="40195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8E123B"/>
                </a:solidFill>
              </a:defRPr>
            </a:defPPr>
          </a:lstStyle>
          <a:p xmlns:a="http://schemas.openxmlformats.org/drawingml/2006/main">
            <a:pPr>
              <a:defRPr sz="1350" b="1">
                <a:solidFill>
                  <a:srgbClr val="8E123B"/>
                </a:solidFill>
              </a:defRPr>
            </a:pPr>
            <a:r>
              <a:rPr sz="1350" b="1">
                <a:solidFill>
                  <a:srgbClr val="8E123B"/>
                </a:solidFill>
              </a:rPr>
              <a:t>Scheduled responsibilities</a:t>
            </a:r>
          </a:p>
        </p:txBody>
      </p:sp>
      <p:sp>
        <p:nvSpPr>
          <p:cNvPr id="26" name="">
            <a:extLst xmlns:a="http://schemas.openxmlformats.org/drawingml/2006/main">
              <a:ext uri="{FF2B5EF4-FFF2-40B4-BE49-F238E27FC236}">
                <a16:creationId xmlns:a16="http://schemas.microsoft.com/office/drawing/2014/main" id="{D006D00D-FE52-46C0-B37F-AA9BFE852F22}"/>
              </a:ext>
            </a:extLst>
          </p:cNvPr>
          <p:cNvSpPr>
            <a:spLocks xmlns:a="http://schemas.openxmlformats.org/drawingml/2006/main" noGrp="1"/>
          </p:cNvSpPr>
          <p:nvPr/>
        </p:nvSpPr>
        <p:spPr>
          <a:xfrm xmlns:a="http://schemas.openxmlformats.org/drawingml/2006/main">
            <a:off x="609600" y="4533900"/>
            <a:ext cx="66675" cy="438150"/>
          </a:xfrm>
          <a:prstGeom xmlns:a="http://schemas.openxmlformats.org/drawingml/2006/main" prst="roundRect">
            <a:avLst>
              <a:gd name="adj" fmla="val 50000"/>
            </a:avLst>
          </a:prstGeom>
          <a:solidFill xmlns:a="http://schemas.openxmlformats.org/drawingml/2006/main">
            <a:srgbClr val="8E123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994B739-AC12-46C9-B3E8-DCEB6B2A9C14}"/>
              </a:ext>
            </a:extLst>
          </p:cNvPr>
          <p:cNvSpPr>
            <a:spLocks xmlns:a="http://schemas.openxmlformats.org/drawingml/2006/main" noGrp="1"/>
          </p:cNvSpPr>
          <p:nvPr/>
        </p:nvSpPr>
        <p:spPr>
          <a:xfrm xmlns:a="http://schemas.openxmlformats.org/drawingml/2006/main">
            <a:off x="819150" y="4486275"/>
            <a:ext cx="312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Release expired holds</a:t>
            </a:r>
          </a:p>
        </p:txBody>
      </p:sp>
      <p:sp>
        <p:nvSpPr>
          <p:cNvPr id="28" name="">
            <a:extLst xmlns:a="http://schemas.openxmlformats.org/drawingml/2006/main">
              <a:ext uri="{FF2B5EF4-FFF2-40B4-BE49-F238E27FC236}">
                <a16:creationId xmlns:a16="http://schemas.microsoft.com/office/drawing/2014/main" id="{B57810BD-2099-49C9-BB64-9B5144E77075}"/>
              </a:ext>
            </a:extLst>
          </p:cNvPr>
          <p:cNvSpPr>
            <a:spLocks xmlns:a="http://schemas.openxmlformats.org/drawingml/2006/main" noGrp="1"/>
          </p:cNvSpPr>
          <p:nvPr/>
        </p:nvSpPr>
        <p:spPr>
          <a:xfrm xmlns:a="http://schemas.openxmlformats.org/drawingml/2006/main">
            <a:off x="819150" y="4781550"/>
            <a:ext cx="3124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Return reserved stock and credit.</a:t>
            </a:r>
          </a:p>
        </p:txBody>
      </p:sp>
      <p:sp>
        <p:nvSpPr>
          <p:cNvPr id="29" name="">
            <a:extLst xmlns:a="http://schemas.openxmlformats.org/drawingml/2006/main">
              <a:ext uri="{FF2B5EF4-FFF2-40B4-BE49-F238E27FC236}">
                <a16:creationId xmlns:a16="http://schemas.microsoft.com/office/drawing/2014/main" id="{72BA500E-7661-46D2-94BF-C71D8FC06CAC}"/>
              </a:ext>
            </a:extLst>
          </p:cNvPr>
          <p:cNvSpPr>
            <a:spLocks xmlns:a="http://schemas.openxmlformats.org/drawingml/2006/main" noGrp="1"/>
          </p:cNvSpPr>
          <p:nvPr/>
        </p:nvSpPr>
        <p:spPr>
          <a:xfrm xmlns:a="http://schemas.openxmlformats.org/drawingml/2006/main">
            <a:off x="4333875" y="4533900"/>
            <a:ext cx="66675" cy="438150"/>
          </a:xfrm>
          <a:prstGeom xmlns:a="http://schemas.openxmlformats.org/drawingml/2006/main" prst="roundRect">
            <a:avLst>
              <a:gd name="adj" fmla="val 50000"/>
            </a:avLst>
          </a:prstGeom>
          <a:solidFill xmlns:a="http://schemas.openxmlformats.org/drawingml/2006/main">
            <a:srgbClr val="D65C73"/>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AE94FEF-13A0-44ED-8BAE-0250B2107C6C}"/>
              </a:ext>
            </a:extLst>
          </p:cNvPr>
          <p:cNvSpPr>
            <a:spLocks xmlns:a="http://schemas.openxmlformats.org/drawingml/2006/main" noGrp="1"/>
          </p:cNvSpPr>
          <p:nvPr/>
        </p:nvSpPr>
        <p:spPr>
          <a:xfrm xmlns:a="http://schemas.openxmlformats.org/drawingml/2006/main">
            <a:off x="4543425" y="4486275"/>
            <a:ext cx="312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Reconcile payments</a:t>
            </a:r>
          </a:p>
        </p:txBody>
      </p:sp>
      <p:sp>
        <p:nvSpPr>
          <p:cNvPr id="31" name="">
            <a:extLst xmlns:a="http://schemas.openxmlformats.org/drawingml/2006/main">
              <a:ext uri="{FF2B5EF4-FFF2-40B4-BE49-F238E27FC236}">
                <a16:creationId xmlns:a16="http://schemas.microsoft.com/office/drawing/2014/main" id="{FDFEEE78-AD7D-463C-A87B-0FDAF3C202A3}"/>
              </a:ext>
            </a:extLst>
          </p:cNvPr>
          <p:cNvSpPr>
            <a:spLocks xmlns:a="http://schemas.openxmlformats.org/drawingml/2006/main" noGrp="1"/>
          </p:cNvSpPr>
          <p:nvPr/>
        </p:nvSpPr>
        <p:spPr>
          <a:xfrm xmlns:a="http://schemas.openxmlformats.org/drawingml/2006/main">
            <a:off x="4543425" y="4781550"/>
            <a:ext cx="3124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Repair stale or uncertain local states.</a:t>
            </a:r>
          </a:p>
        </p:txBody>
      </p:sp>
      <p:sp>
        <p:nvSpPr>
          <p:cNvPr id="32" name="">
            <a:extLst xmlns:a="http://schemas.openxmlformats.org/drawingml/2006/main">
              <a:ext uri="{FF2B5EF4-FFF2-40B4-BE49-F238E27FC236}">
                <a16:creationId xmlns:a16="http://schemas.microsoft.com/office/drawing/2014/main" id="{977F6A2E-88B5-4F3A-8B97-AC278884F51E}"/>
              </a:ext>
            </a:extLst>
          </p:cNvPr>
          <p:cNvSpPr>
            <a:spLocks xmlns:a="http://schemas.openxmlformats.org/drawingml/2006/main" noGrp="1"/>
          </p:cNvSpPr>
          <p:nvPr/>
        </p:nvSpPr>
        <p:spPr>
          <a:xfrm xmlns:a="http://schemas.openxmlformats.org/drawingml/2006/main">
            <a:off x="8058150" y="4533900"/>
            <a:ext cx="66675" cy="438150"/>
          </a:xfrm>
          <a:prstGeom xmlns:a="http://schemas.openxmlformats.org/drawingml/2006/main" prst="roundRect">
            <a:avLst>
              <a:gd name="adj" fmla="val 50000"/>
            </a:avLst>
          </a:prstGeom>
          <a:solidFill xmlns:a="http://schemas.openxmlformats.org/drawingml/2006/main">
            <a:srgbClr val="236D5A"/>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7DE5D56-7DED-4BE8-8C09-EEE11ABD45D4}"/>
              </a:ext>
            </a:extLst>
          </p:cNvPr>
          <p:cNvSpPr>
            <a:spLocks xmlns:a="http://schemas.openxmlformats.org/drawingml/2006/main" noGrp="1"/>
          </p:cNvSpPr>
          <p:nvPr/>
        </p:nvSpPr>
        <p:spPr>
          <a:xfrm xmlns:a="http://schemas.openxmlformats.org/drawingml/2006/main">
            <a:off x="8267700" y="4486275"/>
            <a:ext cx="312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Resolve exceptions</a:t>
            </a:r>
          </a:p>
        </p:txBody>
      </p:sp>
      <p:sp>
        <p:nvSpPr>
          <p:cNvPr id="34" name="">
            <a:extLst xmlns:a="http://schemas.openxmlformats.org/drawingml/2006/main">
              <a:ext uri="{FF2B5EF4-FFF2-40B4-BE49-F238E27FC236}">
                <a16:creationId xmlns:a16="http://schemas.microsoft.com/office/drawing/2014/main" id="{06E59FB1-1854-4710-A957-DB4D001E420C}"/>
              </a:ext>
            </a:extLst>
          </p:cNvPr>
          <p:cNvSpPr>
            <a:spLocks xmlns:a="http://schemas.openxmlformats.org/drawingml/2006/main" noGrp="1"/>
          </p:cNvSpPr>
          <p:nvPr/>
        </p:nvSpPr>
        <p:spPr>
          <a:xfrm xmlns:a="http://schemas.openxmlformats.org/drawingml/2006/main">
            <a:off x="8267700" y="4781550"/>
            <a:ext cx="3124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Retry durable provider refunds and log outcomes.</a:t>
            </a:r>
          </a:p>
        </p:txBody>
      </p:sp>
    </p:spTree>
    <p:extLst>
      <p:ext uri="{BB962C8B-B14F-4D97-AF65-F5344CB8AC3E}">
        <p14:creationId xmlns:p14="http://schemas.microsoft.com/office/powerpoint/2010/main" val="2024365055"/>
      </p:ext>
    </p:extLst>
  </p:cSld>
</p:sld>
</file>

<file path=ppt/slides/slide15.xml><?xml version="1.0" encoding="utf-8"?>
<p:sld xmlns:p="http://schemas.openxmlformats.org/presentationml/2006/main">
  <p:cSld>
    <p:bg>
      <p:bgPr>
        <a:solidFill xmlns:a="http://schemas.openxmlformats.org/drawingml/2006/main">
          <a:srgbClr val="FBF7F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CA88D2F-443B-4622-B3D0-0DE830E4DB93}"/>
              </a:ext>
            </a:extLst>
          </p:cNvPr>
          <p:cNvSpPr>
            <a:spLocks xmlns:a="http://schemas.openxmlformats.org/drawingml/2006/main" noGrp="1"/>
          </p:cNvSpPr>
          <p:nvPr/>
        </p:nvSpPr>
        <p:spPr>
          <a:xfrm xmlns:a="http://schemas.openxmlformats.org/drawingml/2006/main">
            <a:off x="6096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8E123B"/>
                </a:solidFill>
              </a:defRPr>
            </a:defPPr>
          </a:lstStyle>
          <a:p xmlns:a="http://schemas.openxmlformats.org/drawingml/2006/main">
            <a:pPr>
              <a:defRPr sz="900" b="1">
                <a:solidFill>
                  <a:srgbClr val="8E123B"/>
                </a:solidFill>
              </a:defRPr>
            </a:pPr>
            <a:r>
              <a:rPr sz="900" b="1">
                <a:solidFill>
                  <a:srgbClr val="8E123B"/>
                </a:solidFill>
              </a:rPr>
              <a:t>14 • FRONTEND + PWA</a:t>
            </a:r>
          </a:p>
        </p:txBody>
      </p:sp>
      <p:sp>
        <p:nvSpPr>
          <p:cNvPr id="2" name="">
            <a:extLst xmlns:a="http://schemas.openxmlformats.org/drawingml/2006/main">
              <a:ext uri="{FF2B5EF4-FFF2-40B4-BE49-F238E27FC236}">
                <a16:creationId xmlns:a16="http://schemas.microsoft.com/office/drawing/2014/main" id="{F391B927-2CD8-4C4E-95BD-5ECF2BB014D2}"/>
              </a:ext>
            </a:extLst>
          </p:cNvPr>
          <p:cNvSpPr>
            <a:spLocks xmlns:a="http://schemas.openxmlformats.org/drawingml/2006/main" noGrp="1"/>
          </p:cNvSpPr>
          <p:nvPr/>
        </p:nvSpPr>
        <p:spPr>
          <a:xfrm xmlns:a="http://schemas.openxmlformats.org/drawingml/2006/main">
            <a:off x="609600" y="657225"/>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261D21"/>
                </a:solidFill>
              </a:defRPr>
            </a:defPPr>
          </a:lstStyle>
          <a:p xmlns:a="http://schemas.openxmlformats.org/drawingml/2006/main">
            <a:pPr>
              <a:defRPr sz="2550" b="1">
                <a:solidFill>
                  <a:srgbClr val="261D21"/>
                </a:solidFill>
              </a:defRPr>
            </a:pPr>
            <a:r>
              <a:rPr sz="2550" b="1">
                <a:solidFill>
                  <a:srgbClr val="261D21"/>
                </a:solidFill>
              </a:rPr>
              <a:t>The client keeps interactions simple and server state authoritative</a:t>
            </a:r>
          </a:p>
        </p:txBody>
      </p:sp>
      <p:sp>
        <p:nvSpPr>
          <p:cNvPr id="3" name="">
            <a:extLst xmlns:a="http://schemas.openxmlformats.org/drawingml/2006/main">
              <a:ext uri="{FF2B5EF4-FFF2-40B4-BE49-F238E27FC236}">
                <a16:creationId xmlns:a16="http://schemas.microsoft.com/office/drawing/2014/main" id="{246CBD65-60C5-4D54-BD02-EA9F178610D1}"/>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line">
            <a:avLst/>
          </a:prstGeom>
          <a:noFill xmlns:a="http://schemas.openxmlformats.org/drawingml/2006/main"/>
          <a:ln xmlns:a="http://schemas.openxmlformats.org/drawingml/2006/main" w="9525">
            <a:solidFill>
              <a:srgbClr val="E8DDE0"/>
            </a:solidFill>
            <a:prstDash val="solid"/>
          </a:ln>
        </p:spPr>
      </p:sp>
      <p:sp>
        <p:nvSpPr>
          <p:cNvPr id="4" name="">
            <a:extLst xmlns:a="http://schemas.openxmlformats.org/drawingml/2006/main">
              <a:ext uri="{FF2B5EF4-FFF2-40B4-BE49-F238E27FC236}">
                <a16:creationId xmlns:a16="http://schemas.microsoft.com/office/drawing/2014/main" id="{A5C33EDB-8F48-47A1-8A3F-B51D79F51498}"/>
              </a:ext>
            </a:extLst>
          </p:cNvPr>
          <p:cNvSpPr>
            <a:spLocks xmlns:a="http://schemas.openxmlformats.org/drawingml/2006/main" noGrp="1"/>
          </p:cNvSpPr>
          <p:nvPr/>
        </p:nvSpPr>
        <p:spPr>
          <a:xfrm xmlns:a="http://schemas.openxmlformats.org/drawingml/2006/main">
            <a:off x="609600" y="64579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71656A"/>
                </a:solidFill>
              </a:defRPr>
            </a:defPPr>
          </a:lstStyle>
          <a:p xmlns:a="http://schemas.openxmlformats.org/drawingml/2006/main">
            <a:pPr>
              <a:defRPr sz="825" b="1">
                <a:solidFill>
                  <a:srgbClr val="71656A"/>
                </a:solidFill>
              </a:defRPr>
            </a:pPr>
            <a:r>
              <a:rPr sz="825" b="1">
                <a:solidFill>
                  <a:srgbClr val="71656A"/>
                </a:solidFill>
              </a:rPr>
              <a:t>MINT  /  CAMPUS CANTEEN PICKUP</a:t>
            </a:r>
          </a:p>
        </p:txBody>
      </p:sp>
      <p:sp>
        <p:nvSpPr>
          <p:cNvPr id="5" name="">
            <a:extLst xmlns:a="http://schemas.openxmlformats.org/drawingml/2006/main">
              <a:ext uri="{FF2B5EF4-FFF2-40B4-BE49-F238E27FC236}">
                <a16:creationId xmlns:a16="http://schemas.microsoft.com/office/drawing/2014/main" id="{1CD5108A-BE79-46E4-9C2E-A5BF6709BA3C}"/>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71656A"/>
                </a:solidFill>
              </a:defRPr>
            </a:defPPr>
          </a:lstStyle>
          <a:p xmlns:a="http://schemas.openxmlformats.org/drawingml/2006/main">
            <a:pPr algn="r">
              <a:defRPr sz="900" b="1">
                <a:solidFill>
                  <a:srgbClr val="71656A"/>
                </a:solidFill>
              </a:defRPr>
            </a:pPr>
            <a:r>
              <a:rPr sz="900" b="1">
                <a:solidFill>
                  <a:srgbClr val="71656A"/>
                </a:solidFill>
              </a:rPr>
              <a:t>15</a:t>
            </a:r>
          </a:p>
        </p:txBody>
      </p:sp>
      <p:sp>
        <p:nvSpPr>
          <p:cNvPr id="6" name="">
            <a:extLst xmlns:a="http://schemas.openxmlformats.org/drawingml/2006/main">
              <a:ext uri="{FF2B5EF4-FFF2-40B4-BE49-F238E27FC236}">
                <a16:creationId xmlns:a16="http://schemas.microsoft.com/office/drawing/2014/main" id="{82437910-481B-40B2-8F00-B6571703DD8A}"/>
              </a:ext>
            </a:extLst>
          </p:cNvPr>
          <p:cNvSpPr>
            <a:spLocks xmlns:a="http://schemas.openxmlformats.org/drawingml/2006/main" noGrp="1"/>
          </p:cNvSpPr>
          <p:nvPr/>
        </p:nvSpPr>
        <p:spPr>
          <a:xfrm xmlns:a="http://schemas.openxmlformats.org/drawingml/2006/main">
            <a:off x="609600" y="1800225"/>
            <a:ext cx="66675" cy="438150"/>
          </a:xfrm>
          <a:prstGeom xmlns:a="http://schemas.openxmlformats.org/drawingml/2006/main" prst="roundRect">
            <a:avLst>
              <a:gd name="adj" fmla="val 50000"/>
            </a:avLst>
          </a:prstGeom>
          <a:solidFill xmlns:a="http://schemas.openxmlformats.org/drawingml/2006/main">
            <a:srgbClr val="8E123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04FA610-B0DF-44D7-A6A4-F05F1C0D35A1}"/>
              </a:ext>
            </a:extLst>
          </p:cNvPr>
          <p:cNvSpPr>
            <a:spLocks xmlns:a="http://schemas.openxmlformats.org/drawingml/2006/main" noGrp="1"/>
          </p:cNvSpPr>
          <p:nvPr/>
        </p:nvSpPr>
        <p:spPr>
          <a:xfrm xmlns:a="http://schemas.openxmlformats.org/drawingml/2006/main">
            <a:off x="819150" y="17526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React + TypeScript</a:t>
            </a:r>
          </a:p>
        </p:txBody>
      </p:sp>
      <p:sp>
        <p:nvSpPr>
          <p:cNvPr id="8" name="">
            <a:extLst xmlns:a="http://schemas.openxmlformats.org/drawingml/2006/main">
              <a:ext uri="{FF2B5EF4-FFF2-40B4-BE49-F238E27FC236}">
                <a16:creationId xmlns:a16="http://schemas.microsoft.com/office/drawing/2014/main" id="{A8049074-19DC-4B83-961B-4F3E51859BE4}"/>
              </a:ext>
            </a:extLst>
          </p:cNvPr>
          <p:cNvSpPr>
            <a:spLocks xmlns:a="http://schemas.openxmlformats.org/drawingml/2006/main" noGrp="1"/>
          </p:cNvSpPr>
          <p:nvPr/>
        </p:nvSpPr>
        <p:spPr>
          <a:xfrm xmlns:a="http://schemas.openxmlformats.org/drawingml/2006/main">
            <a:off x="819150" y="2047875"/>
            <a:ext cx="4800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Screens and role-specific views share one app shell.</a:t>
            </a:r>
          </a:p>
        </p:txBody>
      </p:sp>
      <p:sp>
        <p:nvSpPr>
          <p:cNvPr id="9" name="">
            <a:extLst xmlns:a="http://schemas.openxmlformats.org/drawingml/2006/main">
              <a:ext uri="{FF2B5EF4-FFF2-40B4-BE49-F238E27FC236}">
                <a16:creationId xmlns:a16="http://schemas.microsoft.com/office/drawing/2014/main" id="{70FE976F-5EE0-40A0-AB1D-A081705065E7}"/>
              </a:ext>
            </a:extLst>
          </p:cNvPr>
          <p:cNvSpPr>
            <a:spLocks xmlns:a="http://schemas.openxmlformats.org/drawingml/2006/main" noGrp="1"/>
          </p:cNvSpPr>
          <p:nvPr/>
        </p:nvSpPr>
        <p:spPr>
          <a:xfrm xmlns:a="http://schemas.openxmlformats.org/drawingml/2006/main">
            <a:off x="6076950" y="1800225"/>
            <a:ext cx="66675" cy="438150"/>
          </a:xfrm>
          <a:prstGeom xmlns:a="http://schemas.openxmlformats.org/drawingml/2006/main" prst="roundRect">
            <a:avLst>
              <a:gd name="adj" fmla="val 50000"/>
            </a:avLst>
          </a:prstGeom>
          <a:solidFill xmlns:a="http://schemas.openxmlformats.org/drawingml/2006/main">
            <a:srgbClr val="D65C7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06235F0-11C2-4D2D-9C96-9B32673841E2}"/>
              </a:ext>
            </a:extLst>
          </p:cNvPr>
          <p:cNvSpPr>
            <a:spLocks xmlns:a="http://schemas.openxmlformats.org/drawingml/2006/main" noGrp="1"/>
          </p:cNvSpPr>
          <p:nvPr/>
        </p:nvSpPr>
        <p:spPr>
          <a:xfrm xmlns:a="http://schemas.openxmlformats.org/drawingml/2006/main">
            <a:off x="6286500" y="17526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Relative /api calls</a:t>
            </a:r>
          </a:p>
        </p:txBody>
      </p:sp>
      <p:sp>
        <p:nvSpPr>
          <p:cNvPr id="11" name="">
            <a:extLst xmlns:a="http://schemas.openxmlformats.org/drawingml/2006/main">
              <a:ext uri="{FF2B5EF4-FFF2-40B4-BE49-F238E27FC236}">
                <a16:creationId xmlns:a16="http://schemas.microsoft.com/office/drawing/2014/main" id="{831E6C8E-5D2F-4773-9F61-F31A345FCA38}"/>
              </a:ext>
            </a:extLst>
          </p:cNvPr>
          <p:cNvSpPr>
            <a:spLocks xmlns:a="http://schemas.openxmlformats.org/drawingml/2006/main" noGrp="1"/>
          </p:cNvSpPr>
          <p:nvPr/>
        </p:nvSpPr>
        <p:spPr>
          <a:xfrm xmlns:a="http://schemas.openxmlformats.org/drawingml/2006/main">
            <a:off x="6286500" y="2047875"/>
            <a:ext cx="4800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Same-origin cookies and a single browser API origin.</a:t>
            </a:r>
          </a:p>
        </p:txBody>
      </p:sp>
      <p:sp>
        <p:nvSpPr>
          <p:cNvPr id="12" name="">
            <a:extLst xmlns:a="http://schemas.openxmlformats.org/drawingml/2006/main">
              <a:ext uri="{FF2B5EF4-FFF2-40B4-BE49-F238E27FC236}">
                <a16:creationId xmlns:a16="http://schemas.microsoft.com/office/drawing/2014/main" id="{9B74076D-75A5-489E-8D47-C18B003A8473}"/>
              </a:ext>
            </a:extLst>
          </p:cNvPr>
          <p:cNvSpPr>
            <a:spLocks xmlns:a="http://schemas.openxmlformats.org/drawingml/2006/main" noGrp="1"/>
          </p:cNvSpPr>
          <p:nvPr/>
        </p:nvSpPr>
        <p:spPr>
          <a:xfrm xmlns:a="http://schemas.openxmlformats.org/drawingml/2006/main">
            <a:off x="609600" y="3228975"/>
            <a:ext cx="66675" cy="438150"/>
          </a:xfrm>
          <a:prstGeom xmlns:a="http://schemas.openxmlformats.org/drawingml/2006/main" prst="roundRect">
            <a:avLst>
              <a:gd name="adj" fmla="val 50000"/>
            </a:avLst>
          </a:prstGeom>
          <a:solidFill xmlns:a="http://schemas.openxmlformats.org/drawingml/2006/main">
            <a:srgbClr val="8E123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9B5A391-DA4C-4E06-8647-57CAFFE16207}"/>
              </a:ext>
            </a:extLst>
          </p:cNvPr>
          <p:cNvSpPr>
            <a:spLocks xmlns:a="http://schemas.openxmlformats.org/drawingml/2006/main" noGrp="1"/>
          </p:cNvSpPr>
          <p:nvPr/>
        </p:nvSpPr>
        <p:spPr>
          <a:xfrm xmlns:a="http://schemas.openxmlformats.org/drawingml/2006/main">
            <a:off x="819150" y="318135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Short polling</a:t>
            </a:r>
          </a:p>
        </p:txBody>
      </p:sp>
      <p:sp>
        <p:nvSpPr>
          <p:cNvPr id="14" name="">
            <a:extLst xmlns:a="http://schemas.openxmlformats.org/drawingml/2006/main">
              <a:ext uri="{FF2B5EF4-FFF2-40B4-BE49-F238E27FC236}">
                <a16:creationId xmlns:a16="http://schemas.microsoft.com/office/drawing/2014/main" id="{398DCFF0-0FC5-4973-AD37-8BC9FD3A1F1E}"/>
              </a:ext>
            </a:extLst>
          </p:cNvPr>
          <p:cNvSpPr>
            <a:spLocks xmlns:a="http://schemas.openxmlformats.org/drawingml/2006/main" noGrp="1"/>
          </p:cNvSpPr>
          <p:nvPr/>
        </p:nvSpPr>
        <p:spPr>
          <a:xfrm xmlns:a="http://schemas.openxmlformats.org/drawingml/2006/main">
            <a:off x="819150" y="3476625"/>
            <a:ext cx="4800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Refreshes status without a separate realtime service.</a:t>
            </a:r>
          </a:p>
        </p:txBody>
      </p:sp>
      <p:sp>
        <p:nvSpPr>
          <p:cNvPr id="15" name="">
            <a:extLst xmlns:a="http://schemas.openxmlformats.org/drawingml/2006/main">
              <a:ext uri="{FF2B5EF4-FFF2-40B4-BE49-F238E27FC236}">
                <a16:creationId xmlns:a16="http://schemas.microsoft.com/office/drawing/2014/main" id="{78A3782B-996A-4B25-9C45-34D1A2FFBCED}"/>
              </a:ext>
            </a:extLst>
          </p:cNvPr>
          <p:cNvSpPr>
            <a:spLocks xmlns:a="http://schemas.openxmlformats.org/drawingml/2006/main" noGrp="1"/>
          </p:cNvSpPr>
          <p:nvPr/>
        </p:nvSpPr>
        <p:spPr>
          <a:xfrm xmlns:a="http://schemas.openxmlformats.org/drawingml/2006/main">
            <a:off x="6076950" y="3228975"/>
            <a:ext cx="66675" cy="438150"/>
          </a:xfrm>
          <a:prstGeom xmlns:a="http://schemas.openxmlformats.org/drawingml/2006/main" prst="roundRect">
            <a:avLst>
              <a:gd name="adj" fmla="val 50000"/>
            </a:avLst>
          </a:prstGeom>
          <a:solidFill xmlns:a="http://schemas.openxmlformats.org/drawingml/2006/main">
            <a:srgbClr val="8E123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DB0315B-083B-4867-A9E6-3011117A435E}"/>
              </a:ext>
            </a:extLst>
          </p:cNvPr>
          <p:cNvSpPr>
            <a:spLocks xmlns:a="http://schemas.openxmlformats.org/drawingml/2006/main" noGrp="1"/>
          </p:cNvSpPr>
          <p:nvPr/>
        </p:nvSpPr>
        <p:spPr>
          <a:xfrm xmlns:a="http://schemas.openxmlformats.org/drawingml/2006/main">
            <a:off x="6286500" y="318135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No offline mutations</a:t>
            </a:r>
          </a:p>
        </p:txBody>
      </p:sp>
      <p:sp>
        <p:nvSpPr>
          <p:cNvPr id="17" name="">
            <a:extLst xmlns:a="http://schemas.openxmlformats.org/drawingml/2006/main">
              <a:ext uri="{FF2B5EF4-FFF2-40B4-BE49-F238E27FC236}">
                <a16:creationId xmlns:a16="http://schemas.microsoft.com/office/drawing/2014/main" id="{9A72EE24-BCBB-4F65-A25C-5BA2DBC86687}"/>
              </a:ext>
            </a:extLst>
          </p:cNvPr>
          <p:cNvSpPr>
            <a:spLocks xmlns:a="http://schemas.openxmlformats.org/drawingml/2006/main" noGrp="1"/>
          </p:cNvSpPr>
          <p:nvPr/>
        </p:nvSpPr>
        <p:spPr>
          <a:xfrm xmlns:a="http://schemas.openxmlformats.org/drawingml/2006/main">
            <a:off x="6286500" y="3476625"/>
            <a:ext cx="4800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PWA caches the app shell; order/payment actions need network.</a:t>
            </a:r>
          </a:p>
        </p:txBody>
      </p:sp>
      <p:sp>
        <p:nvSpPr>
          <p:cNvPr id="18" name="">
            <a:extLst xmlns:a="http://schemas.openxmlformats.org/drawingml/2006/main">
              <a:ext uri="{FF2B5EF4-FFF2-40B4-BE49-F238E27FC236}">
                <a16:creationId xmlns:a16="http://schemas.microsoft.com/office/drawing/2014/main" id="{01076BCA-1197-44B1-8023-73DC6799A30B}"/>
              </a:ext>
            </a:extLst>
          </p:cNvPr>
          <p:cNvSpPr>
            <a:spLocks xmlns:a="http://schemas.openxmlformats.org/drawingml/2006/main" noGrp="1"/>
          </p:cNvSpPr>
          <p:nvPr/>
        </p:nvSpPr>
        <p:spPr>
          <a:xfrm xmlns:a="http://schemas.openxmlformats.org/drawingml/2006/main">
            <a:off x="609600" y="4829175"/>
            <a:ext cx="10972800" cy="904875"/>
          </a:xfrm>
          <a:prstGeom xmlns:a="http://schemas.openxmlformats.org/drawingml/2006/main" prst="roundRect">
            <a:avLst>
              <a:gd name="adj" fmla="val 8421"/>
            </a:avLst>
          </a:prstGeom>
          <a:solidFill xmlns:a="http://schemas.openxmlformats.org/drawingml/2006/main">
            <a:srgbClr val="32101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61138EB-DB46-4BA2-845F-316603BF5181}"/>
              </a:ext>
            </a:extLst>
          </p:cNvPr>
          <p:cNvSpPr>
            <a:spLocks xmlns:a="http://schemas.openxmlformats.org/drawingml/2006/main" noGrp="1"/>
          </p:cNvSpPr>
          <p:nvPr/>
        </p:nvSpPr>
        <p:spPr>
          <a:xfrm xmlns:a="http://schemas.openxmlformats.org/drawingml/2006/main">
            <a:off x="800100" y="49720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F7DDE5"/>
                </a:solidFill>
              </a:defRPr>
            </a:defPPr>
          </a:lstStyle>
          <a:p xmlns:a="http://schemas.openxmlformats.org/drawingml/2006/main">
            <a:pPr>
              <a:defRPr sz="1050" b="1">
                <a:solidFill>
                  <a:srgbClr val="F7DDE5"/>
                </a:solidFill>
              </a:defRPr>
            </a:pPr>
            <a:r>
              <a:rPr sz="1050" b="1">
                <a:solidFill>
                  <a:srgbClr val="F7DDE5"/>
                </a:solidFill>
              </a:rPr>
              <a:t>Design constraint</a:t>
            </a:r>
          </a:p>
        </p:txBody>
      </p:sp>
      <p:sp>
        <p:nvSpPr>
          <p:cNvPr id="20" name="">
            <a:extLst xmlns:a="http://schemas.openxmlformats.org/drawingml/2006/main">
              <a:ext uri="{FF2B5EF4-FFF2-40B4-BE49-F238E27FC236}">
                <a16:creationId xmlns:a16="http://schemas.microsoft.com/office/drawing/2014/main" id="{56BEE487-1B52-4CE5-8D25-3F0729DB5542}"/>
              </a:ext>
            </a:extLst>
          </p:cNvPr>
          <p:cNvSpPr>
            <a:spLocks xmlns:a="http://schemas.openxmlformats.org/drawingml/2006/main" noGrp="1"/>
          </p:cNvSpPr>
          <p:nvPr/>
        </p:nvSpPr>
        <p:spPr>
          <a:xfrm xmlns:a="http://schemas.openxmlformats.org/drawingml/2006/main">
            <a:off x="2781300" y="4933950"/>
            <a:ext cx="8477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FFFFFF"/>
                </a:solidFill>
              </a:defRPr>
            </a:defPPr>
          </a:lstStyle>
          <a:p xmlns:a="http://schemas.openxmlformats.org/drawingml/2006/main">
            <a:pPr>
              <a:defRPr sz="1275" b="1">
                <a:solidFill>
                  <a:srgbClr val="FFFFFF"/>
                </a:solidFill>
              </a:defRPr>
            </a:pPr>
            <a:r>
              <a:rPr sz="1275" b="1">
                <a:solidFill>
                  <a:srgbClr val="FFFFFF"/>
                </a:solidFill>
              </a:rPr>
              <a:t>Inventory, payment, and fulfillment results shown in the UI come from the backend. UI feedback improves clarity; it does not authorize the operation.</a:t>
            </a:r>
          </a:p>
        </p:txBody>
      </p:sp>
    </p:spTree>
    <p:extLst>
      <p:ext uri="{BB962C8B-B14F-4D97-AF65-F5344CB8AC3E}">
        <p14:creationId xmlns:p14="http://schemas.microsoft.com/office/powerpoint/2010/main" val="1685084142"/>
      </p:ext>
    </p:extLst>
  </p:cSld>
</p:sld>
</file>

<file path=ppt/slides/slide16.xml><?xml version="1.0" encoding="utf-8"?>
<p:sld xmlns:p="http://schemas.openxmlformats.org/presentationml/2006/main">
  <p:cSld>
    <p:bg>
      <p:bgPr>
        <a:solidFill xmlns:a="http://schemas.openxmlformats.org/drawingml/2006/main">
          <a:srgbClr val="FBF7F4"/>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FD16173-97EA-41EE-8368-CE8A21872DC5}"/>
              </a:ext>
            </a:extLst>
          </p:cNvPr>
          <p:cNvSpPr>
            <a:spLocks xmlns:a="http://schemas.openxmlformats.org/drawingml/2006/main" noGrp="1"/>
          </p:cNvSpPr>
          <p:nvPr/>
        </p:nvSpPr>
        <p:spPr>
          <a:xfrm xmlns:a="http://schemas.openxmlformats.org/drawingml/2006/main">
            <a:off x="6096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1">
                <a:solidFill>
                  <a:srgbClr val="8E123B"/>
                </a:solidFill>
              </a:defRPr>
            </a:defPPr>
          </a:lstStyle>
          <a:p xmlns:a="http://schemas.openxmlformats.org/drawingml/2006/main">
            <a:pPr>
              <a:defRPr sz="900" b="1">
                <a:solidFill>
                  <a:srgbClr val="8E123B"/>
                </a:solidFill>
              </a:defRPr>
            </a:pPr>
            <a:r>
              <a:rPr sz="900" b="1">
                <a:solidFill>
                  <a:srgbClr val="8E123B"/>
                </a:solidFill>
              </a:rPr>
              <a:t>15 • VERIFICATION + LIMITS</a:t>
            </a:r>
          </a:p>
        </p:txBody>
      </p:sp>
      <p:sp>
        <p:nvSpPr>
          <p:cNvPr id="2" name="">
            <a:extLst xmlns:a="http://schemas.openxmlformats.org/drawingml/2006/main">
              <a:ext uri="{FF2B5EF4-FFF2-40B4-BE49-F238E27FC236}">
                <a16:creationId xmlns:a16="http://schemas.microsoft.com/office/drawing/2014/main" id="{92C6D05C-6600-4207-8A5A-84F72F55649A}"/>
              </a:ext>
            </a:extLst>
          </p:cNvPr>
          <p:cNvSpPr>
            <a:spLocks xmlns:a="http://schemas.openxmlformats.org/drawingml/2006/main" noGrp="1"/>
          </p:cNvSpPr>
          <p:nvPr/>
        </p:nvSpPr>
        <p:spPr>
          <a:xfrm xmlns:a="http://schemas.openxmlformats.org/drawingml/2006/main">
            <a:off x="609600" y="657225"/>
            <a:ext cx="1095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261D21"/>
                </a:solidFill>
              </a:defRPr>
            </a:defPPr>
          </a:lstStyle>
          <a:p xmlns:a="http://schemas.openxmlformats.org/drawingml/2006/main">
            <a:pPr>
              <a:defRPr sz="2550" b="1">
                <a:solidFill>
                  <a:srgbClr val="261D21"/>
                </a:solidFill>
              </a:defRPr>
            </a:pPr>
            <a:r>
              <a:rPr sz="2550" b="1">
                <a:solidFill>
                  <a:srgbClr val="261D21"/>
                </a:solidFill>
              </a:rPr>
              <a:t>Evidence and limits belong in the technical story</a:t>
            </a:r>
          </a:p>
        </p:txBody>
      </p:sp>
      <p:sp>
        <p:nvSpPr>
          <p:cNvPr id="3" name="">
            <a:extLst xmlns:a="http://schemas.openxmlformats.org/drawingml/2006/main">
              <a:ext uri="{FF2B5EF4-FFF2-40B4-BE49-F238E27FC236}">
                <a16:creationId xmlns:a16="http://schemas.microsoft.com/office/drawing/2014/main" id="{3439FB03-50C2-4249-9974-F008633812FA}"/>
              </a:ext>
            </a:extLst>
          </p:cNvPr>
          <p:cNvSpPr>
            <a:spLocks xmlns:a="http://schemas.openxmlformats.org/drawingml/2006/main" noGrp="1"/>
          </p:cNvSpPr>
          <p:nvPr/>
        </p:nvSpPr>
        <p:spPr>
          <a:xfrm xmlns:a="http://schemas.openxmlformats.org/drawingml/2006/main">
            <a:off x="609600" y="1285875"/>
            <a:ext cx="10972800" cy="9525"/>
          </a:xfrm>
          <a:prstGeom xmlns:a="http://schemas.openxmlformats.org/drawingml/2006/main" prst="line">
            <a:avLst/>
          </a:prstGeom>
          <a:noFill xmlns:a="http://schemas.openxmlformats.org/drawingml/2006/main"/>
          <a:ln xmlns:a="http://schemas.openxmlformats.org/drawingml/2006/main" w="9525">
            <a:solidFill>
              <a:srgbClr val="E8DDE0"/>
            </a:solidFill>
            <a:prstDash val="solid"/>
          </a:ln>
        </p:spPr>
      </p:sp>
      <p:sp>
        <p:nvSpPr>
          <p:cNvPr id="4" name="">
            <a:extLst xmlns:a="http://schemas.openxmlformats.org/drawingml/2006/main">
              <a:ext uri="{FF2B5EF4-FFF2-40B4-BE49-F238E27FC236}">
                <a16:creationId xmlns:a16="http://schemas.microsoft.com/office/drawing/2014/main" id="{1F0F76B8-8550-4928-9C00-340E40FC8B57}"/>
              </a:ext>
            </a:extLst>
          </p:cNvPr>
          <p:cNvSpPr>
            <a:spLocks xmlns:a="http://schemas.openxmlformats.org/drawingml/2006/main" noGrp="1"/>
          </p:cNvSpPr>
          <p:nvPr/>
        </p:nvSpPr>
        <p:spPr>
          <a:xfrm xmlns:a="http://schemas.openxmlformats.org/drawingml/2006/main">
            <a:off x="609600" y="6457950"/>
            <a:ext cx="762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825" b="1">
                <a:solidFill>
                  <a:srgbClr val="71656A"/>
                </a:solidFill>
              </a:defRPr>
            </a:defPPr>
          </a:lstStyle>
          <a:p xmlns:a="http://schemas.openxmlformats.org/drawingml/2006/main">
            <a:pPr>
              <a:defRPr sz="825" b="1">
                <a:solidFill>
                  <a:srgbClr val="71656A"/>
                </a:solidFill>
              </a:defRPr>
            </a:pPr>
            <a:r>
              <a:rPr sz="825" b="1">
                <a:solidFill>
                  <a:srgbClr val="71656A"/>
                </a:solidFill>
              </a:rPr>
              <a:t>MINT  /  CAMPUS CANTEEN PICKUP</a:t>
            </a:r>
          </a:p>
        </p:txBody>
      </p:sp>
      <p:sp>
        <p:nvSpPr>
          <p:cNvPr id="5" name="">
            <a:extLst xmlns:a="http://schemas.openxmlformats.org/drawingml/2006/main">
              <a:ext uri="{FF2B5EF4-FFF2-40B4-BE49-F238E27FC236}">
                <a16:creationId xmlns:a16="http://schemas.microsoft.com/office/drawing/2014/main" id="{65773355-F1FA-46C3-9222-25FE1E2816D2}"/>
              </a:ext>
            </a:extLst>
          </p:cNvPr>
          <p:cNvSpPr>
            <a:spLocks xmlns:a="http://schemas.openxmlformats.org/drawingml/2006/main" noGrp="1"/>
          </p:cNvSpPr>
          <p:nvPr/>
        </p:nvSpPr>
        <p:spPr>
          <a:xfrm xmlns:a="http://schemas.openxmlformats.org/drawingml/2006/main">
            <a:off x="11144250" y="64389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00" b="1">
                <a:solidFill>
                  <a:srgbClr val="71656A"/>
                </a:solidFill>
              </a:defRPr>
            </a:defPPr>
          </a:lstStyle>
          <a:p xmlns:a="http://schemas.openxmlformats.org/drawingml/2006/main">
            <a:pPr algn="r">
              <a:defRPr sz="900" b="1">
                <a:solidFill>
                  <a:srgbClr val="71656A"/>
                </a:solidFill>
              </a:defRPr>
            </a:pPr>
            <a:r>
              <a:rPr sz="900" b="1">
                <a:solidFill>
                  <a:srgbClr val="71656A"/>
                </a:solidFill>
              </a:rPr>
              <a:t>16</a:t>
            </a:r>
          </a:p>
        </p:txBody>
      </p:sp>
      <p:sp>
        <p:nvSpPr>
          <p:cNvPr id="6" name="">
            <a:extLst xmlns:a="http://schemas.openxmlformats.org/drawingml/2006/main">
              <a:ext uri="{FF2B5EF4-FFF2-40B4-BE49-F238E27FC236}">
                <a16:creationId xmlns:a16="http://schemas.microsoft.com/office/drawing/2014/main" id="{E9A3A2DB-FD38-4976-BAB4-77718BE215AF}"/>
              </a:ext>
            </a:extLst>
          </p:cNvPr>
          <p:cNvSpPr>
            <a:spLocks xmlns:a="http://schemas.openxmlformats.org/drawingml/2006/main" noGrp="1"/>
          </p:cNvSpPr>
          <p:nvPr/>
        </p:nvSpPr>
        <p:spPr>
          <a:xfrm xmlns:a="http://schemas.openxmlformats.org/drawingml/2006/main">
            <a:off x="609600" y="1685925"/>
            <a:ext cx="5105400" cy="3619500"/>
          </a:xfrm>
          <a:prstGeom xmlns:a="http://schemas.openxmlformats.org/drawingml/2006/main" prst="roundRect">
            <a:avLst>
              <a:gd name="adj" fmla="val 2105"/>
            </a:avLst>
          </a:prstGeom>
          <a:solidFill xmlns:a="http://schemas.openxmlformats.org/drawingml/2006/main">
            <a:srgbClr val="FFFFFF"/>
          </a:solidFill>
          <a:ln xmlns:a="http://schemas.openxmlformats.org/drawingml/2006/main" w="9525">
            <a:solidFill>
              <a:srgbClr val="E8DDE0"/>
            </a:solidFill>
            <a:prstDash val="solid"/>
          </a:ln>
        </p:spPr>
      </p:sp>
      <p:sp>
        <p:nvSpPr>
          <p:cNvPr id="7" name="">
            <a:extLst xmlns:a="http://schemas.openxmlformats.org/drawingml/2006/main">
              <a:ext uri="{FF2B5EF4-FFF2-40B4-BE49-F238E27FC236}">
                <a16:creationId xmlns:a16="http://schemas.microsoft.com/office/drawing/2014/main" id="{C07A2A7E-B90D-4E02-8261-B2946C8E4ADC}"/>
              </a:ext>
            </a:extLst>
          </p:cNvPr>
          <p:cNvSpPr>
            <a:spLocks xmlns:a="http://schemas.openxmlformats.org/drawingml/2006/main" noGrp="1"/>
          </p:cNvSpPr>
          <p:nvPr/>
        </p:nvSpPr>
        <p:spPr>
          <a:xfrm xmlns:a="http://schemas.openxmlformats.org/drawingml/2006/main">
            <a:off x="838200" y="18859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236D5A"/>
                </a:solidFill>
              </a:defRPr>
            </a:defPPr>
          </a:lstStyle>
          <a:p xmlns:a="http://schemas.openxmlformats.org/drawingml/2006/main">
            <a:pPr>
              <a:defRPr sz="1575" b="1">
                <a:solidFill>
                  <a:srgbClr val="236D5A"/>
                </a:solidFill>
              </a:defRPr>
            </a:pPr>
            <a:r>
              <a:rPr sz="1575" b="1">
                <a:solidFill>
                  <a:srgbClr val="236D5A"/>
                </a:solidFill>
              </a:rPr>
              <a:t>What is checked</a:t>
            </a:r>
          </a:p>
        </p:txBody>
      </p:sp>
      <p:sp>
        <p:nvSpPr>
          <p:cNvPr id="8" name="">
            <a:extLst xmlns:a="http://schemas.openxmlformats.org/drawingml/2006/main">
              <a:ext uri="{FF2B5EF4-FFF2-40B4-BE49-F238E27FC236}">
                <a16:creationId xmlns:a16="http://schemas.microsoft.com/office/drawing/2014/main" id="{91527BF2-81B6-4156-A89B-608BAB68B45F}"/>
              </a:ext>
            </a:extLst>
          </p:cNvPr>
          <p:cNvSpPr>
            <a:spLocks xmlns:a="http://schemas.openxmlformats.org/drawingml/2006/main" noGrp="1"/>
          </p:cNvSpPr>
          <p:nvPr/>
        </p:nvSpPr>
        <p:spPr>
          <a:xfrm xmlns:a="http://schemas.openxmlformats.org/drawingml/2006/main">
            <a:off x="838200" y="2428875"/>
            <a:ext cx="66675" cy="438150"/>
          </a:xfrm>
          <a:prstGeom xmlns:a="http://schemas.openxmlformats.org/drawingml/2006/main" prst="roundRect">
            <a:avLst>
              <a:gd name="adj" fmla="val 50000"/>
            </a:avLst>
          </a:prstGeom>
          <a:solidFill xmlns:a="http://schemas.openxmlformats.org/drawingml/2006/main">
            <a:srgbClr val="236D5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FC4F675-AF56-49DB-9283-820ECF2B8C5E}"/>
              </a:ext>
            </a:extLst>
          </p:cNvPr>
          <p:cNvSpPr>
            <a:spLocks xmlns:a="http://schemas.openxmlformats.org/drawingml/2006/main" noGrp="1"/>
          </p:cNvSpPr>
          <p:nvPr/>
        </p:nvSpPr>
        <p:spPr>
          <a:xfrm xmlns:a="http://schemas.openxmlformats.org/drawingml/2006/main">
            <a:off x="1047750" y="2381250"/>
            <a:ext cx="407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Database workflows</a:t>
            </a:r>
          </a:p>
        </p:txBody>
      </p:sp>
      <p:sp>
        <p:nvSpPr>
          <p:cNvPr id="10" name="">
            <a:extLst xmlns:a="http://schemas.openxmlformats.org/drawingml/2006/main">
              <a:ext uri="{FF2B5EF4-FFF2-40B4-BE49-F238E27FC236}">
                <a16:creationId xmlns:a16="http://schemas.microsoft.com/office/drawing/2014/main" id="{2A6D53DD-5089-4FEC-8976-93144C8264B9}"/>
              </a:ext>
            </a:extLst>
          </p:cNvPr>
          <p:cNvSpPr>
            <a:spLocks xmlns:a="http://schemas.openxmlformats.org/drawingml/2006/main" noGrp="1"/>
          </p:cNvSpPr>
          <p:nvPr/>
        </p:nvSpPr>
        <p:spPr>
          <a:xfrm xmlns:a="http://schemas.openxmlformats.org/drawingml/2006/main">
            <a:off x="1047750" y="2676525"/>
            <a:ext cx="4076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Stock, credits, payment transitions, concurrency.</a:t>
            </a:r>
          </a:p>
        </p:txBody>
      </p:sp>
      <p:sp>
        <p:nvSpPr>
          <p:cNvPr id="11" name="">
            <a:extLst xmlns:a="http://schemas.openxmlformats.org/drawingml/2006/main">
              <a:ext uri="{FF2B5EF4-FFF2-40B4-BE49-F238E27FC236}">
                <a16:creationId xmlns:a16="http://schemas.microsoft.com/office/drawing/2014/main" id="{F5C3F67A-811A-417E-8487-840EA4D1095A}"/>
              </a:ext>
            </a:extLst>
          </p:cNvPr>
          <p:cNvSpPr>
            <a:spLocks xmlns:a="http://schemas.openxmlformats.org/drawingml/2006/main" noGrp="1"/>
          </p:cNvSpPr>
          <p:nvPr/>
        </p:nvSpPr>
        <p:spPr>
          <a:xfrm xmlns:a="http://schemas.openxmlformats.org/drawingml/2006/main">
            <a:off x="838200" y="3305175"/>
            <a:ext cx="66675" cy="438150"/>
          </a:xfrm>
          <a:prstGeom xmlns:a="http://schemas.openxmlformats.org/drawingml/2006/main" prst="roundRect">
            <a:avLst>
              <a:gd name="adj" fmla="val 50000"/>
            </a:avLst>
          </a:prstGeom>
          <a:solidFill xmlns:a="http://schemas.openxmlformats.org/drawingml/2006/main">
            <a:srgbClr val="236D5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B5FD546-0A0E-41A4-85AA-AEE66133534D}"/>
              </a:ext>
            </a:extLst>
          </p:cNvPr>
          <p:cNvSpPr>
            <a:spLocks xmlns:a="http://schemas.openxmlformats.org/drawingml/2006/main" noGrp="1"/>
          </p:cNvSpPr>
          <p:nvPr/>
        </p:nvSpPr>
        <p:spPr>
          <a:xfrm xmlns:a="http://schemas.openxmlformats.org/drawingml/2006/main">
            <a:off x="1047750" y="3257550"/>
            <a:ext cx="407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Browser flows</a:t>
            </a:r>
          </a:p>
        </p:txBody>
      </p:sp>
      <p:sp>
        <p:nvSpPr>
          <p:cNvPr id="13" name="">
            <a:extLst xmlns:a="http://schemas.openxmlformats.org/drawingml/2006/main">
              <a:ext uri="{FF2B5EF4-FFF2-40B4-BE49-F238E27FC236}">
                <a16:creationId xmlns:a16="http://schemas.microsoft.com/office/drawing/2014/main" id="{3C788337-2550-4252-A9F0-C5DC2A152EBD}"/>
              </a:ext>
            </a:extLst>
          </p:cNvPr>
          <p:cNvSpPr>
            <a:spLocks xmlns:a="http://schemas.openxmlformats.org/drawingml/2006/main" noGrp="1"/>
          </p:cNvSpPr>
          <p:nvPr/>
        </p:nvSpPr>
        <p:spPr>
          <a:xfrm xmlns:a="http://schemas.openxmlformats.org/drawingml/2006/main">
            <a:off x="1047750" y="3552825"/>
            <a:ext cx="4076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Navigation, API contract, camera/location simulations.</a:t>
            </a:r>
          </a:p>
        </p:txBody>
      </p:sp>
      <p:sp>
        <p:nvSpPr>
          <p:cNvPr id="14" name="">
            <a:extLst xmlns:a="http://schemas.openxmlformats.org/drawingml/2006/main">
              <a:ext uri="{FF2B5EF4-FFF2-40B4-BE49-F238E27FC236}">
                <a16:creationId xmlns:a16="http://schemas.microsoft.com/office/drawing/2014/main" id="{44718E2F-7ABF-4FB2-8004-083F4BAE7C65}"/>
              </a:ext>
            </a:extLst>
          </p:cNvPr>
          <p:cNvSpPr>
            <a:spLocks xmlns:a="http://schemas.openxmlformats.org/drawingml/2006/main" noGrp="1"/>
          </p:cNvSpPr>
          <p:nvPr/>
        </p:nvSpPr>
        <p:spPr>
          <a:xfrm xmlns:a="http://schemas.openxmlformats.org/drawingml/2006/main">
            <a:off x="838200" y="4181475"/>
            <a:ext cx="66675" cy="438150"/>
          </a:xfrm>
          <a:prstGeom xmlns:a="http://schemas.openxmlformats.org/drawingml/2006/main" prst="roundRect">
            <a:avLst>
              <a:gd name="adj" fmla="val 50000"/>
            </a:avLst>
          </a:prstGeom>
          <a:solidFill xmlns:a="http://schemas.openxmlformats.org/drawingml/2006/main">
            <a:srgbClr val="236D5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9EF1F91-0C47-4DD4-B148-E285F078FDB7}"/>
              </a:ext>
            </a:extLst>
          </p:cNvPr>
          <p:cNvSpPr>
            <a:spLocks xmlns:a="http://schemas.openxmlformats.org/drawingml/2006/main" noGrp="1"/>
          </p:cNvSpPr>
          <p:nvPr/>
        </p:nvSpPr>
        <p:spPr>
          <a:xfrm xmlns:a="http://schemas.openxmlformats.org/drawingml/2006/main">
            <a:off x="1047750" y="4133850"/>
            <a:ext cx="407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Build checks</a:t>
            </a:r>
          </a:p>
        </p:txBody>
      </p:sp>
      <p:sp>
        <p:nvSpPr>
          <p:cNvPr id="16" name="">
            <a:extLst xmlns:a="http://schemas.openxmlformats.org/drawingml/2006/main">
              <a:ext uri="{FF2B5EF4-FFF2-40B4-BE49-F238E27FC236}">
                <a16:creationId xmlns:a16="http://schemas.microsoft.com/office/drawing/2014/main" id="{DA04696B-D3FC-48A8-A994-861E2C5259F7}"/>
              </a:ext>
            </a:extLst>
          </p:cNvPr>
          <p:cNvSpPr>
            <a:spLocks xmlns:a="http://schemas.openxmlformats.org/drawingml/2006/main" noGrp="1"/>
          </p:cNvSpPr>
          <p:nvPr/>
        </p:nvSpPr>
        <p:spPr>
          <a:xfrm xmlns:a="http://schemas.openxmlformats.org/drawingml/2006/main">
            <a:off x="1047750" y="4429125"/>
            <a:ext cx="4076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Type checking, lint, production build, health probes.</a:t>
            </a:r>
          </a:p>
        </p:txBody>
      </p:sp>
      <p:sp>
        <p:nvSpPr>
          <p:cNvPr id="17" name="">
            <a:extLst xmlns:a="http://schemas.openxmlformats.org/drawingml/2006/main">
              <a:ext uri="{FF2B5EF4-FFF2-40B4-BE49-F238E27FC236}">
                <a16:creationId xmlns:a16="http://schemas.microsoft.com/office/drawing/2014/main" id="{42705070-16D1-46AF-BBE4-B63FFD8544F2}"/>
              </a:ext>
            </a:extLst>
          </p:cNvPr>
          <p:cNvSpPr>
            <a:spLocks xmlns:a="http://schemas.openxmlformats.org/drawingml/2006/main" noGrp="1"/>
          </p:cNvSpPr>
          <p:nvPr/>
        </p:nvSpPr>
        <p:spPr>
          <a:xfrm xmlns:a="http://schemas.openxmlformats.org/drawingml/2006/main">
            <a:off x="6191250" y="1685925"/>
            <a:ext cx="5391150" cy="3619500"/>
          </a:xfrm>
          <a:prstGeom xmlns:a="http://schemas.openxmlformats.org/drawingml/2006/main" prst="roundRect">
            <a:avLst>
              <a:gd name="adj" fmla="val 2105"/>
            </a:avLst>
          </a:prstGeom>
          <a:solidFill xmlns:a="http://schemas.openxmlformats.org/drawingml/2006/main">
            <a:srgbClr val="F3E2E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027CD97-0242-4CF1-A2CD-FD9AA2FDE8F3}"/>
              </a:ext>
            </a:extLst>
          </p:cNvPr>
          <p:cNvSpPr>
            <a:spLocks xmlns:a="http://schemas.openxmlformats.org/drawingml/2006/main" noGrp="1"/>
          </p:cNvSpPr>
          <p:nvPr/>
        </p:nvSpPr>
        <p:spPr>
          <a:xfrm xmlns:a="http://schemas.openxmlformats.org/drawingml/2006/main">
            <a:off x="6438900" y="188595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8E123B"/>
                </a:solidFill>
              </a:defRPr>
            </a:defPPr>
          </a:lstStyle>
          <a:p xmlns:a="http://schemas.openxmlformats.org/drawingml/2006/main">
            <a:pPr>
              <a:defRPr sz="1575" b="1">
                <a:solidFill>
                  <a:srgbClr val="8E123B"/>
                </a:solidFill>
              </a:defRPr>
            </a:pPr>
            <a:r>
              <a:rPr sz="1575" b="1">
                <a:solidFill>
                  <a:srgbClr val="8E123B"/>
                </a:solidFill>
              </a:rPr>
              <a:t>What the tests cannot prove</a:t>
            </a:r>
          </a:p>
        </p:txBody>
      </p:sp>
      <p:sp>
        <p:nvSpPr>
          <p:cNvPr id="19" name="">
            <a:extLst xmlns:a="http://schemas.openxmlformats.org/drawingml/2006/main">
              <a:ext uri="{FF2B5EF4-FFF2-40B4-BE49-F238E27FC236}">
                <a16:creationId xmlns:a16="http://schemas.microsoft.com/office/drawing/2014/main" id="{A0E7FE5E-1181-41E7-B743-513EB25D1FA6}"/>
              </a:ext>
            </a:extLst>
          </p:cNvPr>
          <p:cNvSpPr>
            <a:spLocks xmlns:a="http://schemas.openxmlformats.org/drawingml/2006/main" noGrp="1"/>
          </p:cNvSpPr>
          <p:nvPr/>
        </p:nvSpPr>
        <p:spPr>
          <a:xfrm xmlns:a="http://schemas.openxmlformats.org/drawingml/2006/main">
            <a:off x="6438900" y="2428875"/>
            <a:ext cx="66675" cy="438150"/>
          </a:xfrm>
          <a:prstGeom xmlns:a="http://schemas.openxmlformats.org/drawingml/2006/main" prst="roundRect">
            <a:avLst>
              <a:gd name="adj" fmla="val 50000"/>
            </a:avLst>
          </a:prstGeom>
          <a:solidFill xmlns:a="http://schemas.openxmlformats.org/drawingml/2006/main">
            <a:srgbClr val="8E123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562AF6A-EBC3-4506-9DC4-8BB795E0B1FC}"/>
              </a:ext>
            </a:extLst>
          </p:cNvPr>
          <p:cNvSpPr>
            <a:spLocks xmlns:a="http://schemas.openxmlformats.org/drawingml/2006/main" noGrp="1"/>
          </p:cNvSpPr>
          <p:nvPr/>
        </p:nvSpPr>
        <p:spPr>
          <a:xfrm xmlns:a="http://schemas.openxmlformats.org/drawingml/2006/main">
            <a:off x="6648450" y="2381250"/>
            <a:ext cx="445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Real provider reliability</a:t>
            </a:r>
          </a:p>
        </p:txBody>
      </p:sp>
      <p:sp>
        <p:nvSpPr>
          <p:cNvPr id="21" name="">
            <a:extLst xmlns:a="http://schemas.openxmlformats.org/drawingml/2006/main">
              <a:ext uri="{FF2B5EF4-FFF2-40B4-BE49-F238E27FC236}">
                <a16:creationId xmlns:a16="http://schemas.microsoft.com/office/drawing/2014/main" id="{BE884E6A-0F28-4774-AB42-EC05CBE1DFD1}"/>
              </a:ext>
            </a:extLst>
          </p:cNvPr>
          <p:cNvSpPr>
            <a:spLocks xmlns:a="http://schemas.openxmlformats.org/drawingml/2006/main" noGrp="1"/>
          </p:cNvSpPr>
          <p:nvPr/>
        </p:nvSpPr>
        <p:spPr>
          <a:xfrm xmlns:a="http://schemas.openxmlformats.org/drawingml/2006/main">
            <a:off x="6648450" y="2676525"/>
            <a:ext cx="4457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Sandbox success does not prove every production edge case.</a:t>
            </a:r>
          </a:p>
        </p:txBody>
      </p:sp>
      <p:sp>
        <p:nvSpPr>
          <p:cNvPr id="22" name="">
            <a:extLst xmlns:a="http://schemas.openxmlformats.org/drawingml/2006/main">
              <a:ext uri="{FF2B5EF4-FFF2-40B4-BE49-F238E27FC236}">
                <a16:creationId xmlns:a16="http://schemas.microsoft.com/office/drawing/2014/main" id="{B2D73759-FD26-496B-9279-3EB2D7EA76AA}"/>
              </a:ext>
            </a:extLst>
          </p:cNvPr>
          <p:cNvSpPr>
            <a:spLocks xmlns:a="http://schemas.openxmlformats.org/drawingml/2006/main" noGrp="1"/>
          </p:cNvSpPr>
          <p:nvPr/>
        </p:nvSpPr>
        <p:spPr>
          <a:xfrm xmlns:a="http://schemas.openxmlformats.org/drawingml/2006/main">
            <a:off x="6438900" y="3305175"/>
            <a:ext cx="66675" cy="438150"/>
          </a:xfrm>
          <a:prstGeom xmlns:a="http://schemas.openxmlformats.org/drawingml/2006/main" prst="roundRect">
            <a:avLst>
              <a:gd name="adj" fmla="val 50000"/>
            </a:avLst>
          </a:prstGeom>
          <a:solidFill xmlns:a="http://schemas.openxmlformats.org/drawingml/2006/main">
            <a:srgbClr val="D65C7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66B6FBC-5EE8-43BA-9F6E-5AE250F63604}"/>
              </a:ext>
            </a:extLst>
          </p:cNvPr>
          <p:cNvSpPr>
            <a:spLocks xmlns:a="http://schemas.openxmlformats.org/drawingml/2006/main" noGrp="1"/>
          </p:cNvSpPr>
          <p:nvPr/>
        </p:nvSpPr>
        <p:spPr>
          <a:xfrm xmlns:a="http://schemas.openxmlformats.org/drawingml/2006/main">
            <a:off x="6648450" y="3257550"/>
            <a:ext cx="445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Physical location quality</a:t>
            </a:r>
          </a:p>
        </p:txBody>
      </p:sp>
      <p:sp>
        <p:nvSpPr>
          <p:cNvPr id="24" name="">
            <a:extLst xmlns:a="http://schemas.openxmlformats.org/drawingml/2006/main">
              <a:ext uri="{FF2B5EF4-FFF2-40B4-BE49-F238E27FC236}">
                <a16:creationId xmlns:a16="http://schemas.microsoft.com/office/drawing/2014/main" id="{2B887FEB-D771-4DDF-BB17-BCDB2C320E01}"/>
              </a:ext>
            </a:extLst>
          </p:cNvPr>
          <p:cNvSpPr>
            <a:spLocks xmlns:a="http://schemas.openxmlformats.org/drawingml/2006/main" noGrp="1"/>
          </p:cNvSpPr>
          <p:nvPr/>
        </p:nvSpPr>
        <p:spPr>
          <a:xfrm xmlns:a="http://schemas.openxmlformats.org/drawingml/2006/main">
            <a:off x="6648450" y="3552825"/>
            <a:ext cx="4457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Geofence radius needs campus-specific calibration.</a:t>
            </a:r>
          </a:p>
        </p:txBody>
      </p:sp>
      <p:sp>
        <p:nvSpPr>
          <p:cNvPr id="25" name="">
            <a:extLst xmlns:a="http://schemas.openxmlformats.org/drawingml/2006/main">
              <a:ext uri="{FF2B5EF4-FFF2-40B4-BE49-F238E27FC236}">
                <a16:creationId xmlns:a16="http://schemas.microsoft.com/office/drawing/2014/main" id="{F941D8D7-94BF-46BB-8EE5-62E278BE2C7D}"/>
              </a:ext>
            </a:extLst>
          </p:cNvPr>
          <p:cNvSpPr>
            <a:spLocks xmlns:a="http://schemas.openxmlformats.org/drawingml/2006/main" noGrp="1"/>
          </p:cNvSpPr>
          <p:nvPr/>
        </p:nvSpPr>
        <p:spPr>
          <a:xfrm xmlns:a="http://schemas.openxmlformats.org/drawingml/2006/main">
            <a:off x="6438900" y="4181475"/>
            <a:ext cx="66675" cy="438150"/>
          </a:xfrm>
          <a:prstGeom xmlns:a="http://schemas.openxmlformats.org/drawingml/2006/main" prst="roundRect">
            <a:avLst>
              <a:gd name="adj" fmla="val 50000"/>
            </a:avLst>
          </a:prstGeom>
          <a:solidFill xmlns:a="http://schemas.openxmlformats.org/drawingml/2006/main">
            <a:srgbClr val="236D5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18832C9-7CF9-4FB2-AB04-56455324CE65}"/>
              </a:ext>
            </a:extLst>
          </p:cNvPr>
          <p:cNvSpPr>
            <a:spLocks xmlns:a="http://schemas.openxmlformats.org/drawingml/2006/main" noGrp="1"/>
          </p:cNvSpPr>
          <p:nvPr/>
        </p:nvSpPr>
        <p:spPr>
          <a:xfrm xmlns:a="http://schemas.openxmlformats.org/drawingml/2006/main">
            <a:off x="6648450" y="4133850"/>
            <a:ext cx="4457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261D21"/>
                </a:solidFill>
              </a:defRPr>
            </a:defPPr>
          </a:lstStyle>
          <a:p xmlns:a="http://schemas.openxmlformats.org/drawingml/2006/main">
            <a:pPr>
              <a:defRPr sz="1425" b="1">
                <a:solidFill>
                  <a:srgbClr val="261D21"/>
                </a:solidFill>
              </a:defRPr>
            </a:pPr>
            <a:r>
              <a:rPr sz="1425" b="1">
                <a:solidFill>
                  <a:srgbClr val="261D21"/>
                </a:solidFill>
              </a:rPr>
              <a:t>Peak production load</a:t>
            </a:r>
          </a:p>
        </p:txBody>
      </p:sp>
      <p:sp>
        <p:nvSpPr>
          <p:cNvPr id="27" name="">
            <a:extLst xmlns:a="http://schemas.openxmlformats.org/drawingml/2006/main">
              <a:ext uri="{FF2B5EF4-FFF2-40B4-BE49-F238E27FC236}">
                <a16:creationId xmlns:a16="http://schemas.microsoft.com/office/drawing/2014/main" id="{7B88BB58-AE6A-4A04-BD21-6E00FD37FE3C}"/>
              </a:ext>
            </a:extLst>
          </p:cNvPr>
          <p:cNvSpPr>
            <a:spLocks xmlns:a="http://schemas.openxmlformats.org/drawingml/2006/main" noGrp="1"/>
          </p:cNvSpPr>
          <p:nvPr/>
        </p:nvSpPr>
        <p:spPr>
          <a:xfrm xmlns:a="http://schemas.openxmlformats.org/drawingml/2006/main">
            <a:off x="6648450" y="4429125"/>
            <a:ext cx="4457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71656A"/>
                </a:solidFill>
              </a:defRPr>
            </a:defPPr>
          </a:lstStyle>
          <a:p xmlns:a="http://schemas.openxmlformats.org/drawingml/2006/main">
            <a:pPr>
              <a:defRPr sz="1125" b="0">
                <a:solidFill>
                  <a:srgbClr val="71656A"/>
                </a:solidFill>
              </a:defRPr>
            </a:pPr>
            <a:r>
              <a:rPr sz="1125" b="0">
                <a:solidFill>
                  <a:srgbClr val="71656A"/>
                </a:solidFill>
              </a:rPr>
              <a:t>Concurrency tests do not establish host throughput limits.</a:t>
            </a:r>
          </a:p>
        </p:txBody>
      </p:sp>
      <p:sp>
        <p:nvSpPr>
          <p:cNvPr id="28" name="">
            <a:extLst xmlns:a="http://schemas.openxmlformats.org/drawingml/2006/main">
              <a:ext uri="{FF2B5EF4-FFF2-40B4-BE49-F238E27FC236}">
                <a16:creationId xmlns:a16="http://schemas.microsoft.com/office/drawing/2014/main" id="{6110A690-0B20-4FB4-8B1D-0145C42F210A}"/>
              </a:ext>
            </a:extLst>
          </p:cNvPr>
          <p:cNvSpPr>
            <a:spLocks xmlns:a="http://schemas.openxmlformats.org/drawingml/2006/main" noGrp="1"/>
          </p:cNvSpPr>
          <p:nvPr/>
        </p:nvSpPr>
        <p:spPr>
          <a:xfrm xmlns:a="http://schemas.openxmlformats.org/drawingml/2006/main">
            <a:off x="609600" y="5572125"/>
            <a:ext cx="109728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71656A"/>
                </a:solidFill>
              </a:defRPr>
            </a:defPPr>
          </a:lstStyle>
          <a:p xmlns:a="http://schemas.openxmlformats.org/drawingml/2006/main">
            <a:pPr>
              <a:defRPr sz="1200" b="1">
                <a:solidFill>
                  <a:srgbClr val="71656A"/>
                </a:solidFill>
              </a:defRPr>
            </a:pPr>
            <a:r>
              <a:rPr sz="1200" b="1">
                <a:solidFill>
                  <a:srgbClr val="71656A"/>
                </a:solidFill>
              </a:rPr>
              <a:t>Review exact source and migration state before claiming a deployed behavior. Package ranges and test counts are baseline-specific.</a:t>
            </a:r>
          </a:p>
        </p:txBody>
      </p:sp>
    </p:spTree>
    <p:extLst>
      <p:ext uri="{BB962C8B-B14F-4D97-AF65-F5344CB8AC3E}">
        <p14:creationId xmlns:p14="http://schemas.microsoft.com/office/powerpoint/2010/main" val="1559657099"/>
      </p:ext>
    </p:extLst>
  </p:cSld>
</p:sld>
</file>

<file path=ppt/slides/slide17.xml><?xml version="1.0" encoding="utf-8"?>
<p:sld xmlns:p="http://schemas.openxmlformats.org/presentationml/2006/main">
  <p:cSld>
    <p:bg>
      <p:bgPr>
        <a:solidFill xmlns:a="http://schemas.openxmlformats.org/drawingml/2006/main">
          <a:srgbClr val="32101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694E921-7A41-4A0C-BA02-AF7EC1CD8AF8}"/>
              </a:ext>
            </a:extLst>
          </p:cNvPr>
          <p:cNvSpPr>
            <a:spLocks xmlns:a="http://schemas.openxmlformats.org/drawingml/2006/main" noGrp="1"/>
          </p:cNvSpPr>
          <p:nvPr/>
        </p:nvSpPr>
        <p:spPr>
          <a:xfrm xmlns:a="http://schemas.openxmlformats.org/drawingml/2006/main">
            <a:off x="628650" y="628650"/>
            <a:ext cx="857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F7DDE5"/>
                </a:solidFill>
              </a:defRPr>
            </a:defPPr>
          </a:lstStyle>
          <a:p xmlns:a="http://schemas.openxmlformats.org/drawingml/2006/main">
            <a:pPr>
              <a:defRPr sz="1200" b="1">
                <a:solidFill>
                  <a:srgbClr val="F7DDE5"/>
                </a:solidFill>
              </a:defRPr>
            </a:pPr>
            <a:r>
              <a:rPr sz="1200" b="1">
                <a:solidFill>
                  <a:srgbClr val="F7DDE5"/>
                </a:solidFill>
              </a:rPr>
              <a:t>The central design decision</a:t>
            </a:r>
          </a:p>
        </p:txBody>
      </p:sp>
      <p:sp>
        <p:nvSpPr>
          <p:cNvPr id="2" name="">
            <a:extLst xmlns:a="http://schemas.openxmlformats.org/drawingml/2006/main">
              <a:ext uri="{FF2B5EF4-FFF2-40B4-BE49-F238E27FC236}">
                <a16:creationId xmlns:a16="http://schemas.microsoft.com/office/drawing/2014/main" id="{86DC3977-0CB8-4B8B-8C66-3F1812605BC1}"/>
              </a:ext>
            </a:extLst>
          </p:cNvPr>
          <p:cNvSpPr>
            <a:spLocks xmlns:a="http://schemas.openxmlformats.org/drawingml/2006/main" noGrp="1"/>
          </p:cNvSpPr>
          <p:nvPr/>
        </p:nvSpPr>
        <p:spPr>
          <a:xfrm xmlns:a="http://schemas.openxmlformats.org/drawingml/2006/main">
            <a:off x="628650" y="1257300"/>
            <a:ext cx="10477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600" b="1">
                <a:solidFill>
                  <a:srgbClr val="FFFFFF"/>
                </a:solidFill>
              </a:defRPr>
            </a:defPPr>
          </a:lstStyle>
          <a:p xmlns:a="http://schemas.openxmlformats.org/drawingml/2006/main">
            <a:pPr>
              <a:defRPr sz="3600" b="1">
                <a:solidFill>
                  <a:srgbClr val="FFFFFF"/>
                </a:solidFill>
              </a:defRPr>
            </a:pPr>
            <a:r>
              <a:rPr sz="3600" b="1">
                <a:solidFill>
                  <a:srgbClr val="FFFFFF"/>
                </a:solidFill>
              </a:rPr>
              <a:t>Treat pickup as a set of durable promises.</a:t>
            </a:r>
          </a:p>
        </p:txBody>
      </p:sp>
      <p:sp>
        <p:nvSpPr>
          <p:cNvPr id="3" name="">
            <a:extLst xmlns:a="http://schemas.openxmlformats.org/drawingml/2006/main">
              <a:ext uri="{FF2B5EF4-FFF2-40B4-BE49-F238E27FC236}">
                <a16:creationId xmlns:a16="http://schemas.microsoft.com/office/drawing/2014/main" id="{3DF8A18D-8449-4E50-A780-7A7AF7EF35EF}"/>
              </a:ext>
            </a:extLst>
          </p:cNvPr>
          <p:cNvSpPr>
            <a:spLocks xmlns:a="http://schemas.openxmlformats.org/drawingml/2006/main" noGrp="1"/>
          </p:cNvSpPr>
          <p:nvPr/>
        </p:nvSpPr>
        <p:spPr>
          <a:xfrm xmlns:a="http://schemas.openxmlformats.org/drawingml/2006/main">
            <a:off x="647700" y="2647950"/>
            <a:ext cx="9906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F5DCE3"/>
                </a:solidFill>
              </a:defRPr>
            </a:defPPr>
          </a:lstStyle>
          <a:p xmlns:a="http://schemas.openxmlformats.org/drawingml/2006/main">
            <a:pPr>
              <a:defRPr sz="1800" b="0">
                <a:solidFill>
                  <a:srgbClr val="F5DCE3"/>
                </a:solidFill>
              </a:defRPr>
            </a:pPr>
            <a:r>
              <a:rPr sz="1800" b="0">
                <a:solidFill>
                  <a:srgbClr val="F5DCE3"/>
                </a:solidFill>
              </a:rPr>
              <a:t>PostgreSQL protects scarce stock and credit. Explicit payment states bridge the provider boundary. Portion-level rights make arrival, delegation, and handover independently auditable.</a:t>
            </a:r>
          </a:p>
        </p:txBody>
      </p:sp>
      <p:sp>
        <p:nvSpPr>
          <p:cNvPr id="4" name="">
            <a:extLst xmlns:a="http://schemas.openxmlformats.org/drawingml/2006/main">
              <a:ext uri="{FF2B5EF4-FFF2-40B4-BE49-F238E27FC236}">
                <a16:creationId xmlns:a16="http://schemas.microsoft.com/office/drawing/2014/main" id="{5CED6ACF-CCC9-4EFF-B23E-B7E64BDA08D7}"/>
              </a:ext>
            </a:extLst>
          </p:cNvPr>
          <p:cNvSpPr>
            <a:spLocks xmlns:a="http://schemas.openxmlformats.org/drawingml/2006/main" noGrp="1"/>
          </p:cNvSpPr>
          <p:nvPr/>
        </p:nvSpPr>
        <p:spPr>
          <a:xfrm xmlns:a="http://schemas.openxmlformats.org/drawingml/2006/main">
            <a:off x="647700" y="4171950"/>
            <a:ext cx="10877550" cy="9525"/>
          </a:xfrm>
          <a:prstGeom xmlns:a="http://schemas.openxmlformats.org/drawingml/2006/main" prst="line">
            <a:avLst/>
          </a:prstGeom>
          <a:noFill xmlns:a="http://schemas.openxmlformats.org/drawingml/2006/main"/>
          <a:ln xmlns:a="http://schemas.openxmlformats.org/drawingml/2006/main" w="19050">
            <a:solidFill>
              <a:srgbClr val="9D3154"/>
            </a:solidFill>
            <a:prstDash val="solid"/>
          </a:ln>
        </p:spPr>
      </p:sp>
      <p:sp>
        <p:nvSpPr>
          <p:cNvPr id="5" name="">
            <a:extLst xmlns:a="http://schemas.openxmlformats.org/drawingml/2006/main">
              <a:ext uri="{FF2B5EF4-FFF2-40B4-BE49-F238E27FC236}">
                <a16:creationId xmlns:a16="http://schemas.microsoft.com/office/drawing/2014/main" id="{509AF871-B4A3-4324-8D7A-207B27DA6A36}"/>
              </a:ext>
            </a:extLst>
          </p:cNvPr>
          <p:cNvSpPr>
            <a:spLocks xmlns:a="http://schemas.openxmlformats.org/drawingml/2006/main" noGrp="1"/>
          </p:cNvSpPr>
          <p:nvPr/>
        </p:nvSpPr>
        <p:spPr>
          <a:xfrm xmlns:a="http://schemas.openxmlformats.org/drawingml/2006/main">
            <a:off x="647700" y="4505325"/>
            <a:ext cx="904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E5B765"/>
                </a:solidFill>
              </a:defRPr>
            </a:defPPr>
          </a:lstStyle>
          <a:p xmlns:a="http://schemas.openxmlformats.org/drawingml/2006/main">
            <a:pPr>
              <a:defRPr sz="1275" b="1">
                <a:solidFill>
                  <a:srgbClr val="E5B765"/>
                </a:solidFill>
              </a:defRPr>
            </a:pPr>
            <a:r>
              <a:rPr sz="1275" b="1">
                <a:solidFill>
                  <a:srgbClr val="E5B765"/>
                </a:solidFill>
              </a:rPr>
              <a:t>STOCK   •   MONEY   •   PICKUP RIGHTS</a:t>
            </a:r>
          </a:p>
        </p:txBody>
      </p:sp>
      <p:sp>
        <p:nvSpPr>
          <p:cNvPr id="6" name="">
            <a:extLst xmlns:a="http://schemas.openxmlformats.org/drawingml/2006/main">
              <a:ext uri="{FF2B5EF4-FFF2-40B4-BE49-F238E27FC236}">
                <a16:creationId xmlns:a16="http://schemas.microsoft.com/office/drawing/2014/main" id="{297EDEA5-360B-48E4-A2A2-D5A0EB8C8245}"/>
              </a:ext>
            </a:extLst>
          </p:cNvPr>
          <p:cNvSpPr>
            <a:spLocks xmlns:a="http://schemas.openxmlformats.org/drawingml/2006/main" noGrp="1"/>
          </p:cNvSpPr>
          <p:nvPr/>
        </p:nvSpPr>
        <p:spPr>
          <a:xfrm xmlns:a="http://schemas.openxmlformats.org/drawingml/2006/main">
            <a:off x="647700" y="61531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0">
                <a:solidFill>
                  <a:srgbClr val="EBCDD6"/>
                </a:solidFill>
              </a:defRPr>
            </a:defPPr>
          </a:lstStyle>
          <a:p xmlns:a="http://schemas.openxmlformats.org/drawingml/2006/main">
            <a:pPr>
              <a:defRPr sz="975" b="0">
                <a:solidFill>
                  <a:srgbClr val="EBCDD6"/>
                </a:solidFill>
              </a:defRPr>
            </a:pPr>
            <a:r>
              <a:rPr sz="975" b="0">
                <a:solidFill>
                  <a:srgbClr val="EBCDD6"/>
                </a:solidFill>
              </a:rPr>
              <a:t>Source of truth: current code, migrations, and technical reference</a:t>
            </a:r>
          </a:p>
        </p:txBody>
      </p:sp>
    </p:spTree>
    <p:extLst>
      <p:ext uri="{BB962C8B-B14F-4D97-AF65-F5344CB8AC3E}">
        <p14:creationId xmlns:p14="http://schemas.microsoft.com/office/powerpoint/2010/main" val="10593717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2026-10-11T03:47:41.7180000Z</dcterms:created>
  <dcterms:modified xsi:type="dcterms:W3CDTF">2026-10-11T03:47:41.7180000Z</dcterms:modified>
</coreProperties>
</file>